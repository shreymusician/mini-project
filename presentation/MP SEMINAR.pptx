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77" r:id="rId2"/>
    <p:sldId id="278" r:id="rId3"/>
    <p:sldId id="289" r:id="rId4"/>
    <p:sldId id="279" r:id="rId5"/>
    <p:sldId id="290" r:id="rId6"/>
    <p:sldId id="308" r:id="rId7"/>
    <p:sldId id="310" r:id="rId8"/>
    <p:sldId id="281" r:id="rId9"/>
    <p:sldId id="293" r:id="rId10"/>
    <p:sldId id="282" r:id="rId11"/>
    <p:sldId id="283" r:id="rId12"/>
    <p:sldId id="284" r:id="rId13"/>
    <p:sldId id="291" r:id="rId14"/>
    <p:sldId id="286" r:id="rId15"/>
    <p:sldId id="285" r:id="rId16"/>
    <p:sldId id="302" r:id="rId17"/>
    <p:sldId id="311" r:id="rId18"/>
    <p:sldId id="292" r:id="rId19"/>
    <p:sldId id="294" r:id="rId20"/>
    <p:sldId id="295" r:id="rId21"/>
    <p:sldId id="296" r:id="rId22"/>
    <p:sldId id="297" r:id="rId23"/>
    <p:sldId id="298" r:id="rId24"/>
    <p:sldId id="299" r:id="rId25"/>
    <p:sldId id="300" r:id="rId26"/>
    <p:sldId id="301" r:id="rId27"/>
    <p:sldId id="306" r:id="rId28"/>
    <p:sldId id="307" r:id="rId29"/>
    <p:sldId id="287"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816" y="-79"/>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D8445B-D5C8-43DF-BF8D-DBE6CDBCD5AD}" type="datetimeFigureOut">
              <a:rPr lang="en-IN" smtClean="0"/>
              <a:t>23-07-2024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19A722-D9B3-4D74-98FD-BC40D67E24F6}" type="slidenum">
              <a:rPr lang="en-IN" smtClean="0"/>
              <a:t>‹#›</a:t>
            </a:fld>
            <a:endParaRPr lang="en-IN"/>
          </a:p>
        </p:txBody>
      </p:sp>
    </p:spTree>
    <p:extLst>
      <p:ext uri="{BB962C8B-B14F-4D97-AF65-F5344CB8AC3E}">
        <p14:creationId xmlns:p14="http://schemas.microsoft.com/office/powerpoint/2010/main" val="1033472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19A722-D9B3-4D74-98FD-BC40D67E24F6}" type="slidenum">
              <a:rPr lang="en-IN" smtClean="0"/>
              <a:t>10</a:t>
            </a:fld>
            <a:endParaRPr lang="en-IN"/>
          </a:p>
        </p:txBody>
      </p:sp>
    </p:spTree>
    <p:extLst>
      <p:ext uri="{BB962C8B-B14F-4D97-AF65-F5344CB8AC3E}">
        <p14:creationId xmlns:p14="http://schemas.microsoft.com/office/powerpoint/2010/main" val="754208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AF11BA-5CEF-2E20-F903-C09320A71F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BADB501F-5A3A-FAD5-DAAE-929E7649E3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F7003169-6B78-6A09-7F9E-5C338C59B872}"/>
              </a:ext>
            </a:extLst>
          </p:cNvPr>
          <p:cNvSpPr>
            <a:spLocks noGrp="1"/>
          </p:cNvSpPr>
          <p:nvPr>
            <p:ph type="dt" sz="half" idx="10"/>
          </p:nvPr>
        </p:nvSpPr>
        <p:spPr/>
        <p:txBody>
          <a:bodyPr/>
          <a:lstStyle/>
          <a:p>
            <a:fld id="{24E922DC-A398-49E0-AE0B-D047CBEFF2B3}" type="datetime1">
              <a:rPr lang="en-IN" smtClean="0"/>
              <a:t>23-07-2024</a:t>
            </a:fld>
            <a:endParaRPr lang="en-IN"/>
          </a:p>
        </p:txBody>
      </p:sp>
      <p:sp>
        <p:nvSpPr>
          <p:cNvPr id="5" name="Footer Placeholder 4">
            <a:extLst>
              <a:ext uri="{FF2B5EF4-FFF2-40B4-BE49-F238E27FC236}">
                <a16:creationId xmlns="" xmlns:a16="http://schemas.microsoft.com/office/drawing/2014/main" id="{5AFEB43C-53EF-0E80-049E-8C461BFCE5C7}"/>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6" name="Slide Number Placeholder 5">
            <a:extLst>
              <a:ext uri="{FF2B5EF4-FFF2-40B4-BE49-F238E27FC236}">
                <a16:creationId xmlns="" xmlns:a16="http://schemas.microsoft.com/office/drawing/2014/main" id="{82FB11E1-664A-F256-9120-A4DF36AB18B5}"/>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46257161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15C8ED-F694-D823-A3AA-D974503347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CDF63C3-8CC4-2282-F7A2-CED054DC81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0C99D3D-780D-1A90-9943-8A16CA560FF8}"/>
              </a:ext>
            </a:extLst>
          </p:cNvPr>
          <p:cNvSpPr>
            <a:spLocks noGrp="1"/>
          </p:cNvSpPr>
          <p:nvPr>
            <p:ph type="dt" sz="half" idx="10"/>
          </p:nvPr>
        </p:nvSpPr>
        <p:spPr/>
        <p:txBody>
          <a:bodyPr/>
          <a:lstStyle/>
          <a:p>
            <a:fld id="{6D46785E-6398-4AEB-8F46-62C7D151C36C}" type="datetime1">
              <a:rPr lang="en-IN" smtClean="0"/>
              <a:t>23-07-2024</a:t>
            </a:fld>
            <a:endParaRPr lang="en-IN"/>
          </a:p>
        </p:txBody>
      </p:sp>
      <p:sp>
        <p:nvSpPr>
          <p:cNvPr id="5" name="Footer Placeholder 4">
            <a:extLst>
              <a:ext uri="{FF2B5EF4-FFF2-40B4-BE49-F238E27FC236}">
                <a16:creationId xmlns="" xmlns:a16="http://schemas.microsoft.com/office/drawing/2014/main" id="{95EE3715-AE72-40AB-FC32-376A23B79739}"/>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6" name="Slide Number Placeholder 5">
            <a:extLst>
              <a:ext uri="{FF2B5EF4-FFF2-40B4-BE49-F238E27FC236}">
                <a16:creationId xmlns="" xmlns:a16="http://schemas.microsoft.com/office/drawing/2014/main" id="{E43B19D5-D36B-BB59-91D3-C3819448C132}"/>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284540352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4F0DCE-199E-EB2A-8193-0BFA19AD3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46CD3AE-FE1E-992B-153F-A291577116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B2D35B2-92BE-8DDA-42A2-E9F38B92FCDA}"/>
              </a:ext>
            </a:extLst>
          </p:cNvPr>
          <p:cNvSpPr>
            <a:spLocks noGrp="1"/>
          </p:cNvSpPr>
          <p:nvPr>
            <p:ph type="dt" sz="half" idx="10"/>
          </p:nvPr>
        </p:nvSpPr>
        <p:spPr/>
        <p:txBody>
          <a:bodyPr/>
          <a:lstStyle/>
          <a:p>
            <a:fld id="{E4EC4F6E-75C3-4C04-84F8-7ED7054F5E7F}" type="datetime1">
              <a:rPr lang="en-IN" smtClean="0"/>
              <a:t>23-07-2024</a:t>
            </a:fld>
            <a:endParaRPr lang="en-IN"/>
          </a:p>
        </p:txBody>
      </p:sp>
      <p:sp>
        <p:nvSpPr>
          <p:cNvPr id="5" name="Footer Placeholder 4">
            <a:extLst>
              <a:ext uri="{FF2B5EF4-FFF2-40B4-BE49-F238E27FC236}">
                <a16:creationId xmlns="" xmlns:a16="http://schemas.microsoft.com/office/drawing/2014/main" id="{4144AA38-0603-CDC6-AE78-30E87DCDB0EC}"/>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6" name="Slide Number Placeholder 5">
            <a:extLst>
              <a:ext uri="{FF2B5EF4-FFF2-40B4-BE49-F238E27FC236}">
                <a16:creationId xmlns="" xmlns:a16="http://schemas.microsoft.com/office/drawing/2014/main" id="{78428FB7-3015-81EB-6414-20EC4304F26F}"/>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383097844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A80374-833A-48F4-B725-434AE7761F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5F0F0623-F74F-28EF-A3A0-96B437B30F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3015E287-F1CE-4F13-CE70-0AD657453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203A12A0-060E-8945-C008-C9470D3F7314}"/>
              </a:ext>
            </a:extLst>
          </p:cNvPr>
          <p:cNvSpPr>
            <a:spLocks noGrp="1"/>
          </p:cNvSpPr>
          <p:nvPr>
            <p:ph type="dt" sz="half" idx="10"/>
          </p:nvPr>
        </p:nvSpPr>
        <p:spPr/>
        <p:txBody>
          <a:bodyPr/>
          <a:lstStyle/>
          <a:p>
            <a:fld id="{41DC36CA-FD79-4B49-B570-3EBDDC31E1FA}" type="datetime1">
              <a:rPr lang="en-IN" smtClean="0"/>
              <a:t>23-07-2024</a:t>
            </a:fld>
            <a:endParaRPr lang="en-IN"/>
          </a:p>
        </p:txBody>
      </p:sp>
      <p:sp>
        <p:nvSpPr>
          <p:cNvPr id="6" name="Footer Placeholder 5">
            <a:extLst>
              <a:ext uri="{FF2B5EF4-FFF2-40B4-BE49-F238E27FC236}">
                <a16:creationId xmlns="" xmlns:a16="http://schemas.microsoft.com/office/drawing/2014/main" id="{B22DAB95-32AE-F360-0ADE-FF6024420D47}"/>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7" name="Slide Number Placeholder 6">
            <a:extLst>
              <a:ext uri="{FF2B5EF4-FFF2-40B4-BE49-F238E27FC236}">
                <a16:creationId xmlns="" xmlns:a16="http://schemas.microsoft.com/office/drawing/2014/main" id="{45B1AFDB-3FEC-973C-C2A4-8BC921E98A27}"/>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3298286780"/>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E52D22-993E-BE31-259A-796A387270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5897545-D745-33B8-3ACC-F944187E2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A4DF14D-84EC-6EB6-D8C9-C8AEB2B541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7987FA8D-74D8-280C-FC36-007B621909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927BC94-3B99-8CDA-5703-C9602A88A1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418CBD2-7295-24FB-1E10-4AE13BE41CB0}"/>
              </a:ext>
            </a:extLst>
          </p:cNvPr>
          <p:cNvSpPr>
            <a:spLocks noGrp="1"/>
          </p:cNvSpPr>
          <p:nvPr>
            <p:ph type="dt" sz="half" idx="10"/>
          </p:nvPr>
        </p:nvSpPr>
        <p:spPr/>
        <p:txBody>
          <a:bodyPr/>
          <a:lstStyle/>
          <a:p>
            <a:fld id="{0713B99B-D4EE-4049-B8E1-D06EAEEF350D}" type="datetime1">
              <a:rPr lang="en-IN" smtClean="0"/>
              <a:t>23-07-2024</a:t>
            </a:fld>
            <a:endParaRPr lang="en-IN"/>
          </a:p>
        </p:txBody>
      </p:sp>
      <p:sp>
        <p:nvSpPr>
          <p:cNvPr id="8" name="Footer Placeholder 7">
            <a:extLst>
              <a:ext uri="{FF2B5EF4-FFF2-40B4-BE49-F238E27FC236}">
                <a16:creationId xmlns="" xmlns:a16="http://schemas.microsoft.com/office/drawing/2014/main" id="{A5916C48-CAE3-5B4E-B635-C33D167BF868}"/>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9" name="Slide Number Placeholder 8">
            <a:extLst>
              <a:ext uri="{FF2B5EF4-FFF2-40B4-BE49-F238E27FC236}">
                <a16:creationId xmlns="" xmlns:a16="http://schemas.microsoft.com/office/drawing/2014/main" id="{3EFB449C-A9C7-B58D-B683-4CF86D04D48D}"/>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6725318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479156-80FA-7372-90CB-95D0D757D13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8EA42A1A-CEB2-9AFC-8FCD-14EAD4F06B72}"/>
              </a:ext>
            </a:extLst>
          </p:cNvPr>
          <p:cNvSpPr>
            <a:spLocks noGrp="1"/>
          </p:cNvSpPr>
          <p:nvPr>
            <p:ph type="dt" sz="half" idx="10"/>
          </p:nvPr>
        </p:nvSpPr>
        <p:spPr/>
        <p:txBody>
          <a:bodyPr/>
          <a:lstStyle/>
          <a:p>
            <a:fld id="{EF4D3942-B5D9-4F40-8DCB-5F5EC4968860}" type="datetime1">
              <a:rPr lang="en-IN" smtClean="0"/>
              <a:t>23-07-2024</a:t>
            </a:fld>
            <a:endParaRPr lang="en-IN"/>
          </a:p>
        </p:txBody>
      </p:sp>
      <p:sp>
        <p:nvSpPr>
          <p:cNvPr id="4" name="Footer Placeholder 3">
            <a:extLst>
              <a:ext uri="{FF2B5EF4-FFF2-40B4-BE49-F238E27FC236}">
                <a16:creationId xmlns="" xmlns:a16="http://schemas.microsoft.com/office/drawing/2014/main" id="{516685C7-6367-7DB1-E16A-B74B6933EE3C}"/>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5" name="Slide Number Placeholder 4">
            <a:extLst>
              <a:ext uri="{FF2B5EF4-FFF2-40B4-BE49-F238E27FC236}">
                <a16:creationId xmlns="" xmlns:a16="http://schemas.microsoft.com/office/drawing/2014/main" id="{93A27520-F1AA-7CF6-01A0-F807C9AA313A}"/>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227331746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9C92A68-6B49-DF3A-0201-AA3017736226}"/>
              </a:ext>
            </a:extLst>
          </p:cNvPr>
          <p:cNvSpPr>
            <a:spLocks noGrp="1"/>
          </p:cNvSpPr>
          <p:nvPr>
            <p:ph type="dt" sz="half" idx="10"/>
          </p:nvPr>
        </p:nvSpPr>
        <p:spPr/>
        <p:txBody>
          <a:bodyPr/>
          <a:lstStyle/>
          <a:p>
            <a:fld id="{A0F311A8-3E2F-449E-8FCD-5E97A04B9FDC}" type="datetime1">
              <a:rPr lang="en-IN" smtClean="0"/>
              <a:t>23-07-2024</a:t>
            </a:fld>
            <a:endParaRPr lang="en-IN"/>
          </a:p>
        </p:txBody>
      </p:sp>
      <p:sp>
        <p:nvSpPr>
          <p:cNvPr id="3" name="Footer Placeholder 2">
            <a:extLst>
              <a:ext uri="{FF2B5EF4-FFF2-40B4-BE49-F238E27FC236}">
                <a16:creationId xmlns="" xmlns:a16="http://schemas.microsoft.com/office/drawing/2014/main" id="{A31226C8-5B1B-5531-6F0F-EFA094A7A0AF}"/>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4" name="Slide Number Placeholder 3">
            <a:extLst>
              <a:ext uri="{FF2B5EF4-FFF2-40B4-BE49-F238E27FC236}">
                <a16:creationId xmlns="" xmlns:a16="http://schemas.microsoft.com/office/drawing/2014/main" id="{7BE12ADD-C357-A0E7-3202-93546894ADAD}"/>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770020033"/>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156E36-F18A-D53B-8327-49B22EE152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BF12CEF-1048-DC7E-FFE3-864ED2B10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229CF1D-236B-3BA3-EB15-AD8ABC52AA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CB1157B-E13E-7E22-ED9B-EC9A9EF1851A}"/>
              </a:ext>
            </a:extLst>
          </p:cNvPr>
          <p:cNvSpPr>
            <a:spLocks noGrp="1"/>
          </p:cNvSpPr>
          <p:nvPr>
            <p:ph type="dt" sz="half" idx="10"/>
          </p:nvPr>
        </p:nvSpPr>
        <p:spPr/>
        <p:txBody>
          <a:bodyPr/>
          <a:lstStyle/>
          <a:p>
            <a:fld id="{E849B915-BB98-4E22-AFFB-3C63DBFF2779}" type="datetime1">
              <a:rPr lang="en-IN" smtClean="0"/>
              <a:t>23-07-2024</a:t>
            </a:fld>
            <a:endParaRPr lang="en-IN"/>
          </a:p>
        </p:txBody>
      </p:sp>
      <p:sp>
        <p:nvSpPr>
          <p:cNvPr id="6" name="Footer Placeholder 5">
            <a:extLst>
              <a:ext uri="{FF2B5EF4-FFF2-40B4-BE49-F238E27FC236}">
                <a16:creationId xmlns="" xmlns:a16="http://schemas.microsoft.com/office/drawing/2014/main" id="{51C196F8-46FA-9F81-BAAB-597CFF2D525A}"/>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7" name="Slide Number Placeholder 6">
            <a:extLst>
              <a:ext uri="{FF2B5EF4-FFF2-40B4-BE49-F238E27FC236}">
                <a16:creationId xmlns="" xmlns:a16="http://schemas.microsoft.com/office/drawing/2014/main" id="{E36E1C0E-FA9D-AAB2-0C3D-2B8CD1E0BD5B}"/>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3770305352"/>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E22892-1E81-5E41-1A6F-60339B0D0F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DB11A677-9130-EA12-672E-82F9552B5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ECEBC6AF-0546-BEDD-265D-13A5DDF6C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040E143-BD40-C238-C6FE-183A96D61221}"/>
              </a:ext>
            </a:extLst>
          </p:cNvPr>
          <p:cNvSpPr>
            <a:spLocks noGrp="1"/>
          </p:cNvSpPr>
          <p:nvPr>
            <p:ph type="dt" sz="half" idx="10"/>
          </p:nvPr>
        </p:nvSpPr>
        <p:spPr/>
        <p:txBody>
          <a:bodyPr/>
          <a:lstStyle/>
          <a:p>
            <a:fld id="{5759E1AE-7788-4E16-8C52-4184C79A7939}" type="datetime1">
              <a:rPr lang="en-IN" smtClean="0"/>
              <a:t>23-07-2024</a:t>
            </a:fld>
            <a:endParaRPr lang="en-IN"/>
          </a:p>
        </p:txBody>
      </p:sp>
      <p:sp>
        <p:nvSpPr>
          <p:cNvPr id="6" name="Footer Placeholder 5">
            <a:extLst>
              <a:ext uri="{FF2B5EF4-FFF2-40B4-BE49-F238E27FC236}">
                <a16:creationId xmlns="" xmlns:a16="http://schemas.microsoft.com/office/drawing/2014/main" id="{0A2E1541-1460-98C2-223F-FABCCFB08075}"/>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7" name="Slide Number Placeholder 6">
            <a:extLst>
              <a:ext uri="{FF2B5EF4-FFF2-40B4-BE49-F238E27FC236}">
                <a16:creationId xmlns="" xmlns:a16="http://schemas.microsoft.com/office/drawing/2014/main" id="{0423E19B-4986-FAEC-3EFA-050CD889CD31}"/>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3327185571"/>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1DB648-8FEE-FDCA-E4D7-4B28A98AAE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FA7BC01-8E0C-5B3B-6FA6-B41E023C73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4DACF8B-2A83-3DDD-3CE3-9186C350885F}"/>
              </a:ext>
            </a:extLst>
          </p:cNvPr>
          <p:cNvSpPr>
            <a:spLocks noGrp="1"/>
          </p:cNvSpPr>
          <p:nvPr>
            <p:ph type="dt" sz="half" idx="10"/>
          </p:nvPr>
        </p:nvSpPr>
        <p:spPr/>
        <p:txBody>
          <a:bodyPr/>
          <a:lstStyle/>
          <a:p>
            <a:fld id="{9858107B-1F5C-40BD-A112-4CD65F2E153F}" type="datetime1">
              <a:rPr lang="en-IN" smtClean="0"/>
              <a:t>23-07-2024</a:t>
            </a:fld>
            <a:endParaRPr lang="en-IN"/>
          </a:p>
        </p:txBody>
      </p:sp>
      <p:sp>
        <p:nvSpPr>
          <p:cNvPr id="5" name="Footer Placeholder 4">
            <a:extLst>
              <a:ext uri="{FF2B5EF4-FFF2-40B4-BE49-F238E27FC236}">
                <a16:creationId xmlns="" xmlns:a16="http://schemas.microsoft.com/office/drawing/2014/main" id="{BF6779DE-4331-E9FA-9226-3EC7DC012793}"/>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6" name="Slide Number Placeholder 5">
            <a:extLst>
              <a:ext uri="{FF2B5EF4-FFF2-40B4-BE49-F238E27FC236}">
                <a16:creationId xmlns="" xmlns:a16="http://schemas.microsoft.com/office/drawing/2014/main" id="{4F0A2628-0E42-D8E7-4487-5C18472AC2FD}"/>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3556891590"/>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4C265BF-60D2-65D0-76DB-AC846B7358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E989AA8-0FDC-90E8-2376-E7B7B881EE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2E46769-3F6D-096C-A9B1-B90A01539BEA}"/>
              </a:ext>
            </a:extLst>
          </p:cNvPr>
          <p:cNvSpPr>
            <a:spLocks noGrp="1"/>
          </p:cNvSpPr>
          <p:nvPr>
            <p:ph type="dt" sz="half" idx="10"/>
          </p:nvPr>
        </p:nvSpPr>
        <p:spPr/>
        <p:txBody>
          <a:bodyPr/>
          <a:lstStyle/>
          <a:p>
            <a:fld id="{75880EEB-1594-4E51-B53B-26BEC2684DFB}" type="datetime1">
              <a:rPr lang="en-IN" smtClean="0"/>
              <a:t>23-07-2024</a:t>
            </a:fld>
            <a:endParaRPr lang="en-IN"/>
          </a:p>
        </p:txBody>
      </p:sp>
      <p:sp>
        <p:nvSpPr>
          <p:cNvPr id="5" name="Footer Placeholder 4">
            <a:extLst>
              <a:ext uri="{FF2B5EF4-FFF2-40B4-BE49-F238E27FC236}">
                <a16:creationId xmlns="" xmlns:a16="http://schemas.microsoft.com/office/drawing/2014/main" id="{19A4C83A-746A-9150-1719-F7108A04954D}"/>
              </a:ext>
            </a:extLst>
          </p:cNvPr>
          <p:cNvSpPr>
            <a:spLocks noGrp="1"/>
          </p:cNvSpPr>
          <p:nvPr>
            <p:ph type="ftr" sz="quarter" idx="11"/>
          </p:nvPr>
        </p:nvSpPr>
        <p:spPr/>
        <p:txBody>
          <a:bodyPr/>
          <a:lstStyle/>
          <a:p>
            <a:r>
              <a:rPr lang="en-US" smtClean="0"/>
              <a:t>Heart Disease prediction using Retinal eye </a:t>
            </a:r>
            <a:endParaRPr lang="en-IN" dirty="0"/>
          </a:p>
        </p:txBody>
      </p:sp>
      <p:sp>
        <p:nvSpPr>
          <p:cNvPr id="6" name="Slide Number Placeholder 5">
            <a:extLst>
              <a:ext uri="{FF2B5EF4-FFF2-40B4-BE49-F238E27FC236}">
                <a16:creationId xmlns="" xmlns:a16="http://schemas.microsoft.com/office/drawing/2014/main" id="{683F6C12-BBB6-5FE2-B22B-AEA8723DF43B}"/>
              </a:ext>
            </a:extLst>
          </p:cNvPr>
          <p:cNvSpPr>
            <a:spLocks noGrp="1"/>
          </p:cNvSpPr>
          <p:nvPr>
            <p:ph type="sldNum" sz="quarter" idx="12"/>
          </p:nvPr>
        </p:nvSpPr>
        <p:spPr/>
        <p:txBody>
          <a:bodyPr/>
          <a:lstStyle/>
          <a:p>
            <a:fld id="{EE799077-8CCC-4A39-946F-ABA531E9E40C}" type="slidenum">
              <a:rPr lang="en-IN" smtClean="0"/>
              <a:t>‹#›</a:t>
            </a:fld>
            <a:endParaRPr lang="en-IN"/>
          </a:p>
        </p:txBody>
      </p:sp>
    </p:spTree>
    <p:extLst>
      <p:ext uri="{BB962C8B-B14F-4D97-AF65-F5344CB8AC3E}">
        <p14:creationId xmlns:p14="http://schemas.microsoft.com/office/powerpoint/2010/main" val="80381520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AEA4A87-EBDE-2202-FE74-7D0C88176B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1289570-840D-1063-3BDB-DC04C6D7B0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936C9DD-8423-B829-0F8D-92D0F78942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F713C4-CB00-4EEA-8D27-1F77670AF84A}" type="datetime1">
              <a:rPr lang="en-IN" smtClean="0"/>
              <a:t>23-07-2024</a:t>
            </a:fld>
            <a:endParaRPr lang="en-IN"/>
          </a:p>
        </p:txBody>
      </p:sp>
      <p:sp>
        <p:nvSpPr>
          <p:cNvPr id="5" name="Footer Placeholder 4">
            <a:extLst>
              <a:ext uri="{FF2B5EF4-FFF2-40B4-BE49-F238E27FC236}">
                <a16:creationId xmlns="" xmlns:a16="http://schemas.microsoft.com/office/drawing/2014/main" id="{18143CCB-DCAF-608A-30E7-96460739A0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Heart Disease prediction using Retinal eye </a:t>
            </a:r>
            <a:endParaRPr lang="en-IN" dirty="0"/>
          </a:p>
        </p:txBody>
      </p:sp>
      <p:sp>
        <p:nvSpPr>
          <p:cNvPr id="6" name="Slide Number Placeholder 5">
            <a:extLst>
              <a:ext uri="{FF2B5EF4-FFF2-40B4-BE49-F238E27FC236}">
                <a16:creationId xmlns="" xmlns:a16="http://schemas.microsoft.com/office/drawing/2014/main" id="{D821E144-69DC-D10E-67DE-0A0134743F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799077-8CCC-4A39-946F-ABA531E9E40C}" type="slidenum">
              <a:rPr lang="en-IN" smtClean="0"/>
              <a:t>‹#›</a:t>
            </a:fld>
            <a:endParaRPr lang="en-IN"/>
          </a:p>
        </p:txBody>
      </p:sp>
    </p:spTree>
    <p:extLst>
      <p:ext uri="{BB962C8B-B14F-4D97-AF65-F5344CB8AC3E}">
        <p14:creationId xmlns:p14="http://schemas.microsoft.com/office/powerpoint/2010/main" val="2550929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becominghuman.ai/making-a-simple-neural-network-2ea1de81ec20"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jpg"/><Relationship Id="rId1" Type="http://schemas.openxmlformats.org/officeDocument/2006/relationships/slideLayout" Target="../slideLayouts/slideLayout7.xml"/><Relationship Id="rId4" Type="http://schemas.openxmlformats.org/officeDocument/2006/relationships/image" Target="../media/image3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41600" y="104956"/>
            <a:ext cx="6881960" cy="2339102"/>
          </a:xfrm>
          <a:prstGeom prst="rect">
            <a:avLst/>
          </a:prstGeom>
          <a:noFill/>
        </p:spPr>
        <p:txBody>
          <a:bodyPr wrap="square" rtlCol="0">
            <a:spAutoFit/>
          </a:bodyPr>
          <a:lstStyle/>
          <a:p>
            <a:endParaRPr lang="en-IN" dirty="0">
              <a:latin typeface="Times New Roman" pitchFamily="18" charset="0"/>
              <a:cs typeface="Times New Roman" pitchFamily="18" charset="0"/>
            </a:endParaRPr>
          </a:p>
          <a:p>
            <a:pPr algn="ctr"/>
            <a:r>
              <a:rPr lang="en-IN" dirty="0">
                <a:latin typeface="Times New Roman" pitchFamily="18" charset="0"/>
                <a:cs typeface="Times New Roman" pitchFamily="18" charset="0"/>
              </a:rPr>
              <a:t> ||Jai Sri Gurudev|| </a:t>
            </a:r>
          </a:p>
          <a:p>
            <a:pPr algn="ctr"/>
            <a:r>
              <a:rPr lang="en-IN" dirty="0">
                <a:latin typeface="Times New Roman" pitchFamily="18" charset="0"/>
                <a:cs typeface="Times New Roman" pitchFamily="18" charset="0"/>
              </a:rPr>
              <a:t>Sri Adhichunchanagiri Shikshana Trust® </a:t>
            </a:r>
          </a:p>
          <a:p>
            <a:pPr algn="ctr"/>
            <a:r>
              <a:rPr lang="en-IN" b="1" dirty="0">
                <a:latin typeface="Times New Roman" pitchFamily="18" charset="0"/>
                <a:cs typeface="Times New Roman" pitchFamily="18" charset="0"/>
              </a:rPr>
              <a:t>ADHICHUNCHANAGIRI INSTITUTE OF </a:t>
            </a:r>
            <a:r>
              <a:rPr lang="en-IN" b="1" dirty="0" smtClean="0">
                <a:latin typeface="Times New Roman" pitchFamily="18" charset="0"/>
                <a:cs typeface="Times New Roman" pitchFamily="18" charset="0"/>
              </a:rPr>
              <a:t>TECHNOLOGY</a:t>
            </a:r>
          </a:p>
          <a:p>
            <a:pPr algn="ctr"/>
            <a:r>
              <a:rPr lang="en-IN" sz="1200" dirty="0" smtClean="0">
                <a:latin typeface="Times New Roman" pitchFamily="18" charset="0"/>
                <a:cs typeface="Times New Roman" pitchFamily="18" charset="0"/>
              </a:rPr>
              <a:t>(An ISO 9001: 2008 Certified)</a:t>
            </a:r>
          </a:p>
          <a:p>
            <a:pPr algn="ctr"/>
            <a:r>
              <a:rPr lang="en-IN" sz="1200" b="1" dirty="0" smtClean="0">
                <a:latin typeface="Times New Roman" pitchFamily="18" charset="0"/>
                <a:cs typeface="Times New Roman" pitchFamily="18" charset="0"/>
              </a:rPr>
              <a:t>Affiliated to Vishvesvaraya Technological University (VTU), Belagavi,</a:t>
            </a:r>
          </a:p>
          <a:p>
            <a:pPr algn="ctr"/>
            <a:r>
              <a:rPr lang="en-IN" sz="1400" b="1" dirty="0" smtClean="0">
                <a:latin typeface="Times New Roman" pitchFamily="18" charset="0"/>
                <a:cs typeface="Times New Roman" pitchFamily="18" charset="0"/>
              </a:rPr>
              <a:t>Approved by AICTE,  New Delhi, Jyothinagar, </a:t>
            </a:r>
            <a:r>
              <a:rPr lang="en-IN" sz="1400" dirty="0" smtClean="0">
                <a:latin typeface="Times New Roman" pitchFamily="18" charset="0"/>
                <a:cs typeface="Times New Roman" pitchFamily="18" charset="0"/>
              </a:rPr>
              <a:t>Chikkamagaluru-577102 </a:t>
            </a:r>
          </a:p>
          <a:p>
            <a:pPr algn="ctr"/>
            <a:r>
              <a:rPr lang="en-IN" b="1" dirty="0" smtClean="0">
                <a:solidFill>
                  <a:srgbClr val="0070C0"/>
                </a:solidFill>
                <a:latin typeface="Times New Roman" pitchFamily="18" charset="0"/>
                <a:cs typeface="Times New Roman" pitchFamily="18" charset="0"/>
              </a:rPr>
              <a:t>DEPARTMENT </a:t>
            </a:r>
            <a:r>
              <a:rPr lang="en-IN" b="1" dirty="0">
                <a:solidFill>
                  <a:srgbClr val="0070C0"/>
                </a:solidFill>
                <a:latin typeface="Times New Roman" pitchFamily="18" charset="0"/>
                <a:cs typeface="Times New Roman" pitchFamily="18" charset="0"/>
              </a:rPr>
              <a:t>OF </a:t>
            </a:r>
            <a:r>
              <a:rPr lang="en-US" b="1" dirty="0" smtClean="0">
                <a:solidFill>
                  <a:srgbClr val="0070C0"/>
                </a:solidFill>
                <a:latin typeface="Times New Roman" pitchFamily="18" charset="0"/>
                <a:cs typeface="Times New Roman" pitchFamily="18" charset="0"/>
              </a:rPr>
              <a:t>ARTIFICIAL </a:t>
            </a:r>
            <a:r>
              <a:rPr lang="en-US" b="1" dirty="0">
                <a:solidFill>
                  <a:srgbClr val="0070C0"/>
                </a:solidFill>
                <a:latin typeface="Times New Roman" pitchFamily="18" charset="0"/>
                <a:cs typeface="Times New Roman" pitchFamily="18" charset="0"/>
              </a:rPr>
              <a:t>INTELLIGENCE AND MACHING LEARNING</a:t>
            </a:r>
            <a:r>
              <a:rPr lang="en-US" b="1"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1" y="472973"/>
            <a:ext cx="1632857" cy="157258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 name="TextBox 6"/>
          <p:cNvSpPr txBox="1"/>
          <p:nvPr/>
        </p:nvSpPr>
        <p:spPr>
          <a:xfrm>
            <a:off x="830958" y="2826141"/>
            <a:ext cx="10668000" cy="1015663"/>
          </a:xfrm>
          <a:prstGeom prst="rect">
            <a:avLst/>
          </a:prstGeom>
          <a:noFill/>
        </p:spPr>
        <p:txBody>
          <a:bodyPr wrap="square" rtlCol="0">
            <a:spAutoFit/>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MINI PROJECT SEMINAR </a:t>
            </a:r>
          </a:p>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ON</a:t>
            </a:r>
            <a:endPar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endParaRPr>
          </a:p>
          <a:p>
            <a:pPr algn="ctr"/>
            <a:r>
              <a:rPr lang="en-US" sz="2400" b="1" i="1" dirty="0" smtClean="0">
                <a:solidFill>
                  <a:srgbClr val="FF0000"/>
                </a:solidFill>
                <a:latin typeface="Times New Roman" pitchFamily="18" charset="0"/>
                <a:cs typeface="Times New Roman" pitchFamily="18" charset="0"/>
              </a:rPr>
              <a:t>“HEART  DISEASE  PREDICTION  USING  EYE  RETINA”</a:t>
            </a:r>
            <a:endParaRPr lang="en-IN" sz="2400" b="1" dirty="0">
              <a:solidFill>
                <a:srgbClr val="FF0000"/>
              </a:solidFill>
              <a:latin typeface="Times New Roman" pitchFamily="18" charset="0"/>
              <a:cs typeface="Times New Roman" pitchFamily="18" charset="0"/>
            </a:endParaRPr>
          </a:p>
        </p:txBody>
      </p:sp>
      <p:sp>
        <p:nvSpPr>
          <p:cNvPr id="2" name="TextBox 1"/>
          <p:cNvSpPr txBox="1"/>
          <p:nvPr/>
        </p:nvSpPr>
        <p:spPr>
          <a:xfrm>
            <a:off x="6400801" y="4144090"/>
            <a:ext cx="5290458" cy="2431435"/>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Presented by;</a:t>
            </a:r>
          </a:p>
          <a:p>
            <a:r>
              <a:rPr lang="en-US" sz="2400" b="1" dirty="0" smtClean="0">
                <a:latin typeface="Times New Roman" pitchFamily="18" charset="0"/>
                <a:cs typeface="Times New Roman" pitchFamily="18" charset="0"/>
              </a:rPr>
              <a:t>	Anushree C B </a:t>
            </a:r>
            <a:r>
              <a:rPr lang="en-US" dirty="0" smtClean="0">
                <a:latin typeface="Times New Roman" pitchFamily="18" charset="0"/>
                <a:cs typeface="Times New Roman" pitchFamily="18" charset="0"/>
              </a:rPr>
              <a:t>(4AI21AI009)</a:t>
            </a:r>
          </a:p>
          <a:p>
            <a:r>
              <a:rPr lang="en-US" sz="2400" b="1" dirty="0" smtClean="0">
                <a:latin typeface="Times New Roman" pitchFamily="18" charset="0"/>
                <a:cs typeface="Times New Roman" pitchFamily="18" charset="0"/>
              </a:rPr>
              <a:t>	Keerthana S </a:t>
            </a:r>
            <a:r>
              <a:rPr lang="en-US" sz="2400" b="1" dirty="0" err="1" smtClean="0">
                <a:latin typeface="Times New Roman" pitchFamily="18" charset="0"/>
                <a:cs typeface="Times New Roman" pitchFamily="18" charset="0"/>
              </a:rPr>
              <a:t>S</a:t>
            </a:r>
            <a:r>
              <a:rPr lang="en-US" sz="2400"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(4AI21AI028)</a:t>
            </a:r>
          </a:p>
          <a:p>
            <a:r>
              <a:rPr lang="en-US" sz="2400" b="1" dirty="0" smtClean="0">
                <a:latin typeface="Times New Roman" pitchFamily="18" charset="0"/>
                <a:cs typeface="Times New Roman" pitchFamily="18" charset="0"/>
              </a:rPr>
              <a:t>	Madhushree N K </a:t>
            </a:r>
            <a:r>
              <a:rPr lang="en-US" dirty="0" smtClean="0">
                <a:latin typeface="Times New Roman" pitchFamily="18" charset="0"/>
                <a:cs typeface="Times New Roman" pitchFamily="18" charset="0"/>
              </a:rPr>
              <a:t>(4AI21AI032)</a:t>
            </a:r>
            <a:endParaRPr lang="en-US" sz="2400" dirty="0" smtClean="0">
              <a:latin typeface="Times New Roman" pitchFamily="18" charset="0"/>
              <a:cs typeface="Times New Roman" pitchFamily="18" charset="0"/>
            </a:endParaRPr>
          </a:p>
          <a:p>
            <a:r>
              <a:rPr lang="en-US" sz="2000" b="1" dirty="0">
                <a:latin typeface="Times New Roman" pitchFamily="18" charset="0"/>
                <a:cs typeface="Times New Roman" pitchFamily="18" charset="0"/>
              </a:rPr>
              <a:t>	6</a:t>
            </a:r>
            <a:r>
              <a:rPr lang="en-US" sz="2000" b="1" baseline="30000" dirty="0" smtClean="0">
                <a:latin typeface="Times New Roman" pitchFamily="18" charset="0"/>
                <a:cs typeface="Times New Roman" pitchFamily="18" charset="0"/>
              </a:rPr>
              <a:t>th</a:t>
            </a:r>
            <a:r>
              <a:rPr lang="en-US" sz="2000" b="1" dirty="0" smtClean="0">
                <a:latin typeface="Times New Roman" pitchFamily="18" charset="0"/>
                <a:cs typeface="Times New Roman" pitchFamily="18" charset="0"/>
              </a:rPr>
              <a:t> sem,</a:t>
            </a:r>
          </a:p>
          <a:p>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Dept. of AIML,</a:t>
            </a:r>
          </a:p>
          <a:p>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AIT, Chikmagalur</a:t>
            </a:r>
            <a:r>
              <a:rPr lang="en-US"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
        <p:nvSpPr>
          <p:cNvPr id="3" name="TextBox 2"/>
          <p:cNvSpPr txBox="1"/>
          <p:nvPr/>
        </p:nvSpPr>
        <p:spPr>
          <a:xfrm>
            <a:off x="733169" y="4144091"/>
            <a:ext cx="4731226" cy="2000548"/>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Under the guidance of;</a:t>
            </a:r>
          </a:p>
          <a:p>
            <a:r>
              <a:rPr lang="en-US" sz="2000" b="1" dirty="0">
                <a:latin typeface="Times New Roman" pitchFamily="18" charset="0"/>
                <a:cs typeface="Times New Roman" pitchFamily="18" charset="0"/>
              </a:rPr>
              <a:t>	</a:t>
            </a:r>
            <a:r>
              <a:rPr lang="en-US" sz="2400" b="1" dirty="0">
                <a:latin typeface="Times New Roman" pitchFamily="18" charset="0"/>
                <a:cs typeface="Times New Roman" pitchFamily="18" charset="0"/>
              </a:rPr>
              <a:t>Sathyabhama R </a:t>
            </a:r>
            <a:r>
              <a:rPr lang="en-US" sz="1200" b="1" dirty="0" smtClean="0">
                <a:latin typeface="Times New Roman" pitchFamily="18" charset="0"/>
                <a:cs typeface="Times New Roman" pitchFamily="18" charset="0"/>
              </a:rPr>
              <a:t>B.E, </a:t>
            </a:r>
            <a:r>
              <a:rPr lang="en-US" sz="1200" b="1" dirty="0" err="1" smtClean="0">
                <a:latin typeface="Times New Roman" pitchFamily="18" charset="0"/>
                <a:cs typeface="Times New Roman" pitchFamily="18" charset="0"/>
              </a:rPr>
              <a:t>M.Tech</a:t>
            </a:r>
            <a:r>
              <a:rPr lang="en-US" sz="2000" b="1" dirty="0" smtClean="0">
                <a:latin typeface="Times New Roman" pitchFamily="18" charset="0"/>
                <a:cs typeface="Times New Roman" pitchFamily="18" charset="0"/>
              </a:rPr>
              <a:t>.,</a:t>
            </a:r>
            <a:endParaRPr lang="en-US" sz="2000" b="1" dirty="0" smtClean="0">
              <a:latin typeface="Times New Roman" pitchFamily="18" charset="0"/>
              <a:cs typeface="Times New Roman" pitchFamily="18" charset="0"/>
            </a:endParaRPr>
          </a:p>
          <a:p>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Assistant professor,</a:t>
            </a:r>
          </a:p>
          <a:p>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Dept. </a:t>
            </a:r>
            <a:r>
              <a:rPr lang="en-US" sz="2000" b="1" dirty="0">
                <a:latin typeface="Times New Roman" pitchFamily="18" charset="0"/>
                <a:cs typeface="Times New Roman" pitchFamily="18" charset="0"/>
              </a:rPr>
              <a:t>o</a:t>
            </a:r>
            <a:r>
              <a:rPr lang="en-US" sz="2000" b="1" dirty="0" smtClean="0">
                <a:latin typeface="Times New Roman" pitchFamily="18" charset="0"/>
                <a:cs typeface="Times New Roman" pitchFamily="18" charset="0"/>
              </a:rPr>
              <a:t>f </a:t>
            </a:r>
            <a:r>
              <a:rPr lang="en-US" sz="2000" b="1" dirty="0">
                <a:latin typeface="Times New Roman" pitchFamily="18" charset="0"/>
                <a:cs typeface="Times New Roman" pitchFamily="18" charset="0"/>
              </a:rPr>
              <a:t>AIML,</a:t>
            </a:r>
          </a:p>
          <a:p>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AIT, </a:t>
            </a:r>
            <a:r>
              <a:rPr lang="en-US" sz="2000" b="1" dirty="0">
                <a:latin typeface="Times New Roman" pitchFamily="18" charset="0"/>
                <a:cs typeface="Times New Roman" pitchFamily="18" charset="0"/>
              </a:rPr>
              <a:t>Chikmagalur.</a:t>
            </a:r>
            <a:endParaRPr lang="en-IN" sz="2000" b="1" dirty="0">
              <a:latin typeface="Times New Roman" pitchFamily="18" charset="0"/>
              <a:cs typeface="Times New Roman" pitchFamily="18" charset="0"/>
            </a:endParaRPr>
          </a:p>
          <a:p>
            <a:endParaRPr lang="en-IN" sz="2000" b="1" dirty="0">
              <a:latin typeface="Times New Roman" pitchFamily="18" charset="0"/>
              <a:cs typeface="Times New Roman" pitchFamily="18" charset="0"/>
            </a:endParaRPr>
          </a:p>
        </p:txBody>
      </p:sp>
      <p:pic>
        <p:nvPicPr>
          <p:cNvPr id="8" name="Picture 7">
            <a:extLst>
              <a:ext uri="{FF2B5EF4-FFF2-40B4-BE49-F238E27FC236}">
                <a16:creationId xmlns="" xmlns:a16="http://schemas.microsoft.com/office/drawing/2014/main" id="{053EE7CA-1870-51F4-D75B-40A00A00A5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731" y="472973"/>
            <a:ext cx="1632857" cy="157258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276219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 calcmode="lin" valueType="num">
                                      <p:cBhvr>
                                        <p:cTn id="12"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p:cTn id="17"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3338623" y="988843"/>
            <a:ext cx="5720316" cy="614014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b="1" dirty="0"/>
              <a:t>Abstract</a:t>
            </a:r>
          </a:p>
          <a:p>
            <a:pPr marL="285750" indent="-285750" algn="just">
              <a:lnSpc>
                <a:spcPct val="150000"/>
              </a:lnSpc>
              <a:buFont typeface="Wingdings" panose="05000000000000000000" pitchFamily="2" charset="2"/>
              <a:buChar char="Ø"/>
            </a:pPr>
            <a:r>
              <a:rPr lang="en-US" b="1" dirty="0"/>
              <a:t>Introduction</a:t>
            </a:r>
          </a:p>
          <a:p>
            <a:pPr marL="285750" indent="-285750" algn="just">
              <a:lnSpc>
                <a:spcPct val="150000"/>
              </a:lnSpc>
              <a:buFont typeface="Wingdings" panose="05000000000000000000" pitchFamily="2" charset="2"/>
              <a:buChar char="Ø"/>
            </a:pPr>
            <a:r>
              <a:rPr lang="en-US" b="1" dirty="0"/>
              <a:t>Literature Survey</a:t>
            </a:r>
          </a:p>
          <a:p>
            <a:pPr marL="285750" indent="-285750" algn="just">
              <a:lnSpc>
                <a:spcPct val="150000"/>
              </a:lnSpc>
              <a:buFont typeface="Wingdings" panose="05000000000000000000" pitchFamily="2" charset="2"/>
              <a:buChar char="Ø"/>
            </a:pPr>
            <a:r>
              <a:rPr lang="en-US" b="1" dirty="0"/>
              <a:t>Motivation</a:t>
            </a:r>
          </a:p>
          <a:p>
            <a:pPr marL="285750" indent="-285750" algn="just">
              <a:lnSpc>
                <a:spcPct val="150000"/>
              </a:lnSpc>
              <a:buFont typeface="Wingdings" panose="05000000000000000000" pitchFamily="2" charset="2"/>
              <a:buChar char="Ø"/>
            </a:pPr>
            <a:r>
              <a:rPr lang="en-US" b="1" dirty="0"/>
              <a:t>Problem Statement</a:t>
            </a:r>
          </a:p>
          <a:p>
            <a:pPr marL="285750" indent="-285750" algn="just">
              <a:lnSpc>
                <a:spcPct val="150000"/>
              </a:lnSpc>
              <a:buFont typeface="Wingdings" panose="05000000000000000000" pitchFamily="2" charset="2"/>
              <a:buChar char="Ø"/>
            </a:pPr>
            <a:r>
              <a:rPr lang="en-US" b="1" dirty="0"/>
              <a:t>Objectives</a:t>
            </a:r>
          </a:p>
          <a:p>
            <a:pPr marL="285750" indent="-285750" algn="just">
              <a:lnSpc>
                <a:spcPct val="150000"/>
              </a:lnSpc>
              <a:buFont typeface="Wingdings" panose="05000000000000000000" pitchFamily="2" charset="2"/>
              <a:buChar char="Ø"/>
            </a:pPr>
            <a:r>
              <a:rPr lang="en-US" b="1" dirty="0"/>
              <a:t>Scope of the Project</a:t>
            </a:r>
          </a:p>
          <a:p>
            <a:pPr marL="285750" indent="-285750" algn="just">
              <a:lnSpc>
                <a:spcPct val="150000"/>
              </a:lnSpc>
              <a:buFont typeface="Wingdings" panose="05000000000000000000" pitchFamily="2" charset="2"/>
              <a:buChar char="Ø"/>
            </a:pPr>
            <a:r>
              <a:rPr lang="en-US" b="1" dirty="0"/>
              <a:t>Hardware and Software Requirements</a:t>
            </a:r>
          </a:p>
          <a:p>
            <a:pPr marL="285750" indent="-285750" algn="just">
              <a:lnSpc>
                <a:spcPct val="150000"/>
              </a:lnSpc>
              <a:buFont typeface="Wingdings" panose="05000000000000000000" pitchFamily="2" charset="2"/>
              <a:buChar char="Ø"/>
            </a:pPr>
            <a:r>
              <a:rPr lang="en-US" b="1" dirty="0"/>
              <a:t>System </a:t>
            </a:r>
            <a:r>
              <a:rPr lang="en-US" b="1" dirty="0" smtClean="0"/>
              <a:t>Design</a:t>
            </a:r>
          </a:p>
          <a:p>
            <a:pPr marL="285750" indent="-285750" algn="just">
              <a:lnSpc>
                <a:spcPct val="150000"/>
              </a:lnSpc>
              <a:buFont typeface="Wingdings" panose="05000000000000000000" pitchFamily="2" charset="2"/>
              <a:buChar char="Ø"/>
            </a:pPr>
            <a:r>
              <a:rPr lang="en-US" b="1" dirty="0" smtClean="0"/>
              <a:t>Implementation and Algorithms</a:t>
            </a:r>
          </a:p>
          <a:p>
            <a:pPr marL="285750" indent="-285750" algn="just">
              <a:lnSpc>
                <a:spcPct val="150000"/>
              </a:lnSpc>
              <a:buFont typeface="Wingdings" panose="05000000000000000000" pitchFamily="2" charset="2"/>
              <a:buChar char="Ø"/>
            </a:pPr>
            <a:r>
              <a:rPr lang="en-US" b="1" dirty="0" smtClean="0"/>
              <a:t>Results and Snapshots</a:t>
            </a:r>
          </a:p>
          <a:p>
            <a:pPr marL="285750" indent="-285750" algn="just">
              <a:lnSpc>
                <a:spcPct val="150000"/>
              </a:lnSpc>
              <a:buFont typeface="Wingdings" panose="05000000000000000000" pitchFamily="2" charset="2"/>
              <a:buChar char="Ø"/>
            </a:pPr>
            <a:r>
              <a:rPr lang="en-US" b="1" dirty="0" smtClean="0"/>
              <a:t>Conclusion and Future work</a:t>
            </a:r>
            <a:endParaRPr lang="en-US" b="1" dirty="0"/>
          </a:p>
          <a:p>
            <a:pPr marL="285750" indent="-285750" algn="just">
              <a:lnSpc>
                <a:spcPct val="150000"/>
              </a:lnSpc>
              <a:buFont typeface="Wingdings" panose="05000000000000000000" pitchFamily="2" charset="2"/>
              <a:buChar char="Ø"/>
            </a:pPr>
            <a:r>
              <a:rPr lang="en-US" b="1" dirty="0"/>
              <a:t>References  </a:t>
            </a:r>
            <a:endParaRPr lang="en-US" b="1" dirty="0" smtClean="0"/>
          </a:p>
          <a:p>
            <a:pPr marL="285750" indent="-285750">
              <a:lnSpc>
                <a:spcPct val="150000"/>
              </a:lnSpc>
              <a:buFont typeface="Wingdings" panose="05000000000000000000" pitchFamily="2" charset="2"/>
              <a:buChar char="Ø"/>
            </a:pPr>
            <a:endParaRPr lang="en-IN" sz="1400" b="1" dirty="0"/>
          </a:p>
          <a:p>
            <a:pPr>
              <a:lnSpc>
                <a:spcPct val="150000"/>
              </a:lnSpc>
            </a:pPr>
            <a:endParaRPr lang="en-IN" sz="1400" b="1" dirty="0"/>
          </a:p>
        </p:txBody>
      </p:sp>
      <p:sp>
        <p:nvSpPr>
          <p:cNvPr id="3" name="TextBox 2"/>
          <p:cNvSpPr txBox="1"/>
          <p:nvPr/>
        </p:nvSpPr>
        <p:spPr>
          <a:xfrm>
            <a:off x="5061098" y="372154"/>
            <a:ext cx="2838893" cy="584775"/>
          </a:xfrm>
          <a:prstGeom prst="rect">
            <a:avLst/>
          </a:prstGeom>
          <a:noFill/>
        </p:spPr>
        <p:txBody>
          <a:bodyPr wrap="square" rtlCol="0">
            <a:spAutoFit/>
          </a:bodyPr>
          <a:lstStyle/>
          <a:p>
            <a:r>
              <a:rPr lang="en-US" sz="3200" b="1" dirty="0" smtClean="0">
                <a:solidFill>
                  <a:srgbClr val="FF0000"/>
                </a:solidFill>
              </a:rPr>
              <a:t>AGENDA</a:t>
            </a:r>
            <a:endParaRPr lang="en-IN" sz="3200" b="1" dirty="0">
              <a:solidFill>
                <a:srgbClr val="FF0000"/>
              </a:solidFill>
            </a:endParaRPr>
          </a:p>
        </p:txBody>
      </p:sp>
      <p:sp>
        <p:nvSpPr>
          <p:cNvPr id="4" name="Slide Number Placeholder 3"/>
          <p:cNvSpPr>
            <a:spLocks noGrp="1"/>
          </p:cNvSpPr>
          <p:nvPr>
            <p:ph type="sldNum" sz="quarter" idx="12"/>
          </p:nvPr>
        </p:nvSpPr>
        <p:spPr/>
        <p:txBody>
          <a:bodyPr/>
          <a:lstStyle/>
          <a:p>
            <a:fld id="{EE799077-8CCC-4A39-946F-ABA531E9E40C}" type="slidenum">
              <a:rPr lang="en-IN" smtClean="0"/>
              <a:t>2</a:t>
            </a:fld>
            <a:endParaRPr lang="en-IN"/>
          </a:p>
        </p:txBody>
      </p:sp>
      <p:sp>
        <p:nvSpPr>
          <p:cNvPr id="5" name="Footer Placeholder 4"/>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45209630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3776" y="542260"/>
            <a:ext cx="3912781" cy="584775"/>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just"/>
            <a:r>
              <a:rPr lang="en-US" sz="3200" b="1" cap="all" dirty="0" smtClean="0">
                <a:ln w="0"/>
                <a:solidFill>
                  <a:srgbClr val="FF0000"/>
                </a:solidFill>
                <a:effectLst>
                  <a:reflection blurRad="12700" stA="50000" endPos="50000" dist="5000" dir="5400000" sy="-100000" rotWithShape="0"/>
                </a:effectLst>
              </a:rPr>
              <a:t>ABSTRACT</a:t>
            </a:r>
            <a:endParaRPr lang="en-IN" b="1" cap="all" dirty="0">
              <a:ln w="0"/>
              <a:solidFill>
                <a:srgbClr val="FF0000"/>
              </a:solidFill>
              <a:effectLst>
                <a:reflection blurRad="12700" stA="50000" endPos="50000" dist="5000" dir="5400000" sy="-100000" rotWithShape="0"/>
              </a:effectLst>
            </a:endParaRPr>
          </a:p>
        </p:txBody>
      </p:sp>
      <p:sp>
        <p:nvSpPr>
          <p:cNvPr id="3" name="TextBox 2"/>
          <p:cNvSpPr txBox="1"/>
          <p:nvPr/>
        </p:nvSpPr>
        <p:spPr>
          <a:xfrm>
            <a:off x="2105247" y="1658679"/>
            <a:ext cx="9579935" cy="4201150"/>
          </a:xfrm>
          <a:prstGeom prst="rect">
            <a:avLst/>
          </a:prstGeom>
          <a:noFill/>
        </p:spPr>
        <p:txBody>
          <a:bodyPr wrap="square" rtlCol="0">
            <a:spAutoFit/>
          </a:bodyPr>
          <a:lstStyle/>
          <a:p>
            <a:pPr marL="342900" indent="-342900" algn="just">
              <a:lnSpc>
                <a:spcPct val="150000"/>
              </a:lnSpc>
              <a:buFont typeface="Wingdings" pitchFamily="2" charset="2"/>
              <a:buChar char="Ø"/>
            </a:pPr>
            <a:r>
              <a:rPr lang="en-IN" sz="2000" dirty="0" smtClean="0"/>
              <a:t>It </a:t>
            </a:r>
            <a:r>
              <a:rPr lang="en-IN" sz="2000" dirty="0"/>
              <a:t>is necessary to develop a model to predict heart disease occurrence as early as possible with a higher rate of accuracy. Till now the detections are gone through </a:t>
            </a:r>
            <a:r>
              <a:rPr lang="en-IN" sz="2000" b="1" dirty="0"/>
              <a:t>blood tests, ECGs, and invasive stress tests. </a:t>
            </a:r>
            <a:endParaRPr lang="en-IN" sz="2000" b="1" dirty="0" smtClean="0"/>
          </a:p>
          <a:p>
            <a:pPr marL="342900" indent="-342900" algn="just">
              <a:lnSpc>
                <a:spcPct val="150000"/>
              </a:lnSpc>
              <a:buFont typeface="Wingdings" pitchFamily="2" charset="2"/>
              <a:buChar char="Ø"/>
            </a:pPr>
            <a:r>
              <a:rPr lang="en-US" sz="2000" dirty="0" smtClean="0"/>
              <a:t>Use of </a:t>
            </a:r>
            <a:r>
              <a:rPr lang="en-US" sz="2000" b="1" dirty="0" smtClean="0"/>
              <a:t>csv file </a:t>
            </a:r>
            <a:r>
              <a:rPr lang="en-US" sz="2000" dirty="0" smtClean="0"/>
              <a:t>can be reaccomplished by retinal images </a:t>
            </a:r>
            <a:endParaRPr lang="en-IN" sz="2000" dirty="0" smtClean="0"/>
          </a:p>
          <a:p>
            <a:pPr marL="342900" indent="-342900" algn="just">
              <a:lnSpc>
                <a:spcPct val="150000"/>
              </a:lnSpc>
              <a:buFont typeface="Wingdings" pitchFamily="2" charset="2"/>
              <a:buChar char="Ø"/>
            </a:pPr>
            <a:r>
              <a:rPr lang="en-IN" sz="2000" dirty="0" smtClean="0"/>
              <a:t>In </a:t>
            </a:r>
            <a:r>
              <a:rPr lang="en-IN" sz="2000" dirty="0"/>
              <a:t>this project, heart disease is predicted by a non-invasive method with the retinal image data. </a:t>
            </a:r>
            <a:r>
              <a:rPr lang="en-IN" sz="2000" dirty="0" smtClean="0"/>
              <a:t>A </a:t>
            </a:r>
            <a:r>
              <a:rPr lang="en-IN" sz="2000" dirty="0"/>
              <a:t>image dataset is considered, as the health of our eyes is connected to the health of our heart</a:t>
            </a:r>
            <a:r>
              <a:rPr lang="en-IN" sz="2000" dirty="0" smtClean="0"/>
              <a:t>. </a:t>
            </a:r>
            <a:r>
              <a:rPr lang="en-IN" sz="2000" dirty="0"/>
              <a:t>Heart problems can be </a:t>
            </a:r>
            <a:r>
              <a:rPr lang="en-IN" sz="2000" b="1" dirty="0"/>
              <a:t>detected from the changes in the microvasculature</a:t>
            </a:r>
            <a:r>
              <a:rPr lang="en-IN" sz="2000" dirty="0"/>
              <a:t>, which is imaged from the retina.</a:t>
            </a:r>
          </a:p>
          <a:p>
            <a:pPr>
              <a:lnSpc>
                <a:spcPct val="150000"/>
              </a:lnSpc>
            </a:pPr>
            <a:endParaRPr lang="en-IN" dirty="0"/>
          </a:p>
        </p:txBody>
      </p:sp>
      <p:sp>
        <p:nvSpPr>
          <p:cNvPr id="4" name="Slide Number Placeholder 3"/>
          <p:cNvSpPr>
            <a:spLocks noGrp="1"/>
          </p:cNvSpPr>
          <p:nvPr>
            <p:ph type="sldNum" sz="quarter" idx="12"/>
          </p:nvPr>
        </p:nvSpPr>
        <p:spPr/>
        <p:txBody>
          <a:bodyPr/>
          <a:lstStyle/>
          <a:p>
            <a:fld id="{EE799077-8CCC-4A39-946F-ABA531E9E40C}" type="slidenum">
              <a:rPr lang="en-IN" smtClean="0"/>
              <a:t>3</a:t>
            </a:fld>
            <a:endParaRPr lang="en-IN"/>
          </a:p>
        </p:txBody>
      </p:sp>
      <p:sp>
        <p:nvSpPr>
          <p:cNvPr id="5" name="Footer Placeholder 4"/>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80656456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3776" y="542260"/>
            <a:ext cx="3912781" cy="584775"/>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3200" b="1" cap="all" dirty="0" smtClean="0">
                <a:ln w="0"/>
                <a:solidFill>
                  <a:srgbClr val="FF0000"/>
                </a:solidFill>
                <a:effectLst>
                  <a:reflection blurRad="12700" stA="50000" endPos="50000" dist="5000" dir="5400000" sy="-100000" rotWithShape="0"/>
                </a:effectLst>
              </a:rPr>
              <a:t>INTRODUCTION</a:t>
            </a:r>
            <a:endParaRPr lang="en-IN" b="1" cap="all" dirty="0">
              <a:ln w="0"/>
              <a:solidFill>
                <a:srgbClr val="FF0000"/>
              </a:solidFill>
              <a:effectLst>
                <a:reflection blurRad="12700" stA="50000" endPos="50000" dist="5000" dir="5400000" sy="-100000" rotWithShape="0"/>
              </a:effectLst>
            </a:endParaRPr>
          </a:p>
        </p:txBody>
      </p:sp>
      <p:sp>
        <p:nvSpPr>
          <p:cNvPr id="3" name="TextBox 2"/>
          <p:cNvSpPr txBox="1"/>
          <p:nvPr/>
        </p:nvSpPr>
        <p:spPr>
          <a:xfrm>
            <a:off x="2647507" y="1626781"/>
            <a:ext cx="8718698" cy="4247317"/>
          </a:xfrm>
          <a:prstGeom prst="rect">
            <a:avLst/>
          </a:prstGeom>
          <a:noFill/>
        </p:spPr>
        <p:txBody>
          <a:bodyPr wrap="square" rtlCol="0">
            <a:spAutoFit/>
          </a:bodyPr>
          <a:lstStyle/>
          <a:p>
            <a:pPr marL="342900" indent="-342900" algn="just">
              <a:lnSpc>
                <a:spcPct val="150000"/>
              </a:lnSpc>
              <a:buFont typeface="Arial" pitchFamily="34" charset="0"/>
              <a:buChar char="•"/>
            </a:pPr>
            <a:r>
              <a:rPr lang="en-IN" sz="2000" dirty="0"/>
              <a:t>Heart disease is one in each of the key causes of to </a:t>
            </a:r>
            <a:r>
              <a:rPr lang="en-IN" sz="2000" b="1" dirty="0"/>
              <a:t>increase in the fatality rate </a:t>
            </a:r>
            <a:r>
              <a:rPr lang="en-IN" sz="2000" dirty="0"/>
              <a:t>at intervals in the developed world. Therefore, the prediction of heart conditions is unbelievably necessary and up to decrease the fatality rate. </a:t>
            </a:r>
          </a:p>
          <a:p>
            <a:pPr algn="just">
              <a:lnSpc>
                <a:spcPct val="150000"/>
              </a:lnSpc>
            </a:pPr>
            <a:endParaRPr lang="en-IN" sz="2000" dirty="0" smtClean="0"/>
          </a:p>
          <a:p>
            <a:pPr marL="342900" indent="-342900" algn="just">
              <a:lnSpc>
                <a:spcPct val="150000"/>
              </a:lnSpc>
              <a:buFont typeface="Arial" pitchFamily="34" charset="0"/>
              <a:buChar char="•"/>
            </a:pPr>
            <a:r>
              <a:rPr lang="en-IN" sz="2000" dirty="0"/>
              <a:t>The eyes are often considered windows to overall health, as they can reflect systemic conditions such as </a:t>
            </a:r>
            <a:r>
              <a:rPr lang="en-IN" sz="2000" b="1" dirty="0"/>
              <a:t>diabetes and hypertension</a:t>
            </a:r>
            <a:r>
              <a:rPr lang="en-IN" sz="2000" dirty="0"/>
              <a:t>. By leveraging retinal images for heart disease prediction, clinicians can adopt a holistic approach to patient care, addressing both </a:t>
            </a:r>
            <a:r>
              <a:rPr lang="en-IN" sz="2000" b="1" dirty="0"/>
              <a:t>ocular and cardiovascular health simultaneously</a:t>
            </a:r>
            <a:r>
              <a:rPr lang="en-IN" sz="2000" dirty="0" smtClean="0"/>
              <a:t>.</a:t>
            </a:r>
            <a:r>
              <a:rPr lang="en-US" sz="2000" dirty="0" smtClean="0"/>
              <a:t> </a:t>
            </a:r>
            <a:endParaRPr lang="en-IN" sz="2000" dirty="0"/>
          </a:p>
        </p:txBody>
      </p:sp>
      <p:sp>
        <p:nvSpPr>
          <p:cNvPr id="4" name="Slide Number Placeholder 3"/>
          <p:cNvSpPr>
            <a:spLocks noGrp="1"/>
          </p:cNvSpPr>
          <p:nvPr>
            <p:ph type="sldNum" sz="quarter" idx="12"/>
          </p:nvPr>
        </p:nvSpPr>
        <p:spPr/>
        <p:txBody>
          <a:bodyPr/>
          <a:lstStyle/>
          <a:p>
            <a:fld id="{EE799077-8CCC-4A39-946F-ABA531E9E40C}" type="slidenum">
              <a:rPr lang="en-IN" smtClean="0"/>
              <a:t>4</a:t>
            </a:fld>
            <a:endParaRPr lang="en-IN" dirty="0"/>
          </a:p>
        </p:txBody>
      </p:sp>
      <p:sp>
        <p:nvSpPr>
          <p:cNvPr id="5" name="Footer Placeholder 4"/>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1133011239"/>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5004" y="765545"/>
            <a:ext cx="10206479" cy="4708981"/>
          </a:xfrm>
          <a:prstGeom prst="rect">
            <a:avLst/>
          </a:prstGeom>
          <a:noFill/>
        </p:spPr>
        <p:txBody>
          <a:bodyPr wrap="square" rtlCol="0">
            <a:spAutoFit/>
          </a:bodyPr>
          <a:lstStyle/>
          <a:p>
            <a:pPr marL="342900" indent="-342900" algn="just">
              <a:lnSpc>
                <a:spcPct val="150000"/>
              </a:lnSpc>
              <a:buFont typeface="Arial" pitchFamily="34" charset="0"/>
              <a:buChar char="•"/>
            </a:pPr>
            <a:r>
              <a:rPr lang="en-IN" sz="2000" dirty="0"/>
              <a:t>The main aim of this study is to predict </a:t>
            </a:r>
            <a:r>
              <a:rPr lang="en-IN" sz="2000" b="1" dirty="0"/>
              <a:t>hypertension, diabetes and </a:t>
            </a:r>
            <a:r>
              <a:rPr lang="en-IN" sz="2000" b="1" dirty="0" err="1"/>
              <a:t>hyperlipidemia</a:t>
            </a:r>
            <a:r>
              <a:rPr lang="en-IN" sz="2000" dirty="0"/>
              <a:t>, which are risk factors for cardiovascular diseases. Heart disease increases the mortality rate in recent years across the </a:t>
            </a:r>
            <a:r>
              <a:rPr lang="en-IN" sz="2000" dirty="0" smtClean="0"/>
              <a:t>world.</a:t>
            </a:r>
          </a:p>
          <a:p>
            <a:pPr marL="342900" indent="-342900" algn="just">
              <a:lnSpc>
                <a:spcPct val="150000"/>
              </a:lnSpc>
              <a:buFont typeface="Arial" pitchFamily="34" charset="0"/>
              <a:buChar char="•"/>
            </a:pPr>
            <a:endParaRPr lang="en-IN" sz="2000" dirty="0"/>
          </a:p>
          <a:p>
            <a:pPr marL="342900" indent="-342900" algn="just">
              <a:lnSpc>
                <a:spcPct val="150000"/>
              </a:lnSpc>
              <a:buFont typeface="Arial" pitchFamily="34" charset="0"/>
              <a:buChar char="•"/>
            </a:pPr>
            <a:r>
              <a:rPr lang="en-US" sz="2000" dirty="0"/>
              <a:t> Within medical imaging techniques, retinal photography analysis has gained popularity due to its </a:t>
            </a:r>
            <a:r>
              <a:rPr lang="en-US" sz="2000" b="1" dirty="0"/>
              <a:t>noninvasive and cost-effective </a:t>
            </a:r>
            <a:r>
              <a:rPr lang="en-US" sz="2000" b="1" dirty="0" smtClean="0"/>
              <a:t>nature</a:t>
            </a:r>
            <a:r>
              <a:rPr lang="en-US" sz="2000" dirty="0" smtClean="0"/>
              <a:t>.</a:t>
            </a:r>
          </a:p>
          <a:p>
            <a:pPr marL="342900" indent="-342900" algn="just">
              <a:lnSpc>
                <a:spcPct val="150000"/>
              </a:lnSpc>
              <a:buFont typeface="Arial" pitchFamily="34" charset="0"/>
              <a:buChar char="•"/>
            </a:pPr>
            <a:endParaRPr lang="en-US" sz="2000" dirty="0"/>
          </a:p>
          <a:p>
            <a:pPr marL="342900" indent="-342900" algn="just">
              <a:lnSpc>
                <a:spcPct val="150000"/>
              </a:lnSpc>
              <a:buFont typeface="Arial" pitchFamily="34" charset="0"/>
              <a:buChar char="•"/>
            </a:pPr>
            <a:r>
              <a:rPr lang="en-US" sz="2000" dirty="0"/>
              <a:t>The prediction of unwellness is completed by extracting the choices like the </a:t>
            </a:r>
            <a:r>
              <a:rPr lang="en-US" sz="2000" b="1" dirty="0"/>
              <a:t>size of blood vessels, non-uniform background illumination</a:t>
            </a:r>
            <a:r>
              <a:rPr lang="en-US" sz="2000" dirty="0"/>
              <a:t>, etc. from the retinal image.</a:t>
            </a:r>
            <a:endParaRPr lang="en-IN" sz="2000" dirty="0"/>
          </a:p>
          <a:p>
            <a:pPr marL="342900" indent="-342900" algn="just">
              <a:lnSpc>
                <a:spcPct val="150000"/>
              </a:lnSpc>
              <a:buFont typeface="Arial" pitchFamily="34" charset="0"/>
              <a:buChar char="•"/>
            </a:pPr>
            <a:endParaRPr lang="en-IN" sz="2000" dirty="0"/>
          </a:p>
        </p:txBody>
      </p:sp>
      <p:sp>
        <p:nvSpPr>
          <p:cNvPr id="3" name="Slide Number Placeholder 2"/>
          <p:cNvSpPr>
            <a:spLocks noGrp="1"/>
          </p:cNvSpPr>
          <p:nvPr>
            <p:ph type="sldNum" sz="quarter" idx="12"/>
          </p:nvPr>
        </p:nvSpPr>
        <p:spPr/>
        <p:txBody>
          <a:bodyPr/>
          <a:lstStyle/>
          <a:p>
            <a:fld id="{EE799077-8CCC-4A39-946F-ABA531E9E40C}" type="slidenum">
              <a:rPr lang="en-IN" smtClean="0"/>
              <a:t>5</a:t>
            </a:fld>
            <a:endParaRPr lang="en-IN"/>
          </a:p>
        </p:txBody>
      </p:sp>
      <p:sp>
        <p:nvSpPr>
          <p:cNvPr id="4" name="Footer Placeholder 3"/>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925108660"/>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E799077-8CCC-4A39-946F-ABA531E9E40C}" type="slidenum">
              <a:rPr lang="en-IN" smtClean="0"/>
              <a:t>6</a:t>
            </a:fld>
            <a:endParaRPr lang="en-IN"/>
          </a:p>
        </p:txBody>
      </p:sp>
      <p:graphicFrame>
        <p:nvGraphicFramePr>
          <p:cNvPr id="4" name="Table 3"/>
          <p:cNvGraphicFramePr>
            <a:graphicFrameLocks noGrp="1"/>
          </p:cNvGraphicFramePr>
          <p:nvPr>
            <p:extLst>
              <p:ext uri="{D42A27DB-BD31-4B8C-83A1-F6EECF244321}">
                <p14:modId xmlns:p14="http://schemas.microsoft.com/office/powerpoint/2010/main" val="1033392833"/>
              </p:ext>
            </p:extLst>
          </p:nvPr>
        </p:nvGraphicFramePr>
        <p:xfrm>
          <a:off x="2204996" y="877521"/>
          <a:ext cx="9100289" cy="5074317"/>
        </p:xfrm>
        <a:graphic>
          <a:graphicData uri="http://schemas.openxmlformats.org/drawingml/2006/table">
            <a:tbl>
              <a:tblPr firstRow="1" bandRow="1">
                <a:tableStyleId>{E8B1032C-EA38-4F05-BA0D-38AFFFC7BED3}</a:tableStyleId>
              </a:tblPr>
              <a:tblGrid>
                <a:gridCol w="1048950"/>
                <a:gridCol w="1499286"/>
                <a:gridCol w="2644346"/>
                <a:gridCol w="2599902"/>
                <a:gridCol w="1307805"/>
              </a:tblGrid>
              <a:tr h="374631">
                <a:tc>
                  <a:txBody>
                    <a:bodyPr/>
                    <a:lstStyle/>
                    <a:p>
                      <a:pPr algn="l"/>
                      <a:r>
                        <a:rPr lang="en-US" dirty="0" smtClean="0"/>
                        <a:t>SL.NO</a:t>
                      </a:r>
                      <a:endParaRPr lang="en-IN" dirty="0"/>
                    </a:p>
                  </a:txBody>
                  <a:tcPr/>
                </a:tc>
                <a:tc>
                  <a:txBody>
                    <a:bodyPr/>
                    <a:lstStyle/>
                    <a:p>
                      <a:pPr algn="l"/>
                      <a:r>
                        <a:rPr lang="en-US" dirty="0" smtClean="0"/>
                        <a:t>AUTHOR</a:t>
                      </a:r>
                      <a:endParaRPr lang="en-IN" dirty="0"/>
                    </a:p>
                  </a:txBody>
                  <a:tcPr/>
                </a:tc>
                <a:tc>
                  <a:txBody>
                    <a:bodyPr/>
                    <a:lstStyle/>
                    <a:p>
                      <a:pPr algn="l"/>
                      <a:r>
                        <a:rPr lang="en-US" dirty="0" smtClean="0"/>
                        <a:t>TITLE</a:t>
                      </a:r>
                      <a:endParaRPr lang="en-IN" dirty="0"/>
                    </a:p>
                  </a:txBody>
                  <a:tcPr/>
                </a:tc>
                <a:tc>
                  <a:txBody>
                    <a:bodyPr/>
                    <a:lstStyle/>
                    <a:p>
                      <a:pPr algn="l"/>
                      <a:r>
                        <a:rPr lang="en-US" dirty="0" smtClean="0"/>
                        <a:t>PROPOSED</a:t>
                      </a:r>
                      <a:r>
                        <a:rPr lang="en-US" baseline="0" dirty="0" smtClean="0"/>
                        <a:t> METHOD</a:t>
                      </a:r>
                      <a:endParaRPr lang="en-IN" dirty="0"/>
                    </a:p>
                  </a:txBody>
                  <a:tcPr/>
                </a:tc>
                <a:tc>
                  <a:txBody>
                    <a:bodyPr/>
                    <a:lstStyle/>
                    <a:p>
                      <a:pPr algn="l"/>
                      <a:r>
                        <a:rPr lang="en-US" dirty="0" smtClean="0"/>
                        <a:t>DRAWBACK</a:t>
                      </a:r>
                      <a:endParaRPr lang="en-IN" dirty="0"/>
                    </a:p>
                  </a:txBody>
                  <a:tcPr/>
                </a:tc>
              </a:tr>
              <a:tr h="2413686">
                <a:tc>
                  <a:txBody>
                    <a:bodyPr/>
                    <a:lstStyle/>
                    <a:p>
                      <a:pPr algn="l"/>
                      <a:r>
                        <a:rPr lang="en-US" dirty="0" smtClean="0"/>
                        <a:t>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chemeClr val="accent2">
                              <a:lumMod val="75000"/>
                            </a:schemeClr>
                          </a:solidFill>
                        </a:rPr>
                        <a:t>Kelvin </a:t>
                      </a:r>
                      <a:r>
                        <a:rPr lang="en-IN" b="1" dirty="0" err="1" smtClean="0">
                          <a:solidFill>
                            <a:schemeClr val="accent2">
                              <a:lumMod val="75000"/>
                            </a:schemeClr>
                          </a:solidFill>
                        </a:rPr>
                        <a:t>Kwakye</a:t>
                      </a:r>
                      <a:r>
                        <a:rPr lang="en-IN" b="1" dirty="0" smtClean="0">
                          <a:solidFill>
                            <a:schemeClr val="accent2">
                              <a:lumMod val="75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chemeClr val="accent2">
                              <a:lumMod val="75000"/>
                            </a:schemeClr>
                          </a:solidFill>
                        </a:rPr>
                        <a:t>E </a:t>
                      </a:r>
                      <a:r>
                        <a:rPr lang="en-IN" b="1" dirty="0" err="1" smtClean="0">
                          <a:solidFill>
                            <a:schemeClr val="accent2">
                              <a:lumMod val="75000"/>
                            </a:schemeClr>
                          </a:solidFill>
                        </a:rPr>
                        <a:t>Dadzie</a:t>
                      </a:r>
                      <a:r>
                        <a:rPr lang="en-IN" b="1" dirty="0" smtClean="0">
                          <a:solidFill>
                            <a:schemeClr val="accent2">
                              <a:lumMod val="75000"/>
                            </a:schemeClr>
                          </a:solidFill>
                        </a:rPr>
                        <a:t>. </a:t>
                      </a:r>
                    </a:p>
                    <a:p>
                      <a:pPr algn="l"/>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t>Machine Learning-Based Classification Algorithms For The Prediction Of Coronary Heart Diseases. </a:t>
                      </a:r>
                      <a:endParaRPr lang="en-IN" dirty="0" smtClean="0"/>
                    </a:p>
                    <a:p>
                      <a:pPr algn="l"/>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created and tested several machine learning based classification models. The dataset handled unbalanced classes and feature selection.</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Slow operation. </a:t>
                      </a:r>
                    </a:p>
                    <a:p>
                      <a:pPr algn="l"/>
                      <a:endParaRPr lang="en-IN" dirty="0"/>
                    </a:p>
                  </a:txBody>
                  <a:tcPr/>
                </a:tc>
              </a:tr>
              <a:tr h="403023">
                <a:tc>
                  <a:txBody>
                    <a:bodyPr/>
                    <a:lstStyle/>
                    <a:p>
                      <a:pPr algn="l"/>
                      <a:r>
                        <a:rPr lang="en-US" dirty="0" smtClean="0"/>
                        <a:t>2</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chemeClr val="accent2">
                              <a:lumMod val="75000"/>
                            </a:schemeClr>
                          </a:solidFill>
                        </a:rPr>
                        <a:t>Sameer </a:t>
                      </a:r>
                      <a:r>
                        <a:rPr lang="en-IN" b="1" dirty="0" err="1" smtClean="0">
                          <a:solidFill>
                            <a:schemeClr val="accent2">
                              <a:lumMod val="75000"/>
                            </a:schemeClr>
                          </a:solidFill>
                        </a:rPr>
                        <a:t>Shaikh</a:t>
                      </a:r>
                      <a:r>
                        <a:rPr lang="en-IN" b="1" dirty="0" smtClean="0">
                          <a:solidFill>
                            <a:schemeClr val="accent2">
                              <a:lumMod val="75000"/>
                            </a:schemeClr>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b="1" dirty="0" err="1" smtClean="0">
                          <a:solidFill>
                            <a:schemeClr val="accent2">
                              <a:lumMod val="75000"/>
                            </a:schemeClr>
                          </a:solidFill>
                        </a:rPr>
                        <a:t>Divya</a:t>
                      </a:r>
                      <a:r>
                        <a:rPr lang="en-IN" b="1" dirty="0" smtClean="0">
                          <a:solidFill>
                            <a:schemeClr val="accent2">
                              <a:lumMod val="75000"/>
                            </a:schemeClr>
                          </a:solidFill>
                        </a:rPr>
                        <a:t> </a:t>
                      </a:r>
                      <a:r>
                        <a:rPr lang="en-IN" b="1" dirty="0" err="1" smtClean="0">
                          <a:solidFill>
                            <a:schemeClr val="accent2">
                              <a:lumMod val="75000"/>
                            </a:schemeClr>
                          </a:solidFill>
                        </a:rPr>
                        <a:t>Surve</a:t>
                      </a:r>
                      <a:r>
                        <a:rPr lang="en-IN" b="0" dirty="0" smtClean="0">
                          <a:solidFill>
                            <a:schemeClr val="accent2">
                              <a:lumMod val="75000"/>
                            </a:schemeClr>
                          </a:solidFill>
                        </a:rPr>
                        <a:t>.</a:t>
                      </a:r>
                      <a:endParaRPr lang="en-IN" dirty="0" smtClean="0">
                        <a:solidFill>
                          <a:schemeClr val="accent2">
                            <a:lumMod val="75000"/>
                          </a:schemeClr>
                        </a:solidFill>
                      </a:endParaRPr>
                    </a:p>
                    <a:p>
                      <a:pPr algn="l"/>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t>Heart disease prediction using eye retinal images</a:t>
                      </a:r>
                    </a:p>
                    <a:p>
                      <a:pPr algn="l"/>
                      <a:endParaRPr lang="en-IN" dirty="0"/>
                    </a:p>
                  </a:txBody>
                  <a:tcPr/>
                </a:tc>
                <a:tc>
                  <a:txBody>
                    <a:bodyPr/>
                    <a:lstStyle/>
                    <a:p>
                      <a:r>
                        <a:rPr lang="en-IN" dirty="0" smtClean="0"/>
                        <a:t>based on the analysis of the predictive models classification performance on combined datasets and the train-test split technique is presented.</a:t>
                      </a:r>
                    </a:p>
                    <a:p>
                      <a:pPr algn="l"/>
                      <a:endParaRPr lang="en-IN" dirty="0"/>
                    </a:p>
                  </a:txBody>
                  <a:tcPr/>
                </a:tc>
                <a:tc>
                  <a:txBody>
                    <a:bodyPr/>
                    <a:lstStyle/>
                    <a:p>
                      <a:pPr algn="l"/>
                      <a:r>
                        <a:rPr lang="en-IN" dirty="0" smtClean="0"/>
                        <a:t>Less features considered. </a:t>
                      </a:r>
                      <a:endParaRPr lang="en-IN" dirty="0"/>
                    </a:p>
                  </a:txBody>
                  <a:tcPr/>
                </a:tc>
              </a:tr>
            </a:tbl>
          </a:graphicData>
        </a:graphic>
      </p:graphicFrame>
      <p:sp>
        <p:nvSpPr>
          <p:cNvPr id="5" name="Title 1"/>
          <p:cNvSpPr>
            <a:spLocks noGrp="1"/>
          </p:cNvSpPr>
          <p:nvPr>
            <p:ph type="title"/>
          </p:nvPr>
        </p:nvSpPr>
        <p:spPr>
          <a:xfrm>
            <a:off x="4149475" y="-181233"/>
            <a:ext cx="4976038" cy="963945"/>
          </a:xfrm>
        </p:spPr>
        <p:txBody>
          <a:bodyPr>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3600" b="1" cap="all" dirty="0" smtClean="0">
                <a:ln w="0"/>
                <a:solidFill>
                  <a:srgbClr val="FF0000"/>
                </a:solidFill>
                <a:effectLst>
                  <a:reflection blurRad="12700" stA="50000" endPos="50000" dist="5000" dir="5400000" sy="-100000" rotWithShape="0"/>
                </a:effectLst>
                <a:latin typeface="+mn-lt"/>
              </a:rPr>
              <a:t>LITERATURE</a:t>
            </a:r>
            <a:r>
              <a:rPr lang="en-US" sz="3600" b="1" cap="all" dirty="0" smtClean="0">
                <a:ln w="0"/>
                <a:solidFill>
                  <a:srgbClr val="FF0000"/>
                </a:solidFill>
                <a:effectLst>
                  <a:reflection blurRad="12700" stA="50000" endPos="50000" dist="5000" dir="5400000" sy="-100000" rotWithShape="0"/>
                </a:effectLst>
              </a:rPr>
              <a:t> </a:t>
            </a:r>
            <a:r>
              <a:rPr lang="en-US" sz="3600" b="1" cap="all" dirty="0" smtClean="0">
                <a:ln w="0"/>
                <a:solidFill>
                  <a:srgbClr val="FF0000"/>
                </a:solidFill>
                <a:effectLst>
                  <a:reflection blurRad="12700" stA="50000" endPos="50000" dist="5000" dir="5400000" sy="-100000" rotWithShape="0"/>
                </a:effectLst>
                <a:latin typeface="+mn-lt"/>
              </a:rPr>
              <a:t>SURVEY</a:t>
            </a:r>
            <a:endParaRPr lang="en-IN" sz="3600" b="1" cap="all" dirty="0">
              <a:ln w="0"/>
              <a:solidFill>
                <a:srgbClr val="FF0000"/>
              </a:solidFill>
              <a:effectLst>
                <a:reflection blurRad="12700" stA="50000" endPos="50000" dist="5000" dir="5400000" sy="-100000" rotWithShape="0"/>
              </a:effectLst>
              <a:latin typeface="+mn-lt"/>
            </a:endParaRPr>
          </a:p>
        </p:txBody>
      </p:sp>
      <p:sp>
        <p:nvSpPr>
          <p:cNvPr id="2" name="Footer Placeholder 1"/>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964281959"/>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E799077-8CCC-4A39-946F-ABA531E9E40C}" type="slidenum">
              <a:rPr lang="en-IN" smtClean="0"/>
              <a:t>7</a:t>
            </a:fld>
            <a:endParaRPr lang="en-IN"/>
          </a:p>
        </p:txBody>
      </p:sp>
      <p:graphicFrame>
        <p:nvGraphicFramePr>
          <p:cNvPr id="4" name="Table 3"/>
          <p:cNvGraphicFramePr>
            <a:graphicFrameLocks noGrp="1"/>
          </p:cNvGraphicFramePr>
          <p:nvPr>
            <p:extLst>
              <p:ext uri="{D42A27DB-BD31-4B8C-83A1-F6EECF244321}">
                <p14:modId xmlns:p14="http://schemas.microsoft.com/office/powerpoint/2010/main" val="3641997287"/>
              </p:ext>
            </p:extLst>
          </p:nvPr>
        </p:nvGraphicFramePr>
        <p:xfrm>
          <a:off x="2032000" y="719666"/>
          <a:ext cx="8128000" cy="4668520"/>
        </p:xfrm>
        <a:graphic>
          <a:graphicData uri="http://schemas.openxmlformats.org/drawingml/2006/table">
            <a:tbl>
              <a:tblPr firstRow="1" bandRow="1">
                <a:tableStyleId>{E8B1032C-EA38-4F05-BA0D-38AFFFC7BED3}</a:tableStyleId>
              </a:tblPr>
              <a:tblGrid>
                <a:gridCol w="1007762"/>
                <a:gridCol w="1515762"/>
                <a:gridCol w="1729946"/>
                <a:gridCol w="2413687"/>
                <a:gridCol w="1460843"/>
              </a:tblGrid>
              <a:tr h="370840">
                <a:tc>
                  <a:txBody>
                    <a:bodyPr/>
                    <a:lstStyle/>
                    <a:p>
                      <a:r>
                        <a:rPr lang="en-US" dirty="0" smtClean="0"/>
                        <a:t>SL</a:t>
                      </a:r>
                      <a:r>
                        <a:rPr lang="en-US" baseline="0" dirty="0" smtClean="0"/>
                        <a:t> NO</a:t>
                      </a:r>
                      <a:endParaRPr lang="en-IN" dirty="0"/>
                    </a:p>
                  </a:txBody>
                  <a:tcPr/>
                </a:tc>
                <a:tc>
                  <a:txBody>
                    <a:bodyPr/>
                    <a:lstStyle/>
                    <a:p>
                      <a:r>
                        <a:rPr lang="en-US" dirty="0" smtClean="0"/>
                        <a:t>AUTHOR</a:t>
                      </a:r>
                      <a:endParaRPr lang="en-IN" dirty="0"/>
                    </a:p>
                  </a:txBody>
                  <a:tcPr/>
                </a:tc>
                <a:tc>
                  <a:txBody>
                    <a:bodyPr/>
                    <a:lstStyle/>
                    <a:p>
                      <a:r>
                        <a:rPr lang="en-US" dirty="0" smtClean="0"/>
                        <a:t>TITLE</a:t>
                      </a:r>
                      <a:endParaRPr lang="en-IN" dirty="0"/>
                    </a:p>
                  </a:txBody>
                  <a:tcPr/>
                </a:tc>
                <a:tc>
                  <a:txBody>
                    <a:bodyPr/>
                    <a:lstStyle/>
                    <a:p>
                      <a:r>
                        <a:rPr lang="en-US" dirty="0" smtClean="0"/>
                        <a:t>PROPOSED</a:t>
                      </a:r>
                      <a:r>
                        <a:rPr lang="en-US" baseline="0" dirty="0" smtClean="0"/>
                        <a:t> </a:t>
                      </a:r>
                      <a:r>
                        <a:rPr lang="en-US" dirty="0" smtClean="0"/>
                        <a:t>METHOD</a:t>
                      </a:r>
                      <a:endParaRPr lang="en-IN" dirty="0"/>
                    </a:p>
                  </a:txBody>
                  <a:tcPr/>
                </a:tc>
                <a:tc>
                  <a:txBody>
                    <a:bodyPr/>
                    <a:lstStyle/>
                    <a:p>
                      <a:r>
                        <a:rPr lang="en-US" dirty="0" smtClean="0"/>
                        <a:t>DRAWBACKS</a:t>
                      </a:r>
                      <a:endParaRPr lang="en-IN" dirty="0"/>
                    </a:p>
                  </a:txBody>
                  <a:tcPr/>
                </a:tc>
              </a:tr>
              <a:tr h="370840">
                <a:tc>
                  <a:txBody>
                    <a:bodyPr/>
                    <a:lstStyle/>
                    <a:p>
                      <a:r>
                        <a:rPr lang="en-US" dirty="0" smtClean="0"/>
                        <a:t>3</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chemeClr val="accent2">
                              <a:lumMod val="75000"/>
                            </a:schemeClr>
                          </a:solidFill>
                        </a:rPr>
                        <a:t>Sibgha Taqdees. </a:t>
                      </a:r>
                    </a:p>
                    <a:p>
                      <a:endParaRPr lang="en-IN" b="1" dirty="0">
                        <a:solidFill>
                          <a:schemeClr val="accent2">
                            <a:lumMod val="75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t>Heart Disease Prediction </a:t>
                      </a:r>
                      <a:endParaRPr lang="en-IN" dirty="0" smtClean="0"/>
                    </a:p>
                    <a:p>
                      <a:endParaRPr lang="en-IN" dirty="0"/>
                    </a:p>
                  </a:txBody>
                  <a:tcPr/>
                </a:tc>
                <a:tc>
                  <a:txBody>
                    <a:bodyPr/>
                    <a:lstStyle/>
                    <a:p>
                      <a:r>
                        <a:rPr lang="en-IN" dirty="0" smtClean="0"/>
                        <a:t>like naive Bayes, k Nearest Neighbour</a:t>
                      </a:r>
                    </a:p>
                    <a:p>
                      <a:r>
                        <a:rPr lang="en-IN" dirty="0" smtClean="0"/>
                        <a:t>[KNN], Decision tree, Artificial Neural Network [ANN]</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Less Accuracy. </a:t>
                      </a:r>
                    </a:p>
                    <a:p>
                      <a:endParaRPr lang="en-IN" dirty="0"/>
                    </a:p>
                  </a:txBody>
                  <a:tcPr/>
                </a:tc>
              </a:tr>
              <a:tr h="370840">
                <a:tc>
                  <a:txBody>
                    <a:bodyPr/>
                    <a:lstStyle/>
                    <a:p>
                      <a:r>
                        <a:rPr lang="en-US" dirty="0" smtClean="0"/>
                        <a:t>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chemeClr val="accent2">
                              <a:lumMod val="75000"/>
                            </a:schemeClr>
                          </a:solidFill>
                        </a:rPr>
                        <a:t>Harsit Jindal. </a:t>
                      </a: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t>Heart Disease Prediction Using Machine Learning Algorithms</a:t>
                      </a:r>
                      <a:r>
                        <a:rPr lang="en-IN" dirty="0" smtClean="0"/>
                        <a:t>. </a:t>
                      </a:r>
                    </a:p>
                    <a:p>
                      <a:endParaRPr lang="en-IN" dirty="0"/>
                    </a:p>
                  </a:txBody>
                  <a:tcPr/>
                </a:tc>
                <a:tc>
                  <a:txBody>
                    <a:bodyPr/>
                    <a:lstStyle/>
                    <a:p>
                      <a:r>
                        <a:rPr lang="en-IN" dirty="0" smtClean="0"/>
                        <a:t>The strength of proposed model was quiet satisfying and was able to predict evidence of having heart disease in particular individual by using KNN and Logistic Regression which showed good accuracy</a:t>
                      </a:r>
                      <a:endParaRPr lang="en-IN" dirty="0"/>
                    </a:p>
                  </a:txBody>
                  <a:tcPr/>
                </a:tc>
                <a:tc>
                  <a:txBody>
                    <a:bodyPr/>
                    <a:lstStyle/>
                    <a:p>
                      <a:r>
                        <a:rPr lang="en-US" dirty="0" smtClean="0"/>
                        <a:t>Less</a:t>
                      </a:r>
                      <a:r>
                        <a:rPr lang="en-US" baseline="0" dirty="0" smtClean="0"/>
                        <a:t>er usage of datasets.</a:t>
                      </a:r>
                      <a:endParaRPr lang="en-IN" dirty="0"/>
                    </a:p>
                  </a:txBody>
                  <a:tcPr/>
                </a:tc>
              </a:tr>
            </a:tbl>
          </a:graphicData>
        </a:graphic>
      </p:graphicFrame>
      <p:sp>
        <p:nvSpPr>
          <p:cNvPr id="2" name="Footer Placeholder 1"/>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509298257"/>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89229" y="361506"/>
            <a:ext cx="3965944" cy="646331"/>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just"/>
            <a:r>
              <a:rPr lang="en-US" sz="3600" b="1" cap="all" dirty="0" smtClean="0">
                <a:ln w="0"/>
                <a:solidFill>
                  <a:srgbClr val="FF0000"/>
                </a:solidFill>
                <a:effectLst>
                  <a:reflection blurRad="12700" stA="50000" endPos="50000" dist="5000" dir="5400000" sy="-100000" rotWithShape="0"/>
                </a:effectLst>
              </a:rPr>
              <a:t>MOTIVATION</a:t>
            </a:r>
            <a:endParaRPr lang="en-IN" sz="3600" b="1" cap="all" dirty="0">
              <a:ln w="0"/>
              <a:solidFill>
                <a:srgbClr val="FF0000"/>
              </a:solidFill>
              <a:effectLst>
                <a:reflection blurRad="12700" stA="50000" endPos="50000" dist="5000" dir="5400000" sy="-100000" rotWithShape="0"/>
              </a:effectLst>
            </a:endParaRPr>
          </a:p>
        </p:txBody>
      </p:sp>
      <p:sp>
        <p:nvSpPr>
          <p:cNvPr id="3" name="TextBox 2"/>
          <p:cNvSpPr txBox="1"/>
          <p:nvPr/>
        </p:nvSpPr>
        <p:spPr>
          <a:xfrm>
            <a:off x="3099391" y="1301912"/>
            <a:ext cx="5465135" cy="2246769"/>
          </a:xfrm>
          <a:prstGeom prst="rect">
            <a:avLst/>
          </a:prstGeom>
          <a:noFill/>
        </p:spPr>
        <p:txBody>
          <a:bodyPr wrap="square" rtlCol="0">
            <a:spAutoFit/>
          </a:bodyPr>
          <a:lstStyle/>
          <a:p>
            <a:pPr marL="457200" indent="-457200">
              <a:buFont typeface="Wingdings" pitchFamily="2" charset="2"/>
              <a:buChar char="Ø"/>
            </a:pPr>
            <a:r>
              <a:rPr lang="en-IN" sz="2800" b="1" dirty="0"/>
              <a:t>Understanding ML </a:t>
            </a:r>
            <a:r>
              <a:rPr lang="en-IN" sz="2800" b="1" dirty="0" smtClean="0"/>
              <a:t>Algorithms</a:t>
            </a:r>
          </a:p>
          <a:p>
            <a:endParaRPr lang="en-IN" sz="2800" b="1" dirty="0" smtClean="0"/>
          </a:p>
          <a:p>
            <a:pPr marL="457200" indent="-457200">
              <a:buFont typeface="Wingdings" pitchFamily="2" charset="2"/>
              <a:buChar char="Ø"/>
            </a:pPr>
            <a:r>
              <a:rPr lang="en-IN" sz="2800" b="1" dirty="0"/>
              <a:t>Learning Image </a:t>
            </a:r>
            <a:r>
              <a:rPr lang="en-IN" sz="2800" b="1" dirty="0" smtClean="0"/>
              <a:t>Processing</a:t>
            </a:r>
            <a:endParaRPr lang="en-US" sz="2800" b="1" dirty="0"/>
          </a:p>
          <a:p>
            <a:pPr marL="457200" indent="-457200">
              <a:buFont typeface="Wingdings" pitchFamily="2" charset="2"/>
              <a:buChar char="Ø"/>
            </a:pPr>
            <a:endParaRPr lang="en-IN" sz="2800" b="1" dirty="0" smtClean="0"/>
          </a:p>
          <a:p>
            <a:pPr marL="457200" indent="-457200">
              <a:buFont typeface="Wingdings" pitchFamily="2" charset="2"/>
              <a:buChar char="Ø"/>
            </a:pPr>
            <a:r>
              <a:rPr lang="en-IN" sz="2800" b="1" dirty="0"/>
              <a:t>Research </a:t>
            </a:r>
            <a:r>
              <a:rPr lang="en-IN" sz="2800" b="1" dirty="0" smtClean="0"/>
              <a:t>Advancements</a:t>
            </a:r>
            <a:endParaRPr lang="en-IN"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744" y="4251229"/>
            <a:ext cx="3051544" cy="202198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7438" y="4251229"/>
            <a:ext cx="3216347" cy="202198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0606" y="4344917"/>
            <a:ext cx="3001924" cy="1928292"/>
          </a:xfrm>
          <a:prstGeom prst="rect">
            <a:avLst/>
          </a:prstGeom>
        </p:spPr>
      </p:pic>
      <p:sp>
        <p:nvSpPr>
          <p:cNvPr id="7" name="Slide Number Placeholder 6"/>
          <p:cNvSpPr>
            <a:spLocks noGrp="1"/>
          </p:cNvSpPr>
          <p:nvPr>
            <p:ph type="sldNum" sz="quarter" idx="12"/>
          </p:nvPr>
        </p:nvSpPr>
        <p:spPr/>
        <p:txBody>
          <a:bodyPr/>
          <a:lstStyle/>
          <a:p>
            <a:fld id="{EE799077-8CCC-4A39-946F-ABA531E9E40C}" type="slidenum">
              <a:rPr lang="en-IN" smtClean="0"/>
              <a:t>8</a:t>
            </a:fld>
            <a:endParaRPr lang="en-IN"/>
          </a:p>
        </p:txBody>
      </p:sp>
      <p:sp>
        <p:nvSpPr>
          <p:cNvPr id="8" name="Footer Placeholder 7"/>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900957848"/>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9</a:t>
            </a:fld>
            <a:endParaRPr lang="en-IN"/>
          </a:p>
        </p:txBody>
      </p:sp>
      <p:sp>
        <p:nvSpPr>
          <p:cNvPr id="3" name="TextBox 2"/>
          <p:cNvSpPr txBox="1"/>
          <p:nvPr/>
        </p:nvSpPr>
        <p:spPr>
          <a:xfrm>
            <a:off x="4433777" y="223284"/>
            <a:ext cx="5422604" cy="584775"/>
          </a:xfrm>
          <a:prstGeom prst="rect">
            <a:avLst/>
          </a:prstGeom>
          <a:noFill/>
        </p:spPr>
        <p:txBody>
          <a:bodyPr wrap="square" rtlCol="0">
            <a:spAutoFit/>
          </a:bodyPr>
          <a:lstStyle/>
          <a:p>
            <a:r>
              <a:rPr lang="en-US" sz="3200" b="1" cap="all" dirty="0">
                <a:ln w="0"/>
                <a:solidFill>
                  <a:srgbClr val="FF0000"/>
                </a:solidFill>
                <a:effectLst>
                  <a:reflection blurRad="12700" stA="50000" endPos="50000" dist="5000" dir="5400000" sy="-100000" rotWithShape="0"/>
                </a:effectLst>
              </a:rPr>
              <a:t> PROBLEM STATEMENT</a:t>
            </a:r>
            <a:endParaRPr lang="en-IN" sz="3200" dirty="0"/>
          </a:p>
        </p:txBody>
      </p:sp>
      <p:sp>
        <p:nvSpPr>
          <p:cNvPr id="4" name="TextBox 3"/>
          <p:cNvSpPr txBox="1"/>
          <p:nvPr/>
        </p:nvSpPr>
        <p:spPr>
          <a:xfrm>
            <a:off x="2530549" y="1446028"/>
            <a:ext cx="8888818" cy="3785652"/>
          </a:xfrm>
          <a:prstGeom prst="rect">
            <a:avLst/>
          </a:prstGeom>
          <a:noFill/>
        </p:spPr>
        <p:txBody>
          <a:bodyPr wrap="square" rtlCol="0">
            <a:spAutoFit/>
          </a:bodyPr>
          <a:lstStyle/>
          <a:p>
            <a:pPr algn="just"/>
            <a:r>
              <a:rPr lang="en-US" sz="2400" dirty="0" smtClean="0"/>
              <a:t>Develop </a:t>
            </a:r>
            <a:r>
              <a:rPr lang="en-US" sz="2400" dirty="0"/>
              <a:t>a heart disease prediction model using high-quality retinal images. Collect and preprocess data by cleaning and augmenting images. Extract features using </a:t>
            </a:r>
            <a:r>
              <a:rPr lang="en-US" sz="2400" b="1" dirty="0"/>
              <a:t>convolutional neural networks (CNNs).</a:t>
            </a:r>
            <a:r>
              <a:rPr lang="en-US" sz="2400" dirty="0"/>
              <a:t> Train and validate deep learning models. Design a scalable, user-friendly interface for </a:t>
            </a:r>
            <a:r>
              <a:rPr lang="en-US" sz="2400" b="1" dirty="0"/>
              <a:t>medical </a:t>
            </a:r>
            <a:r>
              <a:rPr lang="en-US" sz="2400" b="1" dirty="0" smtClean="0"/>
              <a:t>professionals.</a:t>
            </a:r>
            <a:endParaRPr lang="en-US" sz="2400" b="1" dirty="0" smtClean="0"/>
          </a:p>
          <a:p>
            <a:pPr algn="just"/>
            <a:endParaRPr lang="en-US" sz="2400" dirty="0"/>
          </a:p>
          <a:p>
            <a:pPr algn="just"/>
            <a:r>
              <a:rPr lang="en-US" sz="2400" dirty="0"/>
              <a:t>		Create a heart disease prediction model using retinal images, featuring data cleaning, CNN-based feature extraction, model training, validation, and a secure, scalable interface.</a:t>
            </a:r>
          </a:p>
          <a:p>
            <a:pPr algn="just"/>
            <a:endParaRPr lang="en-IN" sz="2400" dirty="0"/>
          </a:p>
        </p:txBody>
      </p:sp>
      <p:sp>
        <p:nvSpPr>
          <p:cNvPr id="5" name="Footer Placeholder 4"/>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1952063867"/>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2856" y="160638"/>
            <a:ext cx="4837814" cy="861774"/>
          </a:xfrm>
          <a:prstGeom prst="rect">
            <a:avLst/>
          </a:prstGeom>
          <a:noFill/>
        </p:spPr>
        <p:txBody>
          <a:bodyPr wrap="square" rtlCol="0">
            <a:spAutoFit/>
          </a:bodyPr>
          <a:lstStyle/>
          <a:p>
            <a:pPr algn="ctr"/>
            <a:r>
              <a:rPr lang="en-US" sz="3200" b="1" cap="all" dirty="0" smtClean="0">
                <a:ln w="0"/>
                <a:solidFill>
                  <a:srgbClr val="FF0000"/>
                </a:solidFill>
                <a:effectLst>
                  <a:reflection blurRad="12700" stA="50000" endPos="50000" dist="5000" dir="5400000" sy="-100000" rotWithShape="0"/>
                </a:effectLst>
              </a:rPr>
              <a:t>   AIM</a:t>
            </a:r>
            <a:endParaRPr lang="en-IN" sz="3200" b="1" cap="all" dirty="0">
              <a:ln w="0"/>
              <a:solidFill>
                <a:srgbClr val="FF0000"/>
              </a:solidFill>
              <a:effectLst>
                <a:reflection blurRad="12700" stA="50000" endPos="50000" dist="5000" dir="5400000" sy="-100000" rotWithShape="0"/>
              </a:effectLst>
            </a:endParaRPr>
          </a:p>
          <a:p>
            <a:endParaRPr lang="en-IN" dirty="0"/>
          </a:p>
        </p:txBody>
      </p:sp>
      <p:sp>
        <p:nvSpPr>
          <p:cNvPr id="4" name="TextBox 3"/>
          <p:cNvSpPr txBox="1"/>
          <p:nvPr/>
        </p:nvSpPr>
        <p:spPr>
          <a:xfrm>
            <a:off x="1301578" y="1022412"/>
            <a:ext cx="10791568" cy="6001643"/>
          </a:xfrm>
          <a:prstGeom prst="rect">
            <a:avLst/>
          </a:prstGeom>
          <a:noFill/>
        </p:spPr>
        <p:txBody>
          <a:bodyPr wrap="square" rtlCol="0">
            <a:spAutoFit/>
          </a:bodyPr>
          <a:lstStyle/>
          <a:p>
            <a:pPr algn="just">
              <a:lnSpc>
                <a:spcPct val="150000"/>
              </a:lnSpc>
            </a:pPr>
            <a:r>
              <a:rPr lang="en-US" sz="1600" b="1" dirty="0" smtClean="0"/>
              <a:t>The main aim of the proposed method of Heart disease prediction by retinal eye images is to: </a:t>
            </a:r>
            <a:endParaRPr lang="en-IN" sz="1600" b="1" dirty="0" smtClean="0"/>
          </a:p>
          <a:p>
            <a:pPr marL="342900" indent="-342900" algn="just">
              <a:lnSpc>
                <a:spcPct val="150000"/>
              </a:lnSpc>
              <a:buFont typeface="Wingdings" pitchFamily="2" charset="2"/>
              <a:buChar char="v"/>
            </a:pPr>
            <a:r>
              <a:rPr lang="en-IN" sz="2000" b="1" dirty="0" smtClean="0"/>
              <a:t>INPUT</a:t>
            </a:r>
            <a:r>
              <a:rPr lang="en-IN" sz="2000" b="1" dirty="0"/>
              <a:t>: </a:t>
            </a:r>
            <a:r>
              <a:rPr lang="en-IN" sz="2000" dirty="0"/>
              <a:t>Collect a dataset of eye retinal </a:t>
            </a:r>
            <a:r>
              <a:rPr lang="en-IN" sz="2000" dirty="0" smtClean="0"/>
              <a:t>images </a:t>
            </a:r>
            <a:r>
              <a:rPr lang="en-IN" sz="2000" dirty="0"/>
              <a:t>including information on heart disease diagnosis and risk factors</a:t>
            </a:r>
            <a:r>
              <a:rPr lang="en-IN" sz="2000" dirty="0" smtClean="0"/>
              <a:t>.</a:t>
            </a:r>
            <a:endParaRPr lang="en-IN" sz="2000" dirty="0"/>
          </a:p>
          <a:p>
            <a:pPr marL="342900" indent="-342900" algn="just">
              <a:lnSpc>
                <a:spcPct val="150000"/>
              </a:lnSpc>
              <a:buFont typeface="Wingdings" pitchFamily="2" charset="2"/>
              <a:buChar char="v"/>
            </a:pPr>
            <a:r>
              <a:rPr lang="en-IN" sz="2000" b="1" dirty="0"/>
              <a:t>PREPROCESSING:</a:t>
            </a:r>
            <a:r>
              <a:rPr lang="en-IN" sz="2000" dirty="0"/>
              <a:t> </a:t>
            </a:r>
            <a:r>
              <a:rPr lang="en-IN" sz="2000" dirty="0" smtClean="0"/>
              <a:t>Pre-process </a:t>
            </a:r>
            <a:r>
              <a:rPr lang="en-IN" sz="2000" dirty="0"/>
              <a:t>the retinal images to enhance features </a:t>
            </a:r>
            <a:r>
              <a:rPr lang="en-IN" sz="2000" dirty="0" smtClean="0"/>
              <a:t>and </a:t>
            </a:r>
            <a:r>
              <a:rPr lang="en-IN" sz="2000" dirty="0"/>
              <a:t>ensuring the quality of input data for the </a:t>
            </a:r>
            <a:r>
              <a:rPr lang="en-IN" sz="2000" dirty="0" smtClean="0"/>
              <a:t>predictive model.</a:t>
            </a:r>
          </a:p>
          <a:p>
            <a:pPr lvl="2" algn="just">
              <a:lnSpc>
                <a:spcPct val="150000"/>
              </a:lnSpc>
            </a:pPr>
            <a:r>
              <a:rPr lang="en-US" sz="2000" dirty="0" smtClean="0"/>
              <a:t>• </a:t>
            </a:r>
            <a:r>
              <a:rPr lang="en-US" sz="2000" dirty="0"/>
              <a:t>Noise </a:t>
            </a:r>
            <a:r>
              <a:rPr lang="en-US" sz="2000" dirty="0" smtClean="0"/>
              <a:t>Reduction</a:t>
            </a:r>
          </a:p>
          <a:p>
            <a:pPr lvl="2" algn="just">
              <a:lnSpc>
                <a:spcPct val="150000"/>
              </a:lnSpc>
            </a:pPr>
            <a:r>
              <a:rPr lang="en-US" sz="2000" dirty="0" smtClean="0"/>
              <a:t>• </a:t>
            </a:r>
            <a:r>
              <a:rPr lang="en-US" sz="2000" dirty="0"/>
              <a:t>Vessel </a:t>
            </a:r>
            <a:r>
              <a:rPr lang="en-US" sz="2000" dirty="0" smtClean="0"/>
              <a:t>Segmentation</a:t>
            </a:r>
          </a:p>
          <a:p>
            <a:pPr lvl="2">
              <a:lnSpc>
                <a:spcPct val="150000"/>
              </a:lnSpc>
            </a:pPr>
            <a:r>
              <a:rPr lang="en-US" sz="2000" dirty="0" smtClean="0"/>
              <a:t>• </a:t>
            </a:r>
            <a:r>
              <a:rPr lang="en-US" sz="2000" dirty="0"/>
              <a:t>Vessel </a:t>
            </a:r>
            <a:r>
              <a:rPr lang="en-US" sz="2000" dirty="0" smtClean="0"/>
              <a:t>Density and contrast adjustment</a:t>
            </a:r>
            <a:r>
              <a:rPr lang="en-US" sz="2000" dirty="0"/>
              <a:t/>
            </a:r>
            <a:br>
              <a:rPr lang="en-US" sz="2000" dirty="0"/>
            </a:br>
            <a:r>
              <a:rPr lang="en-US" sz="2000" dirty="0"/>
              <a:t>• Bifurcation </a:t>
            </a:r>
            <a:r>
              <a:rPr lang="en-US" sz="2000" dirty="0" smtClean="0"/>
              <a:t>Points</a:t>
            </a:r>
          </a:p>
          <a:p>
            <a:pPr lvl="2" algn="just">
              <a:lnSpc>
                <a:spcPct val="150000"/>
              </a:lnSpc>
            </a:pPr>
            <a:r>
              <a:rPr lang="en-US" sz="2000" dirty="0" smtClean="0"/>
              <a:t>• </a:t>
            </a:r>
            <a:r>
              <a:rPr lang="en-US" sz="2000" dirty="0"/>
              <a:t>Non-Uniform Background </a:t>
            </a:r>
            <a:r>
              <a:rPr lang="en-US" sz="2000" dirty="0" smtClean="0"/>
              <a:t>Illumination</a:t>
            </a:r>
            <a:endParaRPr lang="en-IN" sz="2000" dirty="0" smtClean="0"/>
          </a:p>
          <a:p>
            <a:pPr marL="342900" indent="-342900" algn="just">
              <a:lnSpc>
                <a:spcPct val="150000"/>
              </a:lnSpc>
              <a:buFont typeface="Wingdings" pitchFamily="2" charset="2"/>
              <a:buChar char="v"/>
            </a:pPr>
            <a:r>
              <a:rPr lang="en-IN" sz="2000" b="1" dirty="0" smtClean="0"/>
              <a:t>OUTPUT:</a:t>
            </a:r>
            <a:r>
              <a:rPr lang="en-IN" sz="2000" dirty="0" smtClean="0"/>
              <a:t> Develop a user-friendly interface for healthcare professionals and others to utilize the trained model for heart disease risk assessment based on retinal images.</a:t>
            </a:r>
          </a:p>
          <a:p>
            <a:pPr marL="342900" indent="-342900" algn="just">
              <a:lnSpc>
                <a:spcPct val="150000"/>
              </a:lnSpc>
              <a:buFont typeface="Wingdings" pitchFamily="2" charset="2"/>
              <a:buChar char="v"/>
            </a:pPr>
            <a:endParaRPr lang="en-IN" sz="2000" dirty="0"/>
          </a:p>
        </p:txBody>
      </p:sp>
      <p:sp>
        <p:nvSpPr>
          <p:cNvPr id="3" name="Slide Number Placeholder 2"/>
          <p:cNvSpPr>
            <a:spLocks noGrp="1"/>
          </p:cNvSpPr>
          <p:nvPr>
            <p:ph type="sldNum" sz="quarter" idx="12"/>
          </p:nvPr>
        </p:nvSpPr>
        <p:spPr/>
        <p:txBody>
          <a:bodyPr/>
          <a:lstStyle/>
          <a:p>
            <a:fld id="{EE799077-8CCC-4A39-946F-ABA531E9E40C}" type="slidenum">
              <a:rPr lang="en-IN" smtClean="0"/>
              <a:t>10</a:t>
            </a:fld>
            <a:endParaRPr lang="en-IN" dirty="0"/>
          </a:p>
        </p:txBody>
      </p:sp>
      <p:sp>
        <p:nvSpPr>
          <p:cNvPr id="5" name="Footer Placeholder 4"/>
          <p:cNvSpPr>
            <a:spLocks noGrp="1"/>
          </p:cNvSpPr>
          <p:nvPr>
            <p:ph type="ftr" sz="quarter" idx="11"/>
          </p:nvPr>
        </p:nvSpPr>
        <p:spPr>
          <a:xfrm>
            <a:off x="0" y="6578771"/>
            <a:ext cx="4114800" cy="365125"/>
          </a:xfrm>
        </p:spPr>
        <p:txBody>
          <a:bodyPr/>
          <a:lstStyle/>
          <a:p>
            <a:r>
              <a:rPr lang="en-US" dirty="0" smtClean="0">
                <a:solidFill>
                  <a:schemeClr val="tx1"/>
                </a:solidFill>
              </a:rPr>
              <a:t>Heart Disease prediction using Retinal eye </a:t>
            </a:r>
            <a:endParaRPr lang="en-IN" dirty="0">
              <a:solidFill>
                <a:schemeClr val="tx1"/>
              </a:solidFill>
            </a:endParaRPr>
          </a:p>
        </p:txBody>
      </p:sp>
    </p:spTree>
    <p:extLst>
      <p:ext uri="{BB962C8B-B14F-4D97-AF65-F5344CB8AC3E}">
        <p14:creationId xmlns:p14="http://schemas.microsoft.com/office/powerpoint/2010/main" val="1788888932"/>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5161" y="457200"/>
            <a:ext cx="4837814" cy="861774"/>
          </a:xfrm>
          <a:prstGeom prst="rect">
            <a:avLst/>
          </a:prstGeom>
          <a:noFill/>
        </p:spPr>
        <p:txBody>
          <a:bodyPr wrap="square" rtlCol="0">
            <a:spAutoFit/>
          </a:bodyPr>
          <a:lstStyle/>
          <a:p>
            <a:r>
              <a:rPr lang="en-US" sz="3200" b="1" cap="all" dirty="0" smtClean="0">
                <a:ln w="0"/>
                <a:solidFill>
                  <a:srgbClr val="FF0000"/>
                </a:solidFill>
                <a:effectLst>
                  <a:reflection blurRad="12700" stA="50000" endPos="50000" dist="5000" dir="5400000" sy="-100000" rotWithShape="0"/>
                </a:effectLst>
              </a:rPr>
              <a:t>objectives</a:t>
            </a:r>
            <a:endParaRPr lang="en-IN" sz="3200" b="1" cap="all" dirty="0">
              <a:ln w="0"/>
              <a:solidFill>
                <a:srgbClr val="FF0000"/>
              </a:solidFill>
              <a:effectLst>
                <a:reflection blurRad="12700" stA="50000" endPos="50000" dist="5000" dir="5400000" sy="-100000" rotWithShape="0"/>
              </a:effectLst>
            </a:endParaRPr>
          </a:p>
          <a:p>
            <a:endParaRPr lang="en-IN" dirty="0"/>
          </a:p>
        </p:txBody>
      </p:sp>
      <p:sp>
        <p:nvSpPr>
          <p:cNvPr id="3" name="TextBox 2"/>
          <p:cNvSpPr txBox="1"/>
          <p:nvPr/>
        </p:nvSpPr>
        <p:spPr>
          <a:xfrm>
            <a:off x="2466752" y="1318974"/>
            <a:ext cx="9154633" cy="4247317"/>
          </a:xfrm>
          <a:prstGeom prst="rect">
            <a:avLst/>
          </a:prstGeom>
          <a:noFill/>
        </p:spPr>
        <p:txBody>
          <a:bodyPr wrap="square" rtlCol="0">
            <a:spAutoFit/>
          </a:bodyPr>
          <a:lstStyle/>
          <a:p>
            <a:pPr marL="342900" lvl="0" indent="-342900" algn="just">
              <a:lnSpc>
                <a:spcPct val="150000"/>
              </a:lnSpc>
              <a:buFont typeface="Wingdings" pitchFamily="2" charset="2"/>
              <a:buChar char="Ø"/>
            </a:pPr>
            <a:r>
              <a:rPr lang="en-IN" sz="2000" dirty="0" smtClean="0"/>
              <a:t>To </a:t>
            </a:r>
            <a:r>
              <a:rPr lang="en-IN" sz="2000" dirty="0"/>
              <a:t>develop a model that can </a:t>
            </a:r>
            <a:r>
              <a:rPr lang="en-IN" sz="2000" b="1" dirty="0"/>
              <a:t>accurately predict </a:t>
            </a:r>
            <a:r>
              <a:rPr lang="en-IN" sz="2000" dirty="0"/>
              <a:t>the likelihood of heart disease based on features extracted from eye retinal images</a:t>
            </a:r>
            <a:r>
              <a:rPr lang="en-IN" sz="2000" dirty="0" smtClean="0"/>
              <a:t>.</a:t>
            </a:r>
          </a:p>
          <a:p>
            <a:pPr marL="342900" lvl="0" indent="-342900" algn="just">
              <a:lnSpc>
                <a:spcPct val="150000"/>
              </a:lnSpc>
              <a:buFont typeface="Wingdings" pitchFamily="2" charset="2"/>
              <a:buChar char="Ø"/>
            </a:pPr>
            <a:endParaRPr lang="en-IN" sz="2000" dirty="0"/>
          </a:p>
          <a:p>
            <a:pPr marL="342900" lvl="0" indent="-342900" algn="just">
              <a:lnSpc>
                <a:spcPct val="150000"/>
              </a:lnSpc>
              <a:buFont typeface="Wingdings" pitchFamily="2" charset="2"/>
              <a:buChar char="Ø"/>
            </a:pPr>
            <a:r>
              <a:rPr lang="en-IN" sz="2000" dirty="0"/>
              <a:t>To revolutionize </a:t>
            </a:r>
            <a:r>
              <a:rPr lang="en-IN" sz="2000" b="1" dirty="0"/>
              <a:t>non-invasive screening methods </a:t>
            </a:r>
            <a:r>
              <a:rPr lang="en-IN" sz="2000" dirty="0"/>
              <a:t>for cardiovascular health assessment using eye retinal images. </a:t>
            </a:r>
            <a:endParaRPr lang="en-IN" sz="2000" dirty="0" smtClean="0"/>
          </a:p>
          <a:p>
            <a:pPr marL="342900" lvl="0" indent="-342900" algn="just">
              <a:lnSpc>
                <a:spcPct val="150000"/>
              </a:lnSpc>
              <a:buFont typeface="Wingdings" pitchFamily="2" charset="2"/>
              <a:buChar char="Ø"/>
            </a:pPr>
            <a:endParaRPr lang="en-IN" sz="2000" dirty="0"/>
          </a:p>
          <a:p>
            <a:pPr marL="342900" lvl="0" indent="-342900" algn="just">
              <a:lnSpc>
                <a:spcPct val="150000"/>
              </a:lnSpc>
              <a:buFont typeface="Wingdings" pitchFamily="2" charset="2"/>
              <a:buChar char="Ø"/>
            </a:pPr>
            <a:r>
              <a:rPr lang="en-IN" sz="2000" dirty="0"/>
              <a:t>To complement existing diagnostic tools and facilitate early intervention, ultimately leading to improved patient outcomes and </a:t>
            </a:r>
            <a:r>
              <a:rPr lang="en-IN" sz="2000" b="1" dirty="0"/>
              <a:t>reduced healthcare burden </a:t>
            </a:r>
            <a:r>
              <a:rPr lang="en-IN" sz="2000" dirty="0"/>
              <a:t>associated with heart-related complications.</a:t>
            </a:r>
          </a:p>
        </p:txBody>
      </p:sp>
      <p:sp>
        <p:nvSpPr>
          <p:cNvPr id="4" name="Slide Number Placeholder 3"/>
          <p:cNvSpPr>
            <a:spLocks noGrp="1"/>
          </p:cNvSpPr>
          <p:nvPr>
            <p:ph type="sldNum" sz="quarter" idx="12"/>
          </p:nvPr>
        </p:nvSpPr>
        <p:spPr/>
        <p:txBody>
          <a:bodyPr/>
          <a:lstStyle/>
          <a:p>
            <a:fld id="{EE799077-8CCC-4A39-946F-ABA531E9E40C}" type="slidenum">
              <a:rPr lang="en-IN" smtClean="0"/>
              <a:t>11</a:t>
            </a:fld>
            <a:endParaRPr lang="en-IN"/>
          </a:p>
        </p:txBody>
      </p:sp>
      <p:sp>
        <p:nvSpPr>
          <p:cNvPr id="5" name="Footer Placeholder 4"/>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3694448525"/>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3963" y="2056387"/>
            <a:ext cx="6096000" cy="461665"/>
          </a:xfrm>
          <a:prstGeom prst="rect">
            <a:avLst/>
          </a:prstGeom>
        </p:spPr>
        <p:txBody>
          <a:bodyPr>
            <a:spAutoFit/>
          </a:bodyPr>
          <a:lstStyle/>
          <a:p>
            <a:pPr marL="285750" lvl="0" indent="-285750">
              <a:buFont typeface="Wingdings" pitchFamily="2" charset="2"/>
              <a:buChar char="Ø"/>
            </a:pPr>
            <a:r>
              <a:rPr lang="en-IN" sz="2400" b="1" dirty="0" smtClean="0"/>
              <a:t>Medical </a:t>
            </a:r>
            <a:r>
              <a:rPr lang="en-IN" sz="2400" b="1" dirty="0"/>
              <a:t>Research and </a:t>
            </a:r>
            <a:r>
              <a:rPr lang="en-IN" sz="2400" b="1" dirty="0" smtClean="0"/>
              <a:t>Diagnosis</a:t>
            </a:r>
          </a:p>
        </p:txBody>
      </p:sp>
      <p:sp>
        <p:nvSpPr>
          <p:cNvPr id="3" name="TextBox 2"/>
          <p:cNvSpPr txBox="1"/>
          <p:nvPr/>
        </p:nvSpPr>
        <p:spPr>
          <a:xfrm>
            <a:off x="4306186" y="340242"/>
            <a:ext cx="4508205" cy="861774"/>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IN" sz="3200" b="1" cap="all" dirty="0">
                <a:ln w="0"/>
                <a:solidFill>
                  <a:srgbClr val="FF0000"/>
                </a:solidFill>
                <a:effectLst>
                  <a:reflection blurRad="12700" stA="50000" endPos="50000" dist="5000" dir="5400000" sy="-100000" rotWithShape="0"/>
                </a:effectLst>
              </a:rPr>
              <a:t>SCOPE OF THE PROJECT</a:t>
            </a:r>
          </a:p>
          <a:p>
            <a:endParaRPr lang="en-IN"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2209672" cy="2626242"/>
          </a:xfrm>
          <a:prstGeom prst="rect">
            <a:avLst/>
          </a:prstGeom>
          <a:ln>
            <a:noFill/>
          </a:ln>
          <a:effectLst>
            <a:softEdge rad="112500"/>
          </a:effec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760896"/>
            <a:ext cx="1967023" cy="865346"/>
          </a:xfrm>
          <a:prstGeom prst="rect">
            <a:avLst/>
          </a:prstGeom>
          <a:ln>
            <a:noFill/>
          </a:ln>
          <a:effectLst>
            <a:softEdge rad="112500"/>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9237" y="1313121"/>
            <a:ext cx="4004777" cy="23047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04298" y="3942886"/>
            <a:ext cx="4004777" cy="22199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Rectangle 10"/>
          <p:cNvSpPr/>
          <p:nvPr/>
        </p:nvSpPr>
        <p:spPr>
          <a:xfrm>
            <a:off x="2861326" y="4822028"/>
            <a:ext cx="4340227" cy="461665"/>
          </a:xfrm>
          <a:prstGeom prst="rect">
            <a:avLst/>
          </a:prstGeom>
        </p:spPr>
        <p:txBody>
          <a:bodyPr wrap="none">
            <a:spAutoFit/>
          </a:bodyPr>
          <a:lstStyle/>
          <a:p>
            <a:pPr marL="285750" lvl="0" indent="-285750">
              <a:buFont typeface="Wingdings" pitchFamily="2" charset="2"/>
              <a:buChar char="Ø"/>
            </a:pPr>
            <a:r>
              <a:rPr lang="en-IN" sz="2400" b="1" dirty="0"/>
              <a:t>Image Processing and Analysis</a:t>
            </a:r>
          </a:p>
        </p:txBody>
      </p:sp>
      <p:sp>
        <p:nvSpPr>
          <p:cNvPr id="12" name="Slide Number Placeholder 11"/>
          <p:cNvSpPr>
            <a:spLocks noGrp="1"/>
          </p:cNvSpPr>
          <p:nvPr>
            <p:ph type="sldNum" sz="quarter" idx="12"/>
          </p:nvPr>
        </p:nvSpPr>
        <p:spPr/>
        <p:txBody>
          <a:bodyPr/>
          <a:lstStyle/>
          <a:p>
            <a:fld id="{EE799077-8CCC-4A39-946F-ABA531E9E40C}" type="slidenum">
              <a:rPr lang="en-IN" smtClean="0"/>
              <a:t>12</a:t>
            </a:fld>
            <a:endParaRPr lang="en-IN"/>
          </a:p>
        </p:txBody>
      </p:sp>
      <p:sp>
        <p:nvSpPr>
          <p:cNvPr id="7" name="Footer Placeholder 6"/>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7861581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5599" y="506746"/>
            <a:ext cx="3204000" cy="26156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5599" y="3551268"/>
            <a:ext cx="3204000" cy="26581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2165495" y="1352900"/>
            <a:ext cx="6149163" cy="461665"/>
          </a:xfrm>
          <a:prstGeom prst="rect">
            <a:avLst/>
          </a:prstGeom>
        </p:spPr>
        <p:txBody>
          <a:bodyPr wrap="square">
            <a:spAutoFit/>
          </a:bodyPr>
          <a:lstStyle/>
          <a:p>
            <a:pPr marL="285750" lvl="0" indent="-285750">
              <a:buFont typeface="Wingdings" pitchFamily="2" charset="2"/>
              <a:buChar char="Ø"/>
            </a:pPr>
            <a:r>
              <a:rPr lang="en-IN" sz="2400" b="1" dirty="0"/>
              <a:t>Machine Learning and Data </a:t>
            </a:r>
            <a:r>
              <a:rPr lang="en-IN" sz="2400" b="1" dirty="0" smtClean="0"/>
              <a:t>Analysis</a:t>
            </a:r>
            <a:endParaRPr lang="en-US" sz="2400" b="1" dirty="0" smtClean="0"/>
          </a:p>
        </p:txBody>
      </p:sp>
      <p:sp>
        <p:nvSpPr>
          <p:cNvPr id="5" name="Rectangle 4"/>
          <p:cNvSpPr/>
          <p:nvPr/>
        </p:nvSpPr>
        <p:spPr>
          <a:xfrm>
            <a:off x="2250557" y="4573405"/>
            <a:ext cx="4333750" cy="461665"/>
          </a:xfrm>
          <a:prstGeom prst="rect">
            <a:avLst/>
          </a:prstGeom>
        </p:spPr>
        <p:txBody>
          <a:bodyPr wrap="none">
            <a:spAutoFit/>
          </a:bodyPr>
          <a:lstStyle/>
          <a:p>
            <a:pPr marL="285750" lvl="0" indent="-285750">
              <a:buFont typeface="Wingdings" pitchFamily="2" charset="2"/>
              <a:buChar char="Ø"/>
            </a:pPr>
            <a:r>
              <a:rPr lang="en-IN" sz="2400" b="1" dirty="0"/>
              <a:t>Interdisciplinary Collaboration</a:t>
            </a:r>
          </a:p>
        </p:txBody>
      </p:sp>
      <p:sp>
        <p:nvSpPr>
          <p:cNvPr id="6" name="Slide Number Placeholder 5"/>
          <p:cNvSpPr>
            <a:spLocks noGrp="1"/>
          </p:cNvSpPr>
          <p:nvPr>
            <p:ph type="sldNum" sz="quarter" idx="12"/>
          </p:nvPr>
        </p:nvSpPr>
        <p:spPr/>
        <p:txBody>
          <a:bodyPr/>
          <a:lstStyle/>
          <a:p>
            <a:fld id="{EE799077-8CCC-4A39-946F-ABA531E9E40C}" type="slidenum">
              <a:rPr lang="en-IN" smtClean="0"/>
              <a:t>13</a:t>
            </a:fld>
            <a:endParaRPr lang="en-IN"/>
          </a:p>
        </p:txBody>
      </p:sp>
      <p:sp>
        <p:nvSpPr>
          <p:cNvPr id="7" name="Footer Placeholder 6"/>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9102859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50195" y="170121"/>
            <a:ext cx="184731" cy="369332"/>
          </a:xfrm>
          <a:prstGeom prst="rect">
            <a:avLst/>
          </a:prstGeom>
          <a:noFill/>
        </p:spPr>
        <p:txBody>
          <a:bodyPr wrap="none" rtlCol="0">
            <a:spAutoFit/>
          </a:bodyPr>
          <a:lstStyle/>
          <a:p>
            <a:endParaRPr lang="en-IN" dirty="0"/>
          </a:p>
        </p:txBody>
      </p:sp>
      <p:sp>
        <p:nvSpPr>
          <p:cNvPr id="3" name="TextBox 2"/>
          <p:cNvSpPr txBox="1"/>
          <p:nvPr/>
        </p:nvSpPr>
        <p:spPr>
          <a:xfrm>
            <a:off x="3274828" y="340242"/>
            <a:ext cx="8240232" cy="861774"/>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3200" b="1" cap="all" dirty="0" smtClean="0">
                <a:ln w="0"/>
                <a:solidFill>
                  <a:srgbClr val="FF0000"/>
                </a:solidFill>
                <a:effectLst>
                  <a:reflection blurRad="12700" stA="50000" endPos="50000" dist="5000" dir="5400000" sy="-100000" rotWithShape="0"/>
                </a:effectLst>
              </a:rPr>
              <a:t>HARDWARE AND SOFTWARE REQUIREMENTS</a:t>
            </a:r>
            <a:endParaRPr lang="en-IN" sz="3200" b="1" cap="all" dirty="0">
              <a:ln w="0"/>
              <a:solidFill>
                <a:srgbClr val="FF0000"/>
              </a:solidFill>
              <a:effectLst>
                <a:reflection blurRad="12700" stA="50000" endPos="50000" dist="5000" dir="5400000" sy="-100000" rotWithShape="0"/>
              </a:effectLst>
            </a:endParaRPr>
          </a:p>
          <a:p>
            <a:endParaRPr lang="en-IN"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4" name="Rectangle 3"/>
          <p:cNvSpPr/>
          <p:nvPr/>
        </p:nvSpPr>
        <p:spPr>
          <a:xfrm>
            <a:off x="2030819" y="1202016"/>
            <a:ext cx="9771321" cy="5940088"/>
          </a:xfrm>
          <a:prstGeom prst="rect">
            <a:avLst/>
          </a:prstGeom>
        </p:spPr>
        <p:txBody>
          <a:bodyPr wrap="square">
            <a:spAutoFit/>
          </a:bodyPr>
          <a:lstStyle/>
          <a:p>
            <a:r>
              <a:rPr lang="en-IN" sz="2400" b="1" dirty="0"/>
              <a:t>SOFTWARE REQUIREMENTS</a:t>
            </a:r>
            <a:r>
              <a:rPr lang="en-IN" sz="2400" b="1" dirty="0" smtClean="0"/>
              <a:t>:</a:t>
            </a:r>
          </a:p>
          <a:p>
            <a:r>
              <a:rPr lang="en-IN" sz="2000" dirty="0"/>
              <a:t/>
            </a:r>
            <a:br>
              <a:rPr lang="en-IN" sz="2000" dirty="0"/>
            </a:br>
            <a:r>
              <a:rPr lang="en-IN" sz="2000" dirty="0"/>
              <a:t>• </a:t>
            </a:r>
            <a:r>
              <a:rPr lang="en-IN" sz="2000" b="1" dirty="0"/>
              <a:t>Operating </a:t>
            </a:r>
            <a:r>
              <a:rPr lang="en-IN" sz="2000" b="1" dirty="0" err="1" smtClean="0"/>
              <a:t>System:</a:t>
            </a:r>
            <a:r>
              <a:rPr lang="en-IN" sz="2000" dirty="0" err="1" smtClean="0"/>
              <a:t>Windows</a:t>
            </a:r>
            <a:r>
              <a:rPr lang="en-IN" sz="2000" dirty="0"/>
              <a:t>, </a:t>
            </a:r>
            <a:r>
              <a:rPr lang="en-IN" sz="2000" dirty="0" err="1"/>
              <a:t>macOS</a:t>
            </a:r>
            <a:r>
              <a:rPr lang="en-IN" sz="2000" dirty="0"/>
              <a:t>, or Linux</a:t>
            </a:r>
            <a:br>
              <a:rPr lang="en-IN" sz="2000" dirty="0"/>
            </a:br>
            <a:r>
              <a:rPr lang="en-IN" sz="2000" dirty="0"/>
              <a:t>• </a:t>
            </a:r>
            <a:r>
              <a:rPr lang="en-IN" sz="2000" b="1" dirty="0"/>
              <a:t>Programming </a:t>
            </a:r>
            <a:r>
              <a:rPr lang="en-IN" sz="2000" b="1" dirty="0" err="1" smtClean="0"/>
              <a:t>Languages:</a:t>
            </a:r>
            <a:r>
              <a:rPr lang="en-IN" sz="2000" dirty="0" err="1" smtClean="0"/>
              <a:t>Python</a:t>
            </a:r>
            <a:r>
              <a:rPr lang="en-IN" sz="2000" dirty="0" smtClean="0"/>
              <a:t> (machine </a:t>
            </a:r>
            <a:r>
              <a:rPr lang="en-IN" sz="2000" dirty="0"/>
              <a:t>learning, and </a:t>
            </a:r>
            <a:r>
              <a:rPr lang="en-IN" sz="2000" dirty="0" smtClean="0"/>
              <a:t>deep learning</a:t>
            </a:r>
            <a:r>
              <a:rPr lang="en-IN" sz="2000" dirty="0"/>
              <a:t>).</a:t>
            </a:r>
            <a:br>
              <a:rPr lang="en-IN" sz="2000" dirty="0"/>
            </a:br>
            <a:r>
              <a:rPr lang="en-IN" sz="2000" dirty="0"/>
              <a:t>• </a:t>
            </a:r>
            <a:r>
              <a:rPr lang="en-IN" sz="2000" b="1" dirty="0"/>
              <a:t>Data Processing: </a:t>
            </a:r>
            <a:r>
              <a:rPr lang="en-IN" sz="2000" dirty="0" err="1" smtClean="0"/>
              <a:t>NumPy</a:t>
            </a:r>
            <a:r>
              <a:rPr lang="en-IN" sz="2000" dirty="0" smtClean="0"/>
              <a:t>, Pandas, </a:t>
            </a:r>
            <a:r>
              <a:rPr lang="en-IN" sz="2000" dirty="0" err="1"/>
              <a:t>OpenCV</a:t>
            </a:r>
            <a:r>
              <a:rPr lang="en-IN" sz="2000" dirty="0"/>
              <a:t> </a:t>
            </a:r>
            <a:br>
              <a:rPr lang="en-IN" sz="2000" dirty="0"/>
            </a:br>
            <a:r>
              <a:rPr lang="en-IN" sz="2000" dirty="0"/>
              <a:t>• </a:t>
            </a:r>
            <a:r>
              <a:rPr lang="en-IN" sz="2000" b="1" dirty="0"/>
              <a:t>Deep Learning:</a:t>
            </a:r>
            <a:r>
              <a:rPr lang="en-IN" sz="2000" dirty="0"/>
              <a:t> </a:t>
            </a:r>
            <a:r>
              <a:rPr lang="en-IN" sz="2000" dirty="0" err="1" smtClean="0"/>
              <a:t>TensorFlow</a:t>
            </a:r>
            <a:r>
              <a:rPr lang="en-IN" sz="2000" dirty="0" smtClean="0"/>
              <a:t>, </a:t>
            </a:r>
            <a:r>
              <a:rPr lang="en-IN" sz="2000" dirty="0" err="1" smtClean="0"/>
              <a:t>Keras</a:t>
            </a:r>
            <a:r>
              <a:rPr lang="en-IN" sz="2000" dirty="0" smtClean="0"/>
              <a:t> </a:t>
            </a:r>
            <a:r>
              <a:rPr lang="en-IN" sz="2000" dirty="0"/>
              <a:t>or </a:t>
            </a:r>
            <a:r>
              <a:rPr lang="en-IN" sz="2000" dirty="0" err="1"/>
              <a:t>PyTorch</a:t>
            </a:r>
            <a:r>
              <a:rPr lang="en-IN" sz="2000" dirty="0"/>
              <a:t> </a:t>
            </a:r>
            <a:br>
              <a:rPr lang="en-IN" sz="2000" dirty="0"/>
            </a:br>
            <a:r>
              <a:rPr lang="en-IN" sz="2000" dirty="0"/>
              <a:t>• </a:t>
            </a:r>
            <a:r>
              <a:rPr lang="en-IN" sz="2000" b="1" dirty="0"/>
              <a:t>Visualization:</a:t>
            </a:r>
            <a:r>
              <a:rPr lang="en-IN" sz="2000" dirty="0"/>
              <a:t> </a:t>
            </a:r>
            <a:r>
              <a:rPr lang="en-IN" sz="2000" dirty="0" err="1" smtClean="0"/>
              <a:t>Matplotlib</a:t>
            </a:r>
            <a:r>
              <a:rPr lang="en-IN" sz="2000" dirty="0" smtClean="0"/>
              <a:t>, </a:t>
            </a:r>
            <a:r>
              <a:rPr lang="en-IN" sz="2000" dirty="0" err="1"/>
              <a:t>Seaborn</a:t>
            </a:r>
            <a:r>
              <a:rPr lang="en-IN" sz="2000" dirty="0"/>
              <a:t/>
            </a:r>
            <a:br>
              <a:rPr lang="en-IN" sz="2000" dirty="0"/>
            </a:br>
            <a:r>
              <a:rPr lang="en-IN" sz="2000" b="1" dirty="0"/>
              <a:t>• Integrated Development Environment (IDE</a:t>
            </a:r>
            <a:r>
              <a:rPr lang="en-IN" sz="2000" b="1" dirty="0" smtClean="0"/>
              <a:t>):</a:t>
            </a:r>
            <a:r>
              <a:rPr lang="en-IN" sz="2000" dirty="0" err="1" smtClean="0"/>
              <a:t>Jupyter</a:t>
            </a:r>
            <a:r>
              <a:rPr lang="en-IN" sz="2000" dirty="0" smtClean="0"/>
              <a:t> Notebook, </a:t>
            </a:r>
            <a:r>
              <a:rPr lang="en-IN" sz="2000" dirty="0" err="1"/>
              <a:t>PyCharm</a:t>
            </a:r>
            <a:r>
              <a:rPr lang="en-IN" sz="2000" dirty="0"/>
              <a:t>, </a:t>
            </a:r>
            <a:r>
              <a:rPr lang="en-IN" sz="2000" dirty="0" smtClean="0"/>
              <a:t>Co-laboratory</a:t>
            </a:r>
          </a:p>
          <a:p>
            <a:endParaRPr lang="en-US" sz="2000" dirty="0"/>
          </a:p>
          <a:p>
            <a:r>
              <a:rPr lang="en-IN" sz="2800" b="1" dirty="0"/>
              <a:t>HARDWARE REQUIREMENTS</a:t>
            </a:r>
            <a:r>
              <a:rPr lang="en-IN" sz="2800" b="1" dirty="0" smtClean="0"/>
              <a:t>:</a:t>
            </a:r>
          </a:p>
          <a:p>
            <a:r>
              <a:rPr lang="en-IN" sz="2800" b="1" dirty="0"/>
              <a:t/>
            </a:r>
            <a:br>
              <a:rPr lang="en-IN" sz="2800" b="1" dirty="0"/>
            </a:br>
            <a:r>
              <a:rPr lang="en-IN" sz="2000" dirty="0"/>
              <a:t>• </a:t>
            </a:r>
            <a:r>
              <a:rPr lang="en-IN" sz="2000" b="1" dirty="0"/>
              <a:t>Processor (CPU): </a:t>
            </a:r>
            <a:r>
              <a:rPr lang="en-IN" sz="2000" dirty="0"/>
              <a:t>Intel i5/i7 </a:t>
            </a:r>
          </a:p>
          <a:p>
            <a:r>
              <a:rPr lang="en-IN" sz="2000" dirty="0"/>
              <a:t>• </a:t>
            </a:r>
            <a:r>
              <a:rPr lang="en-IN" sz="2000" b="1" dirty="0"/>
              <a:t>Memory (RAM): </a:t>
            </a:r>
            <a:r>
              <a:rPr lang="en-IN" sz="2000" dirty="0"/>
              <a:t>Minimum 16 GB RAM 32 GB or more </a:t>
            </a:r>
            <a:r>
              <a:rPr lang="en-IN" sz="2000" dirty="0" err="1"/>
              <a:t>recom</a:t>
            </a:r>
            <a:r>
              <a:rPr lang="en-IN" sz="2000" dirty="0"/>
              <a:t>-mended</a:t>
            </a:r>
            <a:br>
              <a:rPr lang="en-IN" sz="2000" dirty="0"/>
            </a:br>
            <a:r>
              <a:rPr lang="en-IN" sz="2000" dirty="0"/>
              <a:t>• </a:t>
            </a:r>
            <a:r>
              <a:rPr lang="en-IN" sz="2000" b="1" dirty="0"/>
              <a:t>Graphics Processing Unit (GPU): </a:t>
            </a:r>
            <a:r>
              <a:rPr lang="en-IN" sz="2000" dirty="0"/>
              <a:t>A dedicated GPU is crucial for deep learning tasks. </a:t>
            </a:r>
          </a:p>
          <a:p>
            <a:r>
              <a:rPr lang="en-IN" sz="2000" dirty="0"/>
              <a:t>• </a:t>
            </a:r>
            <a:r>
              <a:rPr lang="en-IN" sz="2000" b="1" dirty="0"/>
              <a:t>Storage:</a:t>
            </a:r>
            <a:r>
              <a:rPr lang="en-IN" sz="2000" dirty="0"/>
              <a:t> At least 500 GB SSD for faster read/write</a:t>
            </a:r>
            <a:br>
              <a:rPr lang="en-IN" sz="2000" dirty="0"/>
            </a:br>
            <a:r>
              <a:rPr lang="en-IN" sz="2000" b="1" dirty="0"/>
              <a:t>• Display: </a:t>
            </a:r>
            <a:r>
              <a:rPr lang="en-IN" sz="2000" dirty="0"/>
              <a:t>High-resolution monitor for better visualization </a:t>
            </a:r>
            <a:br>
              <a:rPr lang="en-IN" sz="2000" dirty="0"/>
            </a:br>
            <a:endParaRPr lang="en-IN" sz="2000" dirty="0"/>
          </a:p>
          <a:p>
            <a:endParaRPr lang="en-IN" sz="2000" dirty="0"/>
          </a:p>
        </p:txBody>
      </p:sp>
      <p:sp>
        <p:nvSpPr>
          <p:cNvPr id="5" name="Slide Number Placeholder 4"/>
          <p:cNvSpPr>
            <a:spLocks noGrp="1"/>
          </p:cNvSpPr>
          <p:nvPr>
            <p:ph type="sldNum" sz="quarter" idx="12"/>
          </p:nvPr>
        </p:nvSpPr>
        <p:spPr/>
        <p:txBody>
          <a:bodyPr/>
          <a:lstStyle/>
          <a:p>
            <a:fld id="{EE799077-8CCC-4A39-946F-ABA531E9E40C}" type="slidenum">
              <a:rPr lang="en-IN" smtClean="0"/>
              <a:t>14</a:t>
            </a:fld>
            <a:endParaRPr lang="en-IN"/>
          </a:p>
        </p:txBody>
      </p:sp>
      <p:sp>
        <p:nvSpPr>
          <p:cNvPr id="6" name="Footer Placeholder 5"/>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1518663339"/>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20855" y="340241"/>
            <a:ext cx="3774559" cy="861774"/>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3200" b="1" cap="all" dirty="0" smtClean="0">
                <a:ln w="0"/>
                <a:solidFill>
                  <a:srgbClr val="FF0000"/>
                </a:solidFill>
                <a:effectLst>
                  <a:reflection blurRad="12700" stA="50000" endPos="50000" dist="5000" dir="5400000" sy="-100000" rotWithShape="0"/>
                </a:effectLst>
              </a:rPr>
              <a:t>SYSTEM DESIGN</a:t>
            </a:r>
            <a:endParaRPr lang="en-IN" sz="3200" b="1" cap="all" dirty="0">
              <a:ln w="0"/>
              <a:solidFill>
                <a:srgbClr val="FF0000"/>
              </a:solidFill>
              <a:effectLst>
                <a:reflection blurRad="12700" stA="50000" endPos="50000" dist="5000" dir="5400000" sy="-100000" rotWithShape="0"/>
              </a:effectLst>
            </a:endParaRPr>
          </a:p>
          <a:p>
            <a:endParaRPr lang="en-IN"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2158410" y="1425300"/>
            <a:ext cx="9292856" cy="4007937"/>
          </a:xfrm>
          <a:prstGeom prst="rect">
            <a:avLst/>
          </a:prstGeom>
          <a:ln>
            <a:noFill/>
          </a:ln>
          <a:effectLst>
            <a:softEdge rad="112500"/>
          </a:effectLst>
        </p:spPr>
      </p:pic>
      <p:sp>
        <p:nvSpPr>
          <p:cNvPr id="4" name="TextBox 3"/>
          <p:cNvSpPr txBox="1"/>
          <p:nvPr/>
        </p:nvSpPr>
        <p:spPr>
          <a:xfrm>
            <a:off x="2492324" y="5566910"/>
            <a:ext cx="8958942" cy="400110"/>
          </a:xfrm>
          <a:prstGeom prst="rect">
            <a:avLst/>
          </a:prstGeom>
          <a:noFill/>
        </p:spPr>
        <p:txBody>
          <a:bodyPr wrap="square" rtlCol="0">
            <a:spAutoFit/>
          </a:bodyPr>
          <a:lstStyle/>
          <a:p>
            <a:pPr algn="just"/>
            <a:r>
              <a:rPr lang="en-IN" sz="2000" b="1" dirty="0" smtClean="0"/>
              <a:t>Fig 1: The </a:t>
            </a:r>
            <a:r>
              <a:rPr lang="en-IN" sz="2000" b="1" dirty="0"/>
              <a:t>block diagram for the Heart disease </a:t>
            </a:r>
            <a:r>
              <a:rPr lang="en-IN" sz="2000" b="1" dirty="0" smtClean="0"/>
              <a:t>prediction </a:t>
            </a:r>
            <a:r>
              <a:rPr lang="en-IN" sz="2000" b="1" dirty="0"/>
              <a:t>using eye retinal </a:t>
            </a:r>
            <a:r>
              <a:rPr lang="en-IN" sz="2000" b="1" dirty="0" smtClean="0"/>
              <a:t>image.</a:t>
            </a:r>
            <a:endParaRPr lang="en-IN" sz="2000" b="1" dirty="0"/>
          </a:p>
        </p:txBody>
      </p:sp>
      <p:sp>
        <p:nvSpPr>
          <p:cNvPr id="5" name="Slide Number Placeholder 4"/>
          <p:cNvSpPr>
            <a:spLocks noGrp="1"/>
          </p:cNvSpPr>
          <p:nvPr>
            <p:ph type="sldNum" sz="quarter" idx="12"/>
          </p:nvPr>
        </p:nvSpPr>
        <p:spPr/>
        <p:txBody>
          <a:bodyPr/>
          <a:lstStyle/>
          <a:p>
            <a:fld id="{EE799077-8CCC-4A39-946F-ABA531E9E40C}" type="slidenum">
              <a:rPr lang="en-IN" smtClean="0"/>
              <a:t>15</a:t>
            </a:fld>
            <a:endParaRPr lang="en-IN"/>
          </a:p>
        </p:txBody>
      </p:sp>
      <p:sp>
        <p:nvSpPr>
          <p:cNvPr id="6" name="Footer Placeholder 5"/>
          <p:cNvSpPr>
            <a:spLocks noGrp="1"/>
          </p:cNvSpPr>
          <p:nvPr>
            <p:ph type="ftr" sz="quarter" idx="11"/>
          </p:nvPr>
        </p:nvSpPr>
        <p:spPr/>
        <p:txBody>
          <a:bodyPr/>
          <a:lstStyle/>
          <a:p>
            <a:r>
              <a:rPr lang="en-US" dirty="0" smtClean="0"/>
              <a:t>Heart Disease prediction using Retinal eye </a:t>
            </a:r>
            <a:endParaRPr lang="en-IN" dirty="0"/>
          </a:p>
        </p:txBody>
      </p:sp>
    </p:spTree>
    <p:extLst>
      <p:ext uri="{BB962C8B-B14F-4D97-AF65-F5344CB8AC3E}">
        <p14:creationId xmlns:p14="http://schemas.microsoft.com/office/powerpoint/2010/main" val="2230085311"/>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16</a:t>
            </a:fld>
            <a:endParaRPr lang="en-IN"/>
          </a:p>
        </p:txBody>
      </p:sp>
      <p:pic>
        <p:nvPicPr>
          <p:cNvPr id="3" name="Picture 4" descr="Automatic Fruit Classification Using Deep Learning for Industrial  Applications | Semantic Schol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347" y="1509261"/>
            <a:ext cx="9144000" cy="359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196" y="2101196"/>
            <a:ext cx="955970" cy="1616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710223" y="4667693"/>
            <a:ext cx="1212112" cy="369332"/>
          </a:xfrm>
          <a:prstGeom prst="rect">
            <a:avLst/>
          </a:prstGeom>
          <a:noFill/>
        </p:spPr>
        <p:txBody>
          <a:bodyPr wrap="square" rtlCol="0">
            <a:spAutoFit/>
          </a:bodyPr>
          <a:lstStyle/>
          <a:p>
            <a:pPr marL="285750" indent="-285750">
              <a:buFont typeface="Wingdings" pitchFamily="2" charset="2"/>
              <a:buChar char="q"/>
            </a:pPr>
            <a:endParaRPr lang="en-IN" dirty="0"/>
          </a:p>
        </p:txBody>
      </p:sp>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348" y="1915804"/>
            <a:ext cx="1003058" cy="1692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8523" y="2391328"/>
            <a:ext cx="219075"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a:off x="1846014" y="2762145"/>
            <a:ext cx="36150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 name="Footer Placeholder 4"/>
          <p:cNvSpPr>
            <a:spLocks noGrp="1"/>
          </p:cNvSpPr>
          <p:nvPr>
            <p:ph type="ftr" sz="quarter" idx="11"/>
          </p:nvPr>
        </p:nvSpPr>
        <p:spPr/>
        <p:txBody>
          <a:bodyPr/>
          <a:lstStyle/>
          <a:p>
            <a:r>
              <a:rPr lang="en-US" smtClean="0"/>
              <a:t>Heart Disease prediction using Retinal eye </a:t>
            </a:r>
            <a:endParaRPr lang="en-IN" dirty="0"/>
          </a:p>
        </p:txBody>
      </p:sp>
      <p:sp>
        <p:nvSpPr>
          <p:cNvPr id="11" name="TextBox 10"/>
          <p:cNvSpPr txBox="1"/>
          <p:nvPr/>
        </p:nvSpPr>
        <p:spPr>
          <a:xfrm>
            <a:off x="3441405" y="154179"/>
            <a:ext cx="7889358" cy="584775"/>
          </a:xfrm>
          <a:prstGeom prst="rect">
            <a:avLst/>
          </a:prstGeom>
          <a:noFill/>
        </p:spPr>
        <p:txBody>
          <a:bodyPr wrap="square" rtlCol="0">
            <a:spAutoFit/>
          </a:bodyPr>
          <a:lstStyle/>
          <a:p>
            <a:r>
              <a:rPr lang="en-US" sz="3200" b="1" cap="all" dirty="0" smtClean="0">
                <a:ln w="0"/>
                <a:solidFill>
                  <a:srgbClr val="FF0000"/>
                </a:solidFill>
                <a:effectLst>
                  <a:reflection blurRad="12700" stA="50000" endPos="50000" dist="5000" dir="5400000" sy="-100000" rotWithShape="0"/>
                </a:effectLst>
              </a:rPr>
              <a:t>IMPLEMENTATION AND ALGORITHM</a:t>
            </a:r>
            <a:endParaRPr lang="en-IN" sz="3200" b="1" cap="all" dirty="0">
              <a:ln w="0"/>
              <a:solidFill>
                <a:srgbClr val="FF0000"/>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4279793603"/>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Heart Disease prediction using Retinal eye </a:t>
            </a:r>
            <a:endParaRPr lang="en-IN" dirty="0"/>
          </a:p>
        </p:txBody>
      </p:sp>
      <p:sp>
        <p:nvSpPr>
          <p:cNvPr id="3" name="Slide Number Placeholder 2"/>
          <p:cNvSpPr>
            <a:spLocks noGrp="1"/>
          </p:cNvSpPr>
          <p:nvPr>
            <p:ph type="sldNum" sz="quarter" idx="12"/>
          </p:nvPr>
        </p:nvSpPr>
        <p:spPr/>
        <p:txBody>
          <a:bodyPr/>
          <a:lstStyle/>
          <a:p>
            <a:fld id="{EE799077-8CCC-4A39-946F-ABA531E9E40C}" type="slidenum">
              <a:rPr lang="en-IN" smtClean="0"/>
              <a:t>17</a:t>
            </a:fld>
            <a:endParaRPr lang="en-IN"/>
          </a:p>
        </p:txBody>
      </p:sp>
      <p:sp>
        <p:nvSpPr>
          <p:cNvPr id="4" name="TextBox 3"/>
          <p:cNvSpPr txBox="1"/>
          <p:nvPr/>
        </p:nvSpPr>
        <p:spPr>
          <a:xfrm>
            <a:off x="2166257" y="1219200"/>
            <a:ext cx="9481457" cy="4893647"/>
          </a:xfrm>
          <a:prstGeom prst="rect">
            <a:avLst/>
          </a:prstGeom>
          <a:noFill/>
        </p:spPr>
        <p:txBody>
          <a:bodyPr wrap="square" rtlCol="0">
            <a:spAutoFit/>
          </a:bodyPr>
          <a:lstStyle/>
          <a:p>
            <a:pPr algn="just"/>
            <a:r>
              <a:rPr lang="en-IN" sz="2400" dirty="0"/>
              <a:t>#</a:t>
            </a:r>
            <a:r>
              <a:rPr lang="en-IN" sz="2400" dirty="0" err="1" smtClean="0"/>
              <a:t>initialize_cnn</a:t>
            </a:r>
            <a:r>
              <a:rPr lang="en-IN" sz="2400" dirty="0"/>
              <a:t>()</a:t>
            </a:r>
          </a:p>
          <a:p>
            <a:pPr algn="just"/>
            <a:r>
              <a:rPr lang="en-IN" sz="2400" dirty="0" smtClean="0"/>
              <a:t>#</a:t>
            </a:r>
            <a:r>
              <a:rPr lang="en-IN" sz="2400" dirty="0" err="1" smtClean="0"/>
              <a:t>add_input_layer</a:t>
            </a:r>
            <a:r>
              <a:rPr lang="en-IN" sz="2400" dirty="0" smtClean="0"/>
              <a:t>(shape</a:t>
            </a:r>
            <a:r>
              <a:rPr lang="en-IN" sz="2400" dirty="0"/>
              <a:t>=(height, width, channels))</a:t>
            </a:r>
          </a:p>
          <a:p>
            <a:pPr algn="just"/>
            <a:r>
              <a:rPr lang="en-IN" sz="2400" dirty="0" smtClean="0"/>
              <a:t>#</a:t>
            </a:r>
            <a:r>
              <a:rPr lang="en-IN" sz="2400" dirty="0" err="1" smtClean="0"/>
              <a:t>add_convolutional_layer</a:t>
            </a:r>
            <a:r>
              <a:rPr lang="en-IN" sz="2400" dirty="0" smtClean="0"/>
              <a:t>(filters=32</a:t>
            </a:r>
            <a:r>
              <a:rPr lang="en-IN" sz="2400" dirty="0"/>
              <a:t>, </a:t>
            </a:r>
            <a:r>
              <a:rPr lang="en-IN" sz="2400" dirty="0" err="1"/>
              <a:t>kernel_size</a:t>
            </a:r>
            <a:r>
              <a:rPr lang="en-IN" sz="2400" dirty="0"/>
              <a:t>=(3, 3), activation='</a:t>
            </a:r>
            <a:r>
              <a:rPr lang="en-IN" sz="2400" dirty="0" err="1"/>
              <a:t>relu</a:t>
            </a:r>
            <a:r>
              <a:rPr lang="en-IN" sz="2400" dirty="0"/>
              <a:t>')</a:t>
            </a:r>
          </a:p>
          <a:p>
            <a:pPr algn="just"/>
            <a:r>
              <a:rPr lang="en-IN" sz="2400" dirty="0" smtClean="0"/>
              <a:t>#</a:t>
            </a:r>
            <a:r>
              <a:rPr lang="en-IN" sz="2400" dirty="0" err="1" smtClean="0"/>
              <a:t>add_pooling_layer</a:t>
            </a:r>
            <a:r>
              <a:rPr lang="en-IN" sz="2400" dirty="0" smtClean="0"/>
              <a:t>(</a:t>
            </a:r>
            <a:r>
              <a:rPr lang="en-IN" sz="2400" dirty="0" err="1" smtClean="0"/>
              <a:t>pool_size</a:t>
            </a:r>
            <a:r>
              <a:rPr lang="en-IN" sz="2400" dirty="0"/>
              <a:t>=(2, 2))</a:t>
            </a:r>
          </a:p>
          <a:p>
            <a:pPr algn="just"/>
            <a:r>
              <a:rPr lang="en-IN" sz="2400" dirty="0" smtClean="0"/>
              <a:t>#</a:t>
            </a:r>
            <a:r>
              <a:rPr lang="en-IN" sz="2400" dirty="0" err="1" smtClean="0"/>
              <a:t>add_convolutional_layer</a:t>
            </a:r>
            <a:r>
              <a:rPr lang="en-IN" sz="2400" dirty="0" smtClean="0"/>
              <a:t>(filters=64</a:t>
            </a:r>
            <a:r>
              <a:rPr lang="en-IN" sz="2400" dirty="0"/>
              <a:t>, </a:t>
            </a:r>
            <a:r>
              <a:rPr lang="en-IN" sz="2400" dirty="0" err="1"/>
              <a:t>kernel_size</a:t>
            </a:r>
            <a:r>
              <a:rPr lang="en-IN" sz="2400" dirty="0"/>
              <a:t>=(3, 3), activation='</a:t>
            </a:r>
            <a:r>
              <a:rPr lang="en-IN" sz="2400" dirty="0" err="1"/>
              <a:t>relu</a:t>
            </a:r>
            <a:r>
              <a:rPr lang="en-IN" sz="2400" dirty="0"/>
              <a:t>')</a:t>
            </a:r>
          </a:p>
          <a:p>
            <a:pPr algn="just"/>
            <a:r>
              <a:rPr lang="en-IN" sz="2400" dirty="0" smtClean="0"/>
              <a:t>#</a:t>
            </a:r>
            <a:r>
              <a:rPr lang="en-IN" sz="2400" dirty="0" err="1" smtClean="0"/>
              <a:t>add_pooling_layer</a:t>
            </a:r>
            <a:r>
              <a:rPr lang="en-IN" sz="2400" dirty="0" smtClean="0"/>
              <a:t>(</a:t>
            </a:r>
            <a:r>
              <a:rPr lang="en-IN" sz="2400" dirty="0" err="1" smtClean="0"/>
              <a:t>pool_size</a:t>
            </a:r>
            <a:r>
              <a:rPr lang="en-IN" sz="2400" dirty="0"/>
              <a:t>=(2, 2))</a:t>
            </a:r>
          </a:p>
          <a:p>
            <a:pPr algn="just"/>
            <a:r>
              <a:rPr lang="en-IN" sz="2400" dirty="0" smtClean="0"/>
              <a:t>#</a:t>
            </a:r>
            <a:r>
              <a:rPr lang="en-IN" sz="2400" dirty="0" err="1" smtClean="0"/>
              <a:t>add_flatten_layer</a:t>
            </a:r>
            <a:r>
              <a:rPr lang="en-IN" sz="2400" dirty="0"/>
              <a:t>()</a:t>
            </a:r>
          </a:p>
          <a:p>
            <a:pPr algn="just"/>
            <a:r>
              <a:rPr lang="en-IN" sz="2400" dirty="0" smtClean="0"/>
              <a:t>#</a:t>
            </a:r>
            <a:r>
              <a:rPr lang="en-IN" sz="2400" dirty="0" err="1" smtClean="0"/>
              <a:t>add_dense_layer</a:t>
            </a:r>
            <a:r>
              <a:rPr lang="en-IN" sz="2400" dirty="0" smtClean="0"/>
              <a:t>(units=128</a:t>
            </a:r>
            <a:r>
              <a:rPr lang="en-IN" sz="2400" dirty="0"/>
              <a:t>, activation='</a:t>
            </a:r>
            <a:r>
              <a:rPr lang="en-IN" sz="2400" dirty="0" err="1"/>
              <a:t>relu</a:t>
            </a:r>
            <a:r>
              <a:rPr lang="en-IN" sz="2400" dirty="0"/>
              <a:t>')</a:t>
            </a:r>
          </a:p>
          <a:p>
            <a:pPr algn="just"/>
            <a:r>
              <a:rPr lang="en-IN" sz="2400" dirty="0" smtClean="0"/>
              <a:t>#</a:t>
            </a:r>
            <a:r>
              <a:rPr lang="en-IN" sz="2400" dirty="0" err="1" smtClean="0"/>
              <a:t>add_output_layer</a:t>
            </a:r>
            <a:r>
              <a:rPr lang="en-IN" sz="2400" dirty="0" smtClean="0"/>
              <a:t>(units=</a:t>
            </a:r>
            <a:r>
              <a:rPr lang="en-IN" sz="2400" dirty="0" err="1" smtClean="0"/>
              <a:t>num_classes</a:t>
            </a:r>
            <a:r>
              <a:rPr lang="en-IN" sz="2400" dirty="0"/>
              <a:t>, activation='</a:t>
            </a:r>
            <a:r>
              <a:rPr lang="en-IN" sz="2400" dirty="0" err="1"/>
              <a:t>softmax</a:t>
            </a:r>
            <a:r>
              <a:rPr lang="en-IN" sz="2400" dirty="0"/>
              <a:t>')</a:t>
            </a:r>
          </a:p>
          <a:p>
            <a:pPr algn="just"/>
            <a:r>
              <a:rPr lang="en-IN" sz="2400" dirty="0"/>
              <a:t>#</a:t>
            </a:r>
            <a:r>
              <a:rPr lang="en-IN" sz="2400" dirty="0" err="1" smtClean="0"/>
              <a:t>compile_and_train_cnn</a:t>
            </a:r>
            <a:r>
              <a:rPr lang="en-IN" sz="2400" dirty="0" smtClean="0"/>
              <a:t>(</a:t>
            </a:r>
            <a:r>
              <a:rPr lang="en-IN" sz="2400" dirty="0" err="1" smtClean="0"/>
              <a:t>train_data</a:t>
            </a:r>
            <a:r>
              <a:rPr lang="en-IN" sz="2400" dirty="0"/>
              <a:t>, </a:t>
            </a:r>
            <a:r>
              <a:rPr lang="en-IN" sz="2400" dirty="0" err="1"/>
              <a:t>train_labels</a:t>
            </a:r>
            <a:r>
              <a:rPr lang="en-IN" sz="2400" dirty="0"/>
              <a:t>, </a:t>
            </a:r>
            <a:r>
              <a:rPr lang="en-IN" sz="2400" dirty="0" err="1"/>
              <a:t>val_data</a:t>
            </a:r>
            <a:r>
              <a:rPr lang="en-IN" sz="2400" dirty="0"/>
              <a:t>, </a:t>
            </a:r>
            <a:r>
              <a:rPr lang="en-IN" sz="2400" dirty="0" err="1"/>
              <a:t>val_labels</a:t>
            </a:r>
            <a:r>
              <a:rPr lang="en-IN" sz="2400" dirty="0"/>
              <a:t>, </a:t>
            </a:r>
            <a:r>
              <a:rPr lang="en-IN" sz="2400" dirty="0" smtClean="0"/>
              <a:t>#optimizer</a:t>
            </a:r>
            <a:r>
              <a:rPr lang="en-IN" sz="2400" dirty="0"/>
              <a:t>='</a:t>
            </a:r>
            <a:r>
              <a:rPr lang="en-IN" sz="2400" dirty="0" err="1"/>
              <a:t>adam</a:t>
            </a:r>
            <a:r>
              <a:rPr lang="en-IN" sz="2400" dirty="0"/>
              <a:t>', loss='</a:t>
            </a:r>
            <a:r>
              <a:rPr lang="en-IN" sz="2400" dirty="0" err="1"/>
              <a:t>categorical_crossentropy</a:t>
            </a:r>
            <a:r>
              <a:rPr lang="en-IN" sz="2400" dirty="0"/>
              <a:t>', metrics=['accuracy'], epochs=10, </a:t>
            </a:r>
            <a:r>
              <a:rPr lang="en-IN" sz="2400" dirty="0" err="1"/>
              <a:t>batch_size</a:t>
            </a:r>
            <a:r>
              <a:rPr lang="en-IN" sz="2400" dirty="0"/>
              <a:t>=32)</a:t>
            </a:r>
          </a:p>
          <a:p>
            <a:pPr algn="just"/>
            <a:endParaRPr lang="en-IN" sz="2400" dirty="0"/>
          </a:p>
        </p:txBody>
      </p:sp>
      <p:sp>
        <p:nvSpPr>
          <p:cNvPr id="5" name="TextBox 4"/>
          <p:cNvSpPr txBox="1"/>
          <p:nvPr/>
        </p:nvSpPr>
        <p:spPr>
          <a:xfrm>
            <a:off x="3441405" y="154179"/>
            <a:ext cx="6421052" cy="646331"/>
          </a:xfrm>
          <a:prstGeom prst="rect">
            <a:avLst/>
          </a:prstGeom>
          <a:noFill/>
        </p:spPr>
        <p:txBody>
          <a:bodyPr wrap="square" rtlCol="0">
            <a:spAutoFit/>
          </a:bodyPr>
          <a:lstStyle/>
          <a:p>
            <a:r>
              <a:rPr lang="en-US" sz="3600" b="1" cap="all" dirty="0" smtClean="0">
                <a:ln w="0"/>
                <a:solidFill>
                  <a:srgbClr val="FF0000"/>
                </a:solidFill>
                <a:effectLst>
                  <a:reflection blurRad="12700" stA="50000" endPos="50000" dist="5000" dir="5400000" sy="-100000" rotWithShape="0"/>
                </a:effectLst>
              </a:rPr>
              <a:t>PSEUODOCODE FOR CNN</a:t>
            </a:r>
            <a:endParaRPr lang="en-IN" sz="3600" b="1" cap="all" dirty="0">
              <a:ln w="0"/>
              <a:solidFill>
                <a:srgbClr val="FF0000"/>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355391021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18</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1500" y="1031342"/>
            <a:ext cx="8219263" cy="456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dirty="0" smtClean="0"/>
              <a:t>Heart Disease prediction using Retinal eye </a:t>
            </a:r>
            <a:endParaRPr lang="en-IN" dirty="0"/>
          </a:p>
        </p:txBody>
      </p:sp>
      <p:sp>
        <p:nvSpPr>
          <p:cNvPr id="7" name="TextBox 6"/>
          <p:cNvSpPr txBox="1"/>
          <p:nvPr/>
        </p:nvSpPr>
        <p:spPr>
          <a:xfrm>
            <a:off x="5486401" y="5735989"/>
            <a:ext cx="3744686" cy="369332"/>
          </a:xfrm>
          <a:prstGeom prst="rect">
            <a:avLst/>
          </a:prstGeom>
          <a:noFill/>
        </p:spPr>
        <p:txBody>
          <a:bodyPr wrap="square" rtlCol="0">
            <a:spAutoFit/>
          </a:bodyPr>
          <a:lstStyle/>
          <a:p>
            <a:r>
              <a:rPr lang="en-IN" b="1" dirty="0"/>
              <a:t>Fig </a:t>
            </a:r>
            <a:r>
              <a:rPr lang="en-IN" b="1" dirty="0" smtClean="0"/>
              <a:t>2: The primary libraries installed</a:t>
            </a:r>
            <a:endParaRPr lang="en-IN" b="1" dirty="0"/>
          </a:p>
        </p:txBody>
      </p:sp>
    </p:spTree>
    <p:extLst>
      <p:ext uri="{BB962C8B-B14F-4D97-AF65-F5344CB8AC3E}">
        <p14:creationId xmlns:p14="http://schemas.microsoft.com/office/powerpoint/2010/main" val="1865036463"/>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19</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8920" y="97971"/>
            <a:ext cx="9601200" cy="5377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dirty="0" smtClean="0"/>
              <a:t>Heart Disease prediction using Retinal eye </a:t>
            </a:r>
            <a:endParaRPr lang="en-IN" dirty="0"/>
          </a:p>
        </p:txBody>
      </p:sp>
      <p:sp>
        <p:nvSpPr>
          <p:cNvPr id="4" name="TextBox 3"/>
          <p:cNvSpPr txBox="1"/>
          <p:nvPr/>
        </p:nvSpPr>
        <p:spPr>
          <a:xfrm>
            <a:off x="4660713" y="5617031"/>
            <a:ext cx="4397614" cy="369332"/>
          </a:xfrm>
          <a:prstGeom prst="rect">
            <a:avLst/>
          </a:prstGeom>
          <a:noFill/>
        </p:spPr>
        <p:txBody>
          <a:bodyPr wrap="none" rtlCol="0">
            <a:spAutoFit/>
          </a:bodyPr>
          <a:lstStyle/>
          <a:p>
            <a:r>
              <a:rPr lang="en-IN" b="1" dirty="0"/>
              <a:t>Fig </a:t>
            </a:r>
            <a:r>
              <a:rPr lang="en-IN" b="1" dirty="0" smtClean="0"/>
              <a:t>3: process of training and testing images </a:t>
            </a:r>
            <a:endParaRPr lang="en-IN" b="1" dirty="0"/>
          </a:p>
        </p:txBody>
      </p:sp>
    </p:spTree>
    <p:extLst>
      <p:ext uri="{BB962C8B-B14F-4D97-AF65-F5344CB8AC3E}">
        <p14:creationId xmlns:p14="http://schemas.microsoft.com/office/powerpoint/2010/main" val="838328463"/>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20</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946" y="122765"/>
            <a:ext cx="8127594" cy="2722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4946" y="2845476"/>
            <a:ext cx="8127594" cy="275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dirty="0" smtClean="0"/>
              <a:t>Heart Disease prediction using Retinal eye </a:t>
            </a:r>
            <a:endParaRPr lang="en-IN" dirty="0"/>
          </a:p>
        </p:txBody>
      </p:sp>
      <p:sp>
        <p:nvSpPr>
          <p:cNvPr id="7" name="TextBox 6"/>
          <p:cNvSpPr txBox="1"/>
          <p:nvPr/>
        </p:nvSpPr>
        <p:spPr>
          <a:xfrm>
            <a:off x="3593789" y="5634047"/>
            <a:ext cx="7716469" cy="646331"/>
          </a:xfrm>
          <a:prstGeom prst="rect">
            <a:avLst/>
          </a:prstGeom>
          <a:noFill/>
        </p:spPr>
        <p:txBody>
          <a:bodyPr wrap="square" rtlCol="0">
            <a:spAutoFit/>
          </a:bodyPr>
          <a:lstStyle/>
          <a:p>
            <a:r>
              <a:rPr lang="en-IN" b="1" dirty="0"/>
              <a:t>Fig </a:t>
            </a:r>
            <a:r>
              <a:rPr lang="en-IN" b="1" dirty="0" smtClean="0"/>
              <a:t>4: The code for plotting accuracy curve graph</a:t>
            </a:r>
            <a:endParaRPr lang="en-IN" b="1" dirty="0"/>
          </a:p>
          <a:p>
            <a:endParaRPr lang="en-IN" dirty="0"/>
          </a:p>
        </p:txBody>
      </p:sp>
    </p:spTree>
    <p:extLst>
      <p:ext uri="{BB962C8B-B14F-4D97-AF65-F5344CB8AC3E}">
        <p14:creationId xmlns:p14="http://schemas.microsoft.com/office/powerpoint/2010/main" val="322733287"/>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21</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530" y="268218"/>
            <a:ext cx="5865541"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5597" y="649218"/>
            <a:ext cx="42291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
        <p:nvSpPr>
          <p:cNvPr id="4" name="TextBox 3"/>
          <p:cNvSpPr txBox="1"/>
          <p:nvPr/>
        </p:nvSpPr>
        <p:spPr>
          <a:xfrm>
            <a:off x="3526971" y="5485618"/>
            <a:ext cx="6117771" cy="369332"/>
          </a:xfrm>
          <a:prstGeom prst="rect">
            <a:avLst/>
          </a:prstGeom>
          <a:noFill/>
        </p:spPr>
        <p:txBody>
          <a:bodyPr wrap="square" rtlCol="0">
            <a:spAutoFit/>
          </a:bodyPr>
          <a:lstStyle/>
          <a:p>
            <a:r>
              <a:rPr lang="en-IN" b="1" dirty="0"/>
              <a:t>Fig </a:t>
            </a:r>
            <a:r>
              <a:rPr lang="en-IN" b="1" dirty="0" smtClean="0"/>
              <a:t>5: The code of resizing the retinal image</a:t>
            </a:r>
            <a:endParaRPr lang="en-IN" dirty="0"/>
          </a:p>
        </p:txBody>
      </p:sp>
    </p:spTree>
    <p:extLst>
      <p:ext uri="{BB962C8B-B14F-4D97-AF65-F5344CB8AC3E}">
        <p14:creationId xmlns:p14="http://schemas.microsoft.com/office/powerpoint/2010/main" val="3125659943"/>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22</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889" y="276448"/>
            <a:ext cx="8259762" cy="5253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
        <p:nvSpPr>
          <p:cNvPr id="4" name="TextBox 3"/>
          <p:cNvSpPr txBox="1"/>
          <p:nvPr/>
        </p:nvSpPr>
        <p:spPr>
          <a:xfrm>
            <a:off x="3004457" y="5682343"/>
            <a:ext cx="6281057" cy="369332"/>
          </a:xfrm>
          <a:prstGeom prst="rect">
            <a:avLst/>
          </a:prstGeom>
          <a:noFill/>
        </p:spPr>
        <p:txBody>
          <a:bodyPr wrap="square" rtlCol="0">
            <a:spAutoFit/>
          </a:bodyPr>
          <a:lstStyle/>
          <a:p>
            <a:r>
              <a:rPr lang="en-IN" b="1" dirty="0"/>
              <a:t>Fig </a:t>
            </a:r>
            <a:r>
              <a:rPr lang="en-IN" b="1" dirty="0" smtClean="0"/>
              <a:t>6: Segmentation using .</a:t>
            </a:r>
            <a:endParaRPr lang="en-IN" b="1" dirty="0"/>
          </a:p>
        </p:txBody>
      </p:sp>
    </p:spTree>
    <p:extLst>
      <p:ext uri="{BB962C8B-B14F-4D97-AF65-F5344CB8AC3E}">
        <p14:creationId xmlns:p14="http://schemas.microsoft.com/office/powerpoint/2010/main" val="3106742002"/>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23</a:t>
            </a:fld>
            <a:endParaRPr lang="en-IN"/>
          </a:p>
        </p:txBody>
      </p:sp>
      <p:sp>
        <p:nvSpPr>
          <p:cNvPr id="3" name="Rectangle 2"/>
          <p:cNvSpPr/>
          <p:nvPr/>
        </p:nvSpPr>
        <p:spPr>
          <a:xfrm>
            <a:off x="4046562" y="94872"/>
            <a:ext cx="4070858" cy="523220"/>
          </a:xfrm>
          <a:prstGeom prst="rect">
            <a:avLst/>
          </a:prstGeom>
        </p:spPr>
        <p:txBody>
          <a:bodyPr wrap="none">
            <a:spAutoFit/>
          </a:bodyPr>
          <a:lstStyle/>
          <a:p>
            <a:r>
              <a:rPr lang="en-US" sz="2800" b="1" cap="all" dirty="0" smtClean="0">
                <a:ln w="0"/>
                <a:solidFill>
                  <a:srgbClr val="FF0000"/>
                </a:solidFill>
                <a:effectLst>
                  <a:reflection blurRad="12700" stA="50000" endPos="50000" dist="5000" dir="5400000" sy="-100000" rotWithShape="0"/>
                </a:effectLst>
              </a:rPr>
              <a:t>RESULTS AND SNAPSHOTS</a:t>
            </a:r>
            <a:endParaRPr lang="en-IN" sz="2800" b="1" cap="all" dirty="0">
              <a:ln w="0"/>
              <a:solidFill>
                <a:srgbClr val="FF0000"/>
              </a:solidFill>
              <a:effectLst>
                <a:reflection blurRad="12700" stA="50000" endPos="50000" dist="5000" dir="5400000" sy="-100000" rotWithShape="0"/>
              </a:effectLst>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3244" y="810606"/>
            <a:ext cx="7387413" cy="4273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11"/>
          </p:nvPr>
        </p:nvSpPr>
        <p:spPr/>
        <p:txBody>
          <a:bodyPr/>
          <a:lstStyle/>
          <a:p>
            <a:r>
              <a:rPr lang="en-US" smtClean="0"/>
              <a:t>Heart Disease prediction using Retinal eye </a:t>
            </a:r>
            <a:endParaRPr lang="en-IN" dirty="0"/>
          </a:p>
        </p:txBody>
      </p:sp>
      <p:sp>
        <p:nvSpPr>
          <p:cNvPr id="6" name="TextBox 5"/>
          <p:cNvSpPr txBox="1"/>
          <p:nvPr/>
        </p:nvSpPr>
        <p:spPr>
          <a:xfrm>
            <a:off x="4125686" y="5497677"/>
            <a:ext cx="6281057" cy="369332"/>
          </a:xfrm>
          <a:prstGeom prst="rect">
            <a:avLst/>
          </a:prstGeom>
          <a:noFill/>
        </p:spPr>
        <p:txBody>
          <a:bodyPr wrap="square" rtlCol="0">
            <a:spAutoFit/>
          </a:bodyPr>
          <a:lstStyle/>
          <a:p>
            <a:r>
              <a:rPr lang="en-IN" b="1" dirty="0"/>
              <a:t>Fig 7</a:t>
            </a:r>
            <a:r>
              <a:rPr lang="en-IN" b="1" dirty="0" smtClean="0"/>
              <a:t>: parameters considered </a:t>
            </a:r>
            <a:endParaRPr lang="en-IN" b="1" dirty="0"/>
          </a:p>
        </p:txBody>
      </p:sp>
    </p:spTree>
    <p:extLst>
      <p:ext uri="{BB962C8B-B14F-4D97-AF65-F5344CB8AC3E}">
        <p14:creationId xmlns:p14="http://schemas.microsoft.com/office/powerpoint/2010/main" val="217032931"/>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24</a:t>
            </a:fld>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8800" y="0"/>
            <a:ext cx="4136064" cy="2710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928" b="-2724"/>
          <a:stretch/>
        </p:blipFill>
        <p:spPr bwMode="auto">
          <a:xfrm>
            <a:off x="6364251" y="0"/>
            <a:ext cx="4379950" cy="2710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6474" y="2930284"/>
            <a:ext cx="4295552" cy="2647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
        <p:nvSpPr>
          <p:cNvPr id="8" name="TextBox 7"/>
          <p:cNvSpPr txBox="1"/>
          <p:nvPr/>
        </p:nvSpPr>
        <p:spPr>
          <a:xfrm>
            <a:off x="3004457" y="5682343"/>
            <a:ext cx="6281057" cy="369332"/>
          </a:xfrm>
          <a:prstGeom prst="rect">
            <a:avLst/>
          </a:prstGeom>
          <a:noFill/>
        </p:spPr>
        <p:txBody>
          <a:bodyPr wrap="square" rtlCol="0">
            <a:spAutoFit/>
          </a:bodyPr>
          <a:lstStyle/>
          <a:p>
            <a:r>
              <a:rPr lang="en-IN" b="1" dirty="0"/>
              <a:t>Fig 8</a:t>
            </a:r>
            <a:r>
              <a:rPr lang="en-IN" b="1" dirty="0" smtClean="0"/>
              <a:t>:  Accuracy curve, Loss curve, ROC curve.</a:t>
            </a:r>
            <a:endParaRPr lang="en-IN" b="1" dirty="0"/>
          </a:p>
        </p:txBody>
      </p:sp>
    </p:spTree>
    <p:extLst>
      <p:ext uri="{BB962C8B-B14F-4D97-AF65-F5344CB8AC3E}">
        <p14:creationId xmlns:p14="http://schemas.microsoft.com/office/powerpoint/2010/main" val="1520475818"/>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25</a:t>
            </a:fld>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13" y="29053"/>
            <a:ext cx="6852573" cy="521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2416" y="122410"/>
            <a:ext cx="4600353" cy="4036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
        <p:nvSpPr>
          <p:cNvPr id="6" name="TextBox 5"/>
          <p:cNvSpPr txBox="1"/>
          <p:nvPr/>
        </p:nvSpPr>
        <p:spPr>
          <a:xfrm>
            <a:off x="3004457" y="5682343"/>
            <a:ext cx="6281057" cy="369332"/>
          </a:xfrm>
          <a:prstGeom prst="rect">
            <a:avLst/>
          </a:prstGeom>
          <a:noFill/>
        </p:spPr>
        <p:txBody>
          <a:bodyPr wrap="square" rtlCol="0">
            <a:spAutoFit/>
          </a:bodyPr>
          <a:lstStyle/>
          <a:p>
            <a:r>
              <a:rPr lang="en-IN" b="1" dirty="0"/>
              <a:t>Fig 9</a:t>
            </a:r>
            <a:r>
              <a:rPr lang="en-IN" b="1" dirty="0" smtClean="0"/>
              <a:t>: Confusion graph with corresponding values .</a:t>
            </a:r>
            <a:endParaRPr lang="en-IN" b="1" dirty="0"/>
          </a:p>
        </p:txBody>
      </p:sp>
    </p:spTree>
    <p:extLst>
      <p:ext uri="{BB962C8B-B14F-4D97-AF65-F5344CB8AC3E}">
        <p14:creationId xmlns:p14="http://schemas.microsoft.com/office/powerpoint/2010/main" val="3850178379"/>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26</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995" y="103225"/>
            <a:ext cx="6821710" cy="32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65" t="26993" r="-265"/>
          <a:stretch/>
        </p:blipFill>
        <p:spPr bwMode="auto">
          <a:xfrm>
            <a:off x="7667699" y="446568"/>
            <a:ext cx="4375445" cy="4465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7600" y="3523854"/>
            <a:ext cx="4664333"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
        <p:nvSpPr>
          <p:cNvPr id="8" name="TextBox 7"/>
          <p:cNvSpPr txBox="1"/>
          <p:nvPr/>
        </p:nvSpPr>
        <p:spPr>
          <a:xfrm>
            <a:off x="3004457" y="5920655"/>
            <a:ext cx="6281057" cy="369332"/>
          </a:xfrm>
          <a:prstGeom prst="rect">
            <a:avLst/>
          </a:prstGeom>
          <a:noFill/>
        </p:spPr>
        <p:txBody>
          <a:bodyPr wrap="square" rtlCol="0">
            <a:spAutoFit/>
          </a:bodyPr>
          <a:lstStyle/>
          <a:p>
            <a:r>
              <a:rPr lang="en-IN" b="1" dirty="0"/>
              <a:t>Fig </a:t>
            </a:r>
            <a:r>
              <a:rPr lang="en-IN" b="1" dirty="0" smtClean="0"/>
              <a:t>10: Segmentation of image.</a:t>
            </a:r>
            <a:endParaRPr lang="en-IN" b="1" dirty="0"/>
          </a:p>
        </p:txBody>
      </p:sp>
    </p:spTree>
    <p:extLst>
      <p:ext uri="{BB962C8B-B14F-4D97-AF65-F5344CB8AC3E}">
        <p14:creationId xmlns:p14="http://schemas.microsoft.com/office/powerpoint/2010/main" val="1403709678"/>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27</a:t>
            </a:fld>
            <a:endParaRPr lang="en-IN"/>
          </a:p>
        </p:txBody>
      </p:sp>
      <p:sp>
        <p:nvSpPr>
          <p:cNvPr id="4" name="Rectangle 3"/>
          <p:cNvSpPr/>
          <p:nvPr/>
        </p:nvSpPr>
        <p:spPr>
          <a:xfrm>
            <a:off x="2407686" y="416074"/>
            <a:ext cx="2641877" cy="584775"/>
          </a:xfrm>
          <a:prstGeom prst="rect">
            <a:avLst/>
          </a:prstGeom>
        </p:spPr>
        <p:txBody>
          <a:bodyPr wrap="none">
            <a:spAutoFit/>
          </a:bodyPr>
          <a:lstStyle/>
          <a:p>
            <a:r>
              <a:rPr lang="en-US" sz="3200" b="1" cap="all" dirty="0" smtClean="0">
                <a:ln w="0"/>
                <a:solidFill>
                  <a:srgbClr val="FF0000"/>
                </a:solidFill>
                <a:effectLst>
                  <a:reflection blurRad="12700" stA="50000" endPos="50000" dist="5000" dir="5400000" sy="-100000" rotWithShape="0"/>
                </a:effectLst>
              </a:rPr>
              <a:t>CONCLUSIONS</a:t>
            </a:r>
            <a:endParaRPr lang="en-IN" sz="3200" dirty="0"/>
          </a:p>
        </p:txBody>
      </p:sp>
      <p:sp>
        <p:nvSpPr>
          <p:cNvPr id="5" name="Rectangle 4"/>
          <p:cNvSpPr/>
          <p:nvPr/>
        </p:nvSpPr>
        <p:spPr>
          <a:xfrm>
            <a:off x="1818167" y="1373005"/>
            <a:ext cx="9165265" cy="3170099"/>
          </a:xfrm>
          <a:prstGeom prst="rect">
            <a:avLst/>
          </a:prstGeom>
        </p:spPr>
        <p:txBody>
          <a:bodyPr wrap="square">
            <a:spAutoFit/>
          </a:bodyPr>
          <a:lstStyle/>
          <a:p>
            <a:pPr algn="just"/>
            <a:r>
              <a:rPr lang="en-US" sz="2000" dirty="0" smtClean="0"/>
              <a:t>The </a:t>
            </a:r>
            <a:r>
              <a:rPr lang="en-US" sz="2000" dirty="0"/>
              <a:t>results indicated that retinal images can be a valuable source of information for this purpose, </a:t>
            </a:r>
            <a:r>
              <a:rPr lang="en-US" sz="2000" b="1" dirty="0"/>
              <a:t>showing promising correlations </a:t>
            </a:r>
            <a:r>
              <a:rPr lang="en-US" sz="2000" dirty="0"/>
              <a:t>between certain retinal features and indicators of heart disease. </a:t>
            </a:r>
            <a:endParaRPr lang="en-US" sz="2000" dirty="0" smtClean="0"/>
          </a:p>
          <a:p>
            <a:pPr algn="just"/>
            <a:endParaRPr lang="en-US" sz="2000" dirty="0" smtClean="0"/>
          </a:p>
          <a:p>
            <a:pPr algn="just"/>
            <a:r>
              <a:rPr lang="en-US" sz="2000" dirty="0" smtClean="0"/>
              <a:t>Although </a:t>
            </a:r>
            <a:r>
              <a:rPr lang="en-US" sz="2000" b="1" dirty="0"/>
              <a:t>the absence of clinical data limits the scope</a:t>
            </a:r>
            <a:r>
              <a:rPr lang="en-US" sz="2000" dirty="0"/>
              <a:t>, the analysis demonstrated that specific patterns and abnormalities in retinal images could serve as useful predictors. </a:t>
            </a:r>
            <a:endParaRPr lang="en-US" sz="2000" dirty="0" smtClean="0"/>
          </a:p>
          <a:p>
            <a:pPr algn="just"/>
            <a:endParaRPr lang="en-US" sz="2000" dirty="0"/>
          </a:p>
          <a:p>
            <a:pPr algn="just"/>
            <a:r>
              <a:rPr lang="en-US" sz="2000" dirty="0" smtClean="0"/>
              <a:t>This </a:t>
            </a:r>
            <a:r>
              <a:rPr lang="en-US" sz="2000" dirty="0"/>
              <a:t>approach offers a non-invasive and accessible method for identifying individuals at risk of heart disease, providing an innovative complement to traditional diagnostic methods</a:t>
            </a:r>
            <a:r>
              <a:rPr lang="en-US" sz="2000" dirty="0" smtClean="0"/>
              <a:t>.</a:t>
            </a:r>
            <a:endParaRPr lang="en-US" sz="2000" dirty="0"/>
          </a:p>
        </p:txBody>
      </p:sp>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155534961"/>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799077-8CCC-4A39-946F-ABA531E9E40C}" type="slidenum">
              <a:rPr lang="en-IN" smtClean="0"/>
              <a:t>28</a:t>
            </a:fld>
            <a:endParaRPr lang="en-IN"/>
          </a:p>
        </p:txBody>
      </p:sp>
      <p:sp>
        <p:nvSpPr>
          <p:cNvPr id="4" name="TextBox 3"/>
          <p:cNvSpPr txBox="1"/>
          <p:nvPr/>
        </p:nvSpPr>
        <p:spPr>
          <a:xfrm>
            <a:off x="1637414" y="1148316"/>
            <a:ext cx="10292316" cy="3139321"/>
          </a:xfrm>
          <a:prstGeom prst="rect">
            <a:avLst/>
          </a:prstGeom>
          <a:noFill/>
        </p:spPr>
        <p:txBody>
          <a:bodyPr wrap="square" rtlCol="0">
            <a:spAutoFit/>
          </a:bodyPr>
          <a:lstStyle/>
          <a:p>
            <a:pPr lvl="0" algn="just" fontAlgn="base">
              <a:spcBef>
                <a:spcPct val="0"/>
              </a:spcBef>
              <a:spcAft>
                <a:spcPct val="0"/>
              </a:spcAft>
              <a:buFontTx/>
              <a:buChar char="•"/>
            </a:pPr>
            <a:endParaRPr lang="en-US" b="1" dirty="0" smtClean="0">
              <a:latin typeface="Arial" pitchFamily="34" charset="0"/>
              <a:cs typeface="Arial" pitchFamily="34" charset="0"/>
            </a:endParaRPr>
          </a:p>
          <a:p>
            <a:pPr lvl="0" algn="just" fontAlgn="base">
              <a:spcBef>
                <a:spcPct val="0"/>
              </a:spcBef>
              <a:spcAft>
                <a:spcPct val="0"/>
              </a:spcAft>
              <a:buFontTx/>
              <a:buChar char="•"/>
            </a:pPr>
            <a:endParaRPr lang="en-US" b="1" dirty="0">
              <a:latin typeface="Arial" pitchFamily="34" charset="0"/>
              <a:cs typeface="Arial" pitchFamily="34" charset="0"/>
            </a:endParaRPr>
          </a:p>
          <a:p>
            <a:pPr lvl="0" algn="just" fontAlgn="base">
              <a:spcBef>
                <a:spcPct val="0"/>
              </a:spcBef>
              <a:spcAft>
                <a:spcPct val="0"/>
              </a:spcAft>
              <a:buFontTx/>
              <a:buChar char="•"/>
            </a:pPr>
            <a:r>
              <a:rPr lang="en-US" b="1" dirty="0" smtClean="0">
                <a:latin typeface="Arial" pitchFamily="34" charset="0"/>
                <a:cs typeface="Arial" pitchFamily="34" charset="0"/>
              </a:rPr>
              <a:t>Expand </a:t>
            </a:r>
            <a:r>
              <a:rPr lang="en-US" b="1" dirty="0">
                <a:latin typeface="Arial" pitchFamily="34" charset="0"/>
                <a:cs typeface="Arial" pitchFamily="34" charset="0"/>
              </a:rPr>
              <a:t>Dataset:</a:t>
            </a:r>
            <a:r>
              <a:rPr lang="en-US" dirty="0">
                <a:latin typeface="Arial" pitchFamily="34" charset="0"/>
                <a:cs typeface="Arial" pitchFamily="34" charset="0"/>
              </a:rPr>
              <a:t> Increase the number and diversity of retinal images to improve model </a:t>
            </a:r>
            <a:r>
              <a:rPr lang="en-US" dirty="0" smtClean="0">
                <a:latin typeface="Arial" pitchFamily="34" charset="0"/>
                <a:cs typeface="Arial" pitchFamily="34" charset="0"/>
              </a:rPr>
              <a:t>accuracy and </a:t>
            </a:r>
            <a:r>
              <a:rPr lang="en-US" dirty="0">
                <a:latin typeface="Arial" pitchFamily="34" charset="0"/>
                <a:cs typeface="Arial" pitchFamily="34" charset="0"/>
              </a:rPr>
              <a:t>generalizability</a:t>
            </a:r>
            <a:r>
              <a:rPr lang="en-US" dirty="0" smtClean="0">
                <a:latin typeface="Arial" pitchFamily="34" charset="0"/>
                <a:cs typeface="Arial" pitchFamily="34" charset="0"/>
              </a:rPr>
              <a:t>.</a:t>
            </a:r>
          </a:p>
          <a:p>
            <a:pPr lvl="0" algn="just" fontAlgn="base">
              <a:spcBef>
                <a:spcPct val="0"/>
              </a:spcBef>
              <a:spcAft>
                <a:spcPct val="0"/>
              </a:spcAft>
            </a:pPr>
            <a:endParaRPr lang="en-US" dirty="0">
              <a:latin typeface="Arial" pitchFamily="34" charset="0"/>
              <a:cs typeface="Arial" pitchFamily="34" charset="0"/>
            </a:endParaRPr>
          </a:p>
          <a:p>
            <a:pPr lvl="0" algn="just" eaLnBrk="0" fontAlgn="base" hangingPunct="0">
              <a:spcBef>
                <a:spcPct val="0"/>
              </a:spcBef>
              <a:spcAft>
                <a:spcPct val="0"/>
              </a:spcAft>
              <a:buFontTx/>
              <a:buChar char="•"/>
            </a:pPr>
            <a:r>
              <a:rPr lang="en-US" b="1" dirty="0">
                <a:latin typeface="Arial" pitchFamily="34" charset="0"/>
                <a:cs typeface="Arial" pitchFamily="34" charset="0"/>
              </a:rPr>
              <a:t>Advanced Algorithms:</a:t>
            </a:r>
            <a:r>
              <a:rPr lang="en-US" dirty="0">
                <a:latin typeface="Arial" pitchFamily="34" charset="0"/>
                <a:cs typeface="Arial" pitchFamily="34" charset="0"/>
              </a:rPr>
              <a:t> Experiment with cutting-edge image processing and machine learning techniques to enhance predictive capabilities.</a:t>
            </a:r>
          </a:p>
          <a:p>
            <a:pPr lvl="0" algn="just" eaLnBrk="0" fontAlgn="base" hangingPunct="0">
              <a:spcBef>
                <a:spcPct val="0"/>
              </a:spcBef>
              <a:spcAft>
                <a:spcPct val="0"/>
              </a:spcAft>
            </a:pPr>
            <a:endParaRPr lang="en-US" dirty="0">
              <a:latin typeface="Arial" pitchFamily="34" charset="0"/>
              <a:cs typeface="Arial" pitchFamily="34" charset="0"/>
            </a:endParaRPr>
          </a:p>
          <a:p>
            <a:pPr lvl="0" algn="just" eaLnBrk="0" fontAlgn="base" hangingPunct="0">
              <a:spcBef>
                <a:spcPct val="0"/>
              </a:spcBef>
              <a:spcAft>
                <a:spcPct val="0"/>
              </a:spcAft>
              <a:buFontTx/>
              <a:buChar char="•"/>
            </a:pPr>
            <a:r>
              <a:rPr lang="en-US" b="1" dirty="0">
                <a:latin typeface="Arial" pitchFamily="34" charset="0"/>
                <a:cs typeface="Arial" pitchFamily="34" charset="0"/>
              </a:rPr>
              <a:t>User Feedback:</a:t>
            </a:r>
            <a:r>
              <a:rPr lang="en-US" dirty="0">
                <a:latin typeface="Arial" pitchFamily="34" charset="0"/>
                <a:cs typeface="Arial" pitchFamily="34" charset="0"/>
              </a:rPr>
              <a:t> Collect and incorporate feedback from healthcare professionals and users to refine the model and ensure practical relevance.</a:t>
            </a:r>
          </a:p>
          <a:p>
            <a:endParaRPr lang="en-IN" dirty="0"/>
          </a:p>
        </p:txBody>
      </p:sp>
      <p:sp>
        <p:nvSpPr>
          <p:cNvPr id="5" name="Rectangle 4"/>
          <p:cNvSpPr/>
          <p:nvPr/>
        </p:nvSpPr>
        <p:spPr>
          <a:xfrm>
            <a:off x="4247788" y="384437"/>
            <a:ext cx="5725350" cy="707886"/>
          </a:xfrm>
          <a:prstGeom prst="rect">
            <a:avLst/>
          </a:prstGeom>
        </p:spPr>
        <p:txBody>
          <a:bodyPr wrap="none">
            <a:spAutoFit/>
          </a:bodyPr>
          <a:lstStyle/>
          <a:p>
            <a:r>
              <a:rPr lang="en-US" sz="4000" b="1" cap="all" dirty="0" smtClean="0">
                <a:ln w="0"/>
                <a:solidFill>
                  <a:srgbClr val="FF0000"/>
                </a:solidFill>
                <a:effectLst>
                  <a:reflection blurRad="12700" stA="50000" endPos="50000" dist="5000" dir="5400000" sy="-100000" rotWithShape="0"/>
                </a:effectLst>
              </a:rPr>
              <a:t> </a:t>
            </a:r>
            <a:r>
              <a:rPr lang="en-US" sz="4000" b="1" cap="all" dirty="0">
                <a:ln w="0"/>
                <a:solidFill>
                  <a:srgbClr val="FF0000"/>
                </a:solidFill>
                <a:effectLst>
                  <a:reflection blurRad="12700" stA="50000" endPos="50000" dist="5000" dir="5400000" sy="-100000" rotWithShape="0"/>
                </a:effectLst>
              </a:rPr>
              <a:t>FUTURE ENHANCEMENTS</a:t>
            </a:r>
            <a:endParaRPr lang="en-IN" sz="4000" dirty="0"/>
          </a:p>
        </p:txBody>
      </p:sp>
      <p:sp>
        <p:nvSpPr>
          <p:cNvPr id="3" name="Footer Placeholder 2"/>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224033647"/>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3117" y="340242"/>
            <a:ext cx="3083442" cy="861774"/>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3200" b="1" cap="all" dirty="0" smtClean="0">
                <a:ln w="0"/>
                <a:solidFill>
                  <a:srgbClr val="FF0000"/>
                </a:solidFill>
                <a:effectLst>
                  <a:reflection blurRad="12700" stA="50000" endPos="50000" dist="5000" dir="5400000" sy="-100000" rotWithShape="0"/>
                </a:effectLst>
              </a:rPr>
              <a:t>REFERENCES</a:t>
            </a:r>
            <a:endParaRPr lang="en-IN" sz="3200" b="1" cap="all" dirty="0">
              <a:ln w="0"/>
              <a:solidFill>
                <a:srgbClr val="FF0000"/>
              </a:solidFill>
              <a:effectLst>
                <a:reflection blurRad="12700" stA="50000" endPos="50000" dist="5000" dir="5400000" sy="-100000" rotWithShape="0"/>
              </a:effectLst>
            </a:endParaRPr>
          </a:p>
          <a:p>
            <a:endParaRPr lang="en-IN"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5" name="Rectangle 4"/>
          <p:cNvSpPr/>
          <p:nvPr/>
        </p:nvSpPr>
        <p:spPr>
          <a:xfrm>
            <a:off x="2002465" y="1500042"/>
            <a:ext cx="8711609" cy="369332"/>
          </a:xfrm>
          <a:prstGeom prst="rect">
            <a:avLst/>
          </a:prstGeom>
        </p:spPr>
        <p:txBody>
          <a:bodyPr wrap="square">
            <a:spAutoFit/>
          </a:bodyPr>
          <a:lstStyle/>
          <a:p>
            <a:r>
              <a:rPr lang="en-IN" dirty="0"/>
              <a:t>	</a:t>
            </a:r>
          </a:p>
        </p:txBody>
      </p:sp>
      <p:sp>
        <p:nvSpPr>
          <p:cNvPr id="6" name="TextBox 5"/>
          <p:cNvSpPr txBox="1"/>
          <p:nvPr/>
        </p:nvSpPr>
        <p:spPr>
          <a:xfrm>
            <a:off x="2445488" y="1500042"/>
            <a:ext cx="9462977" cy="5016758"/>
          </a:xfrm>
          <a:prstGeom prst="rect">
            <a:avLst/>
          </a:prstGeom>
          <a:noFill/>
        </p:spPr>
        <p:txBody>
          <a:bodyPr wrap="square" rtlCol="0">
            <a:spAutoFit/>
          </a:bodyPr>
          <a:lstStyle/>
          <a:p>
            <a:r>
              <a:rPr lang="en-IN" sz="2000" dirty="0" smtClean="0"/>
              <a:t>[1] </a:t>
            </a:r>
            <a:r>
              <a:rPr lang="en-US" sz="2000" dirty="0" smtClean="0"/>
              <a:t>P</a:t>
            </a:r>
            <a:r>
              <a:rPr lang="en-US" sz="2000" dirty="0"/>
              <a:t>. </a:t>
            </a:r>
            <a:r>
              <a:rPr lang="en-US" sz="2000" dirty="0" err="1"/>
              <a:t>Melillo</a:t>
            </a:r>
            <a:r>
              <a:rPr lang="en-US" sz="2000" dirty="0"/>
              <a:t>, M. </a:t>
            </a:r>
            <a:r>
              <a:rPr lang="en-US" sz="2000" dirty="0" err="1"/>
              <a:t>Bracale</a:t>
            </a:r>
            <a:r>
              <a:rPr lang="en-US" sz="2000" dirty="0"/>
              <a:t>, and L. </a:t>
            </a:r>
            <a:r>
              <a:rPr lang="en-US" sz="2000" dirty="0" err="1"/>
              <a:t>Pecchia</a:t>
            </a:r>
            <a:r>
              <a:rPr lang="en-US" sz="2000" dirty="0"/>
              <a:t>, “For risk assessment in patients a classification tree with congestive heart failure via long-term heart rate variability,” IEEE Journal of Biomedical and Health Informatics, vol. 17, no. 3, pp. 727–733, </a:t>
            </a:r>
            <a:r>
              <a:rPr lang="en-US" sz="2000" dirty="0" smtClean="0"/>
              <a:t>2022.</a:t>
            </a:r>
          </a:p>
          <a:p>
            <a:r>
              <a:rPr lang="en-US" sz="2000" dirty="0" smtClean="0"/>
              <a:t> </a:t>
            </a:r>
            <a:endParaRPr lang="en-US" sz="2000" dirty="0"/>
          </a:p>
          <a:p>
            <a:pPr algn="just"/>
            <a:r>
              <a:rPr lang="en-IN" sz="2000" dirty="0" smtClean="0"/>
              <a:t>[2] </a:t>
            </a:r>
            <a:r>
              <a:rPr lang="en-IN" sz="2000" dirty="0" err="1" smtClean="0"/>
              <a:t>Shurouq</a:t>
            </a:r>
            <a:r>
              <a:rPr lang="en-IN" sz="2000" dirty="0" smtClean="0"/>
              <a:t> </a:t>
            </a:r>
            <a:r>
              <a:rPr lang="en-IN" sz="2000" dirty="0" err="1"/>
              <a:t>Hijazi</a:t>
            </a:r>
            <a:r>
              <a:rPr lang="en-IN" sz="2000" dirty="0"/>
              <a:t>, Alex Page, </a:t>
            </a:r>
            <a:r>
              <a:rPr lang="en-IN" sz="2000" dirty="0" err="1"/>
              <a:t>Burak</a:t>
            </a:r>
            <a:r>
              <a:rPr lang="en-IN" sz="2000" dirty="0"/>
              <a:t> </a:t>
            </a:r>
            <a:r>
              <a:rPr lang="en-IN" sz="2000" dirty="0" err="1"/>
              <a:t>Kantarci</a:t>
            </a:r>
            <a:r>
              <a:rPr lang="en-IN" sz="2000" dirty="0"/>
              <a:t>, </a:t>
            </a:r>
            <a:r>
              <a:rPr lang="en-IN" sz="2000" dirty="0" err="1"/>
              <a:t>Tolga</a:t>
            </a:r>
            <a:r>
              <a:rPr lang="en-IN" sz="2000" dirty="0"/>
              <a:t> </a:t>
            </a:r>
            <a:r>
              <a:rPr lang="en-IN" sz="2000" dirty="0" err="1"/>
              <a:t>Soyata</a:t>
            </a:r>
            <a:r>
              <a:rPr lang="en-IN" sz="2000" dirty="0"/>
              <a:t>, ‘Machine Learning in Cardiac Health Monitoring and Decision Support’ Computer , vol. 49, Issue. 11 </a:t>
            </a:r>
          </a:p>
          <a:p>
            <a:pPr algn="just"/>
            <a:endParaRPr lang="en-IN" sz="2000" dirty="0" smtClean="0"/>
          </a:p>
          <a:p>
            <a:pPr algn="just"/>
            <a:r>
              <a:rPr lang="en-IN" sz="2000" dirty="0" smtClean="0"/>
              <a:t>[3] </a:t>
            </a:r>
            <a:r>
              <a:rPr lang="en-IN" sz="2000" dirty="0" err="1" smtClean="0"/>
              <a:t>Zhi</a:t>
            </a:r>
            <a:r>
              <a:rPr lang="en-IN" sz="2000" dirty="0"/>
              <a:t>, ‘‘Deep learning and its applications in biomedicine,’’ Genomics Proteomics </a:t>
            </a:r>
            <a:r>
              <a:rPr lang="en-IN" sz="2000" dirty="0" err="1"/>
              <a:t>Bioinf</a:t>
            </a:r>
            <a:r>
              <a:rPr lang="en-IN" sz="2000" dirty="0"/>
              <a:t>., vol. </a:t>
            </a:r>
            <a:r>
              <a:rPr lang="en-IN" sz="2000" dirty="0" smtClean="0"/>
              <a:t>16, </a:t>
            </a:r>
            <a:r>
              <a:rPr lang="en-IN" sz="2000" dirty="0"/>
              <a:t>Issue. </a:t>
            </a:r>
            <a:r>
              <a:rPr lang="en-IN" sz="2000" dirty="0" smtClean="0"/>
              <a:t>23</a:t>
            </a:r>
            <a:endParaRPr lang="en-IN" sz="2000" dirty="0"/>
          </a:p>
          <a:p>
            <a:pPr lvl="0" algn="just"/>
            <a:endParaRPr lang="en-IN" sz="2000" dirty="0" smtClean="0"/>
          </a:p>
          <a:p>
            <a:pPr algn="just"/>
            <a:r>
              <a:rPr lang="en-IN" sz="2000" dirty="0" smtClean="0"/>
              <a:t>[4] </a:t>
            </a:r>
            <a:r>
              <a:rPr lang="en-US" altLang="en-US" sz="2000" dirty="0">
                <a:latin typeface="Times New Roman" pitchFamily="18" charset="0"/>
                <a:hlinkClick r:id="rId2"/>
              </a:rPr>
              <a:t>https://</a:t>
            </a:r>
            <a:r>
              <a:rPr lang="en-US" altLang="en-US" sz="2000" dirty="0" smtClean="0">
                <a:latin typeface="Times New Roman" pitchFamily="18" charset="0"/>
                <a:hlinkClick r:id="rId2"/>
              </a:rPr>
              <a:t>becominghuman.ai/making-a-simple-neural-network-2ea1de81ec20</a:t>
            </a:r>
            <a:endParaRPr lang="en-US" altLang="en-US" sz="2000" dirty="0" smtClean="0">
              <a:latin typeface="Times New Roman" pitchFamily="18" charset="0"/>
            </a:endParaRPr>
          </a:p>
          <a:p>
            <a:pPr algn="just"/>
            <a:endParaRPr lang="en-US" altLang="en-US" sz="2000" dirty="0">
              <a:latin typeface="Times New Roman" pitchFamily="18" charset="0"/>
            </a:endParaRPr>
          </a:p>
          <a:p>
            <a:pPr algn="just"/>
            <a:r>
              <a:rPr lang="en-US" sz="2000" dirty="0" smtClean="0"/>
              <a:t>[5] Heart </a:t>
            </a:r>
            <a:r>
              <a:rPr lang="en-US" sz="2000" dirty="0"/>
              <a:t>Disease Prediction Using Eye Retinal </a:t>
            </a:r>
            <a:r>
              <a:rPr lang="en-US" sz="2000" dirty="0" smtClean="0"/>
              <a:t>Images., </a:t>
            </a:r>
            <a:r>
              <a:rPr lang="en-US" sz="2000" dirty="0"/>
              <a:t>6th International Conference on Advances in Science and Technology (ICAST) </a:t>
            </a:r>
            <a:r>
              <a:rPr lang="en-US" sz="2000" dirty="0" smtClean="0"/>
              <a:t>©2023, </a:t>
            </a:r>
            <a:r>
              <a:rPr lang="en-US" sz="2000" dirty="0"/>
              <a:t>IEEE 417 </a:t>
            </a:r>
            <a:endParaRPr lang="en-US" altLang="en-US" sz="2000" dirty="0">
              <a:latin typeface="Times New Roman" pitchFamily="18" charset="0"/>
            </a:endParaRPr>
          </a:p>
          <a:p>
            <a:pPr lvl="0" algn="just"/>
            <a:endParaRPr lang="en-IN" sz="2000" dirty="0"/>
          </a:p>
          <a:p>
            <a:pPr algn="just"/>
            <a:r>
              <a:rPr lang="en-IN" sz="2000" dirty="0" smtClean="0"/>
              <a:t> </a:t>
            </a:r>
            <a:endParaRPr lang="en-IN" sz="2000" dirty="0"/>
          </a:p>
        </p:txBody>
      </p:sp>
      <p:sp>
        <p:nvSpPr>
          <p:cNvPr id="3" name="Slide Number Placeholder 2"/>
          <p:cNvSpPr>
            <a:spLocks noGrp="1"/>
          </p:cNvSpPr>
          <p:nvPr>
            <p:ph type="sldNum" sz="quarter" idx="12"/>
          </p:nvPr>
        </p:nvSpPr>
        <p:spPr/>
        <p:txBody>
          <a:bodyPr/>
          <a:lstStyle/>
          <a:p>
            <a:fld id="{EE799077-8CCC-4A39-946F-ABA531E9E40C}" type="slidenum">
              <a:rPr lang="en-IN" smtClean="0"/>
              <a:t>29</a:t>
            </a:fld>
            <a:endParaRPr lang="en-IN"/>
          </a:p>
        </p:txBody>
      </p:sp>
      <p:sp>
        <p:nvSpPr>
          <p:cNvPr id="4" name="Footer Placeholder 3"/>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470970748"/>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E799077-8CCC-4A39-946F-ABA531E9E40C}" type="slidenum">
              <a:rPr lang="en-IN" smtClean="0"/>
              <a:t>30</a:t>
            </a:fld>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432" y="604017"/>
            <a:ext cx="9962397" cy="41409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2816" y="2001793"/>
            <a:ext cx="3087487" cy="939113"/>
          </a:xfrm>
          <a:prstGeom prst="rect">
            <a:avLst/>
          </a:prstGeom>
          <a:ln>
            <a:noFill/>
          </a:ln>
          <a:effectLst>
            <a:softEdge rad="112500"/>
          </a:effectLst>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896" y="3034201"/>
            <a:ext cx="5711176" cy="3029034"/>
          </a:xfrm>
          <a:prstGeom prst="rect">
            <a:avLst/>
          </a:prstGeom>
          <a:ln>
            <a:noFill/>
          </a:ln>
          <a:effectLst>
            <a:outerShdw blurRad="292100" dist="139700" dir="2700000" algn="tl" rotWithShape="0">
              <a:srgbClr val="333333">
                <a:alpha val="65000"/>
              </a:srgbClr>
            </a:outerShdw>
          </a:effectLst>
        </p:spPr>
      </p:pic>
      <p:sp>
        <p:nvSpPr>
          <p:cNvPr id="6" name="Footer Placeholder 5"/>
          <p:cNvSpPr>
            <a:spLocks noGrp="1"/>
          </p:cNvSpPr>
          <p:nvPr>
            <p:ph type="ftr" sz="quarter" idx="11"/>
          </p:nvPr>
        </p:nvSpPr>
        <p:spPr/>
        <p:txBody>
          <a:bodyPr/>
          <a:lstStyle/>
          <a:p>
            <a:r>
              <a:rPr lang="en-US" smtClean="0"/>
              <a:t>Heart Disease prediction using Retinal eye </a:t>
            </a:r>
            <a:endParaRPr lang="en-IN" dirty="0"/>
          </a:p>
        </p:txBody>
      </p:sp>
    </p:spTree>
    <p:extLst>
      <p:ext uri="{BB962C8B-B14F-4D97-AF65-F5344CB8AC3E}">
        <p14:creationId xmlns:p14="http://schemas.microsoft.com/office/powerpoint/2010/main" val="2410694759"/>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1092</TotalTime>
  <Words>1474</Words>
  <Application>Microsoft Office PowerPoint</Application>
  <PresentationFormat>Custom</PresentationFormat>
  <Paragraphs>232</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84</cp:revision>
  <dcterms:created xsi:type="dcterms:W3CDTF">2024-07-06T17:35:03Z</dcterms:created>
  <dcterms:modified xsi:type="dcterms:W3CDTF">2024-07-23T06:11:51Z</dcterms:modified>
</cp:coreProperties>
</file>