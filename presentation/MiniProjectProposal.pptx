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70" r:id="rId12"/>
    <p:sldId id="271" r:id="rId13"/>
    <p:sldId id="272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053" autoAdjust="0"/>
    <p:restoredTop sz="94660"/>
  </p:normalViewPr>
  <p:slideViewPr>
    <p:cSldViewPr snapToGrid="0">
      <p:cViewPr varScale="1">
        <p:scale>
          <a:sx n="73" d="100"/>
          <a:sy n="73" d="100"/>
        </p:scale>
        <p:origin x="-432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63896-035A-4959-BB4A-D5013871998A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E0A4C-BFC1-45A7-8EC9-ABA5A020D6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6778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4E0A4C-BFC1-45A7-8EC9-ABA5A020D68F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3465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4E0A4C-BFC1-45A7-8EC9-ABA5A020D68F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350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87421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9927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0978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51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14558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0046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69545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89548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9649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299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03615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851004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08824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25631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76003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3559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9762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1983AE-FC61-4846-B420-1476588C0FFE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DB8D8B-2A76-44F9-B8EC-04F41071F1A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7957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weather.csv" TargetMode="External"/><Relationship Id="rId2" Type="http://schemas.openxmlformats.org/officeDocument/2006/relationships/hyperlink" Target="dataset.csv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7654617D-EBC7-D584-FF7A-2080DA2CA97F}"/>
              </a:ext>
            </a:extLst>
          </p:cNvPr>
          <p:cNvGrpSpPr/>
          <p:nvPr/>
        </p:nvGrpSpPr>
        <p:grpSpPr>
          <a:xfrm>
            <a:off x="59266" y="112653"/>
            <a:ext cx="12132734" cy="1264828"/>
            <a:chOff x="-972675" y="926924"/>
            <a:chExt cx="11061359" cy="1264828"/>
          </a:xfrm>
        </p:grpSpPr>
        <p:pic>
          <p:nvPicPr>
            <p:cNvPr id="11" name="Picture 10" descr="Vtu Logo Png Transparent Images Free – Free PNG Images Vector, PSD,  Clipart, Templates">
              <a:extLst>
                <a:ext uri="{FF2B5EF4-FFF2-40B4-BE49-F238E27FC236}">
                  <a16:creationId xmlns:a16="http://schemas.microsoft.com/office/drawing/2014/main" xmlns="" id="{43D29C65-6850-CF74-6342-D3178E01EC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 xmlns="">
                    <a14:imgLayer r:embed="rId4">
                      <a14:imgEffect>
                        <a14:backgroundRemoval t="13018" b="87870" l="29667" r="71333">
                          <a14:foregroundMark x1="62500" y1="21302" x2="62500" y2="21302"/>
                          <a14:foregroundMark x1="62833" y1="23964" x2="62833" y2="23964"/>
                          <a14:foregroundMark x1="53833" y1="15385" x2="53833" y2="15385"/>
                          <a14:foregroundMark x1="66167" y1="42899" x2="66167" y2="42899"/>
                          <a14:foregroundMark x1="68833" y1="49112" x2="68833" y2="49112"/>
                          <a14:foregroundMark x1="68833" y1="49112" x2="68833" y2="49112"/>
                          <a14:foregroundMark x1="69000" y1="67160" x2="69000" y2="67160"/>
                          <a14:foregroundMark x1="69000" y1="67160" x2="69000" y2="67160"/>
                          <a14:foregroundMark x1="69000" y1="66568" x2="69000" y2="66568"/>
                          <a14:foregroundMark x1="69000" y1="66568" x2="69000" y2="66568"/>
                          <a14:foregroundMark x1="68500" y1="60651" x2="68500" y2="60651"/>
                          <a14:foregroundMark x1="68500" y1="60651" x2="68500" y2="60651"/>
                          <a14:foregroundMark x1="64000" y1="28698" x2="64000" y2="28698"/>
                          <a14:foregroundMark x1="64000" y1="28698" x2="64000" y2="28698"/>
                          <a14:foregroundMark x1="56000" y1="16568" x2="56000" y2="16568"/>
                          <a14:foregroundMark x1="34167" y1="30178" x2="34167" y2="30178"/>
                          <a14:foregroundMark x1="34167" y1="30178" x2="34167" y2="30178"/>
                          <a14:foregroundMark x1="33833" y1="34024" x2="33833" y2="34024"/>
                          <a14:foregroundMark x1="41167" y1="20710" x2="41167" y2="20710"/>
                          <a14:foregroundMark x1="52833" y1="13314" x2="38000" y2="20710"/>
                          <a14:foregroundMark x1="38000" y1="20710" x2="29667" y2="52367"/>
                          <a14:foregroundMark x1="29667" y1="52367" x2="38333" y2="73669"/>
                          <a14:foregroundMark x1="38333" y1="73669" x2="53000" y2="83432"/>
                          <a14:foregroundMark x1="53000" y1="83432" x2="62833" y2="65089"/>
                          <a14:foregroundMark x1="62833" y1="65089" x2="68167" y2="47041"/>
                          <a14:foregroundMark x1="56000" y1="18639" x2="56000" y2="18639"/>
                          <a14:foregroundMark x1="55500" y1="14793" x2="52167" y2="16272"/>
                          <a14:foregroundMark x1="53833" y1="13609" x2="55333" y2="13018"/>
                          <a14:foregroundMark x1="29667" y1="57988" x2="43167" y2="85503"/>
                          <a14:foregroundMark x1="43167" y1="85503" x2="60167" y2="83432"/>
                          <a14:foregroundMark x1="60167" y1="83432" x2="68333" y2="52959"/>
                          <a14:foregroundMark x1="68333" y1="52959" x2="63167" y2="78402"/>
                          <a14:foregroundMark x1="63167" y1="78402" x2="47000" y2="83728"/>
                          <a14:foregroundMark x1="47000" y1="83728" x2="34000" y2="63905"/>
                          <a14:foregroundMark x1="34000" y1="63905" x2="38833" y2="78698"/>
                          <a14:foregroundMark x1="45500" y1="87870" x2="52667" y2="86982"/>
                          <a14:foregroundMark x1="70500" y1="40533" x2="71333" y2="59763"/>
                        </a14:backgroundRemoval>
                      </a14:imgEffect>
                    </a14:imgLayer>
                  </a14:imgProps>
                </a:ext>
              </a:extLst>
            </a:blip>
            <a:srcRect l="26278" t="7840" r="25722" b="5178"/>
            <a:stretch>
              <a:fillRect/>
            </a:stretch>
          </p:blipFill>
          <p:spPr bwMode="auto">
            <a:xfrm>
              <a:off x="46898" y="926924"/>
              <a:ext cx="1254852" cy="1218121"/>
            </a:xfrm>
            <a:prstGeom prst="rect">
              <a:avLst/>
            </a:prstGeom>
            <a:noFill/>
          </p:spPr>
        </p:pic>
        <p:pic>
          <p:nvPicPr>
            <p:cNvPr id="12" name="Picture 11" descr="MHRD SCHOLARSHIP 2020 – AIT Chikkamagaluru">
              <a:extLst>
                <a:ext uri="{FF2B5EF4-FFF2-40B4-BE49-F238E27FC236}">
                  <a16:creationId xmlns:a16="http://schemas.microsoft.com/office/drawing/2014/main" xmlns="" id="{33F4AE97-06B7-B2FC-365D-6CD64EADC0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003455" y="989788"/>
              <a:ext cx="1093648" cy="1142702"/>
            </a:xfrm>
            <a:prstGeom prst="rect">
              <a:avLst/>
            </a:prstGeom>
            <a:noFill/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1C0EE95D-3AF3-F93C-D257-0CAB3AD647FB}"/>
                </a:ext>
              </a:extLst>
            </p:cNvPr>
            <p:cNvGrpSpPr/>
            <p:nvPr/>
          </p:nvGrpSpPr>
          <p:grpSpPr>
            <a:xfrm>
              <a:off x="-972675" y="1040293"/>
              <a:ext cx="11061359" cy="1151459"/>
              <a:chOff x="-972675" y="1040293"/>
              <a:chExt cx="11061359" cy="1151459"/>
            </a:xfrm>
          </p:grpSpPr>
          <p:sp>
            <p:nvSpPr>
              <p:cNvPr id="14" name="TextBox 6">
                <a:extLst>
                  <a:ext uri="{FF2B5EF4-FFF2-40B4-BE49-F238E27FC236}">
                    <a16:creationId xmlns:a16="http://schemas.microsoft.com/office/drawing/2014/main" xmlns="" id="{171AC642-6BDC-946E-5B2D-D435811378C8}"/>
                  </a:ext>
                </a:extLst>
              </p:cNvPr>
              <p:cNvSpPr txBox="1"/>
              <p:nvPr/>
            </p:nvSpPr>
            <p:spPr>
              <a:xfrm>
                <a:off x="-972675" y="1040293"/>
                <a:ext cx="110613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||  JAI SHREE GURUDEV  ||</a:t>
                </a:r>
              </a:p>
            </p:txBody>
          </p:sp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xmlns="" id="{3A339D5B-9F95-0C70-1B60-4CC4B71C763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34335" y="1074967"/>
                <a:ext cx="7075331" cy="1116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 bIns="0" anchor="b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/>
                <a:r>
                  <a:rPr lang="en-US" sz="2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ADICHUNCHANAGIRI INSTITUTE OF TECHNOLOGY</a:t>
                </a:r>
              </a:p>
              <a:p>
                <a:pPr algn="ctr" eaLnBrk="1" hangingPunct="1"/>
                <a:r>
                  <a:rPr 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IN" sz="1000" b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Affiliated to Visvesvaraya Technological University, Belagavi ,Approved by AICTE and </a:t>
                </a:r>
                <a:r>
                  <a:rPr lang="en-US" sz="1000" b="1" dirty="0">
                    <a:latin typeface="Times New Roman" pitchFamily="18" charset="0"/>
                    <a:cs typeface="Times New Roman" pitchFamily="18" charset="0"/>
                  </a:rPr>
                  <a:t>Accredited by NAAC, </a:t>
                </a:r>
                <a:r>
                  <a:rPr lang="en-IN" sz="1000" b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New Delhi</a:t>
                </a:r>
                <a:r>
                  <a:rPr lang="en-US" sz="1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IN" sz="1000" b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)</a:t>
                </a:r>
              </a:p>
              <a:p>
                <a:pPr algn="ctr" eaLnBrk="1" hangingPunct="1"/>
                <a:r>
                  <a:rPr lang="en-US" sz="14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Chikkamagaluru-577102.</a:t>
                </a:r>
              </a:p>
              <a:p>
                <a:pPr algn="ctr" eaLnBrk="1" hangingPunct="1"/>
                <a:r>
                  <a:rPr lang="en-US" sz="1499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 OF </a:t>
                </a:r>
                <a:r>
                  <a:rPr lang="en-US" sz="1499" b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ARTIFICIAL INTELLIGENCE</a:t>
                </a:r>
                <a:r>
                  <a:rPr lang="en-US" sz="1499" b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MACHINE LEARNING </a:t>
                </a:r>
                <a:r>
                  <a:rPr lang="en-US" sz="1499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ENGINEERING</a:t>
                </a:r>
                <a:endParaRPr lang="en-US" sz="1499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TextBox 8">
            <a:extLst>
              <a:ext uri="{FF2B5EF4-FFF2-40B4-BE49-F238E27FC236}">
                <a16:creationId xmlns:a16="http://schemas.microsoft.com/office/drawing/2014/main" xmlns="" id="{09AC2E06-4D13-3CDB-1F67-81B7DA52EC68}"/>
              </a:ext>
            </a:extLst>
          </p:cNvPr>
          <p:cNvSpPr txBox="1"/>
          <p:nvPr/>
        </p:nvSpPr>
        <p:spPr>
          <a:xfrm>
            <a:off x="2903452" y="1751440"/>
            <a:ext cx="64750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PROPOSAL[BAI586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SEMINAR</a:t>
            </a: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IN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“REAL-TIME TRAFFIC PREDICTION USING BIG DATA”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xmlns="" id="{C59E8783-05A8-6F5E-588A-68BE31FD2CAB}"/>
              </a:ext>
            </a:extLst>
          </p:cNvPr>
          <p:cNvSpPr txBox="1"/>
          <p:nvPr/>
        </p:nvSpPr>
        <p:spPr>
          <a:xfrm>
            <a:off x="1177592" y="4248231"/>
            <a:ext cx="3677901" cy="1461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algn="ctr"/>
            <a:r>
              <a:rPr lang="en-US" sz="1600" b="1" dirty="0" smtClean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xyz</a:t>
            </a:r>
            <a:r>
              <a:rPr lang="en-US" sz="1600" b="1" dirty="0" smtClean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., </a:t>
            </a:r>
            <a:r>
              <a:rPr lang="en-US" sz="1000" b="1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B.E., </a:t>
            </a:r>
            <a:r>
              <a:rPr lang="en-US" sz="1000" b="1" dirty="0" err="1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M.Tech</a:t>
            </a:r>
            <a:r>
              <a:rPr lang="en-US" sz="1000" b="1" dirty="0" smtClean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.,.</a:t>
            </a:r>
            <a:endParaRPr lang="en-US" sz="1000" baseline="-250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Assistant </a:t>
            </a:r>
            <a:r>
              <a:rPr lang="en-US" sz="16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Department of </a:t>
            </a:r>
            <a:r>
              <a:rPr lang="en-US" sz="1600" dirty="0" smtClean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AI &amp; ML</a:t>
            </a:r>
            <a:r>
              <a:rPr lang="en-US" sz="1600" dirty="0" smtClean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AIT, Chikkamagaluru.</a:t>
            </a:r>
          </a:p>
          <a:p>
            <a:pPr algn="ctr"/>
            <a:endParaRPr lang="en-US" sz="1400" baseline="-250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xmlns="" id="{DA6B31C9-59A4-9270-6124-96CE42872319}"/>
              </a:ext>
            </a:extLst>
          </p:cNvPr>
          <p:cNvSpPr txBox="1"/>
          <p:nvPr/>
        </p:nvSpPr>
        <p:spPr>
          <a:xfrm>
            <a:off x="7853166" y="4248231"/>
            <a:ext cx="3419206" cy="1159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   USN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en-I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of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ML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5">
            <a:extLst>
              <a:ext uri="{FF2B5EF4-FFF2-40B4-BE49-F238E27FC236}">
                <a16:creationId xmlns:a16="http://schemas.microsoft.com/office/drawing/2014/main" xmlns="" id="{B33939ED-871D-BADE-72C8-789B890EA733}"/>
              </a:ext>
            </a:extLst>
          </p:cNvPr>
          <p:cNvGrpSpPr/>
          <p:nvPr/>
        </p:nvGrpSpPr>
        <p:grpSpPr>
          <a:xfrm>
            <a:off x="4980241" y="3072084"/>
            <a:ext cx="2081023" cy="2484131"/>
            <a:chOff x="0" y="0"/>
            <a:chExt cx="3172968" cy="2712720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xmlns="" id="{76DB2A8C-1B05-02FA-DA00-D4FA744C4E8A}"/>
                </a:ext>
              </a:extLst>
            </p:cNvPr>
            <p:cNvSpPr/>
            <p:nvPr/>
          </p:nvSpPr>
          <p:spPr>
            <a:xfrm>
              <a:off x="0" y="0"/>
              <a:ext cx="3172968" cy="2712720"/>
            </a:xfrm>
            <a:custGeom>
              <a:avLst/>
              <a:gdLst/>
              <a:ahLst/>
              <a:cxnLst/>
              <a:rect l="l" t="t" r="r" b="b"/>
              <a:pathLst>
                <a:path w="3172968" h="2712720">
                  <a:moveTo>
                    <a:pt x="0" y="0"/>
                  </a:moveTo>
                  <a:lnTo>
                    <a:pt x="3172968" y="0"/>
                  </a:lnTo>
                  <a:lnTo>
                    <a:pt x="3172968" y="2712720"/>
                  </a:lnTo>
                  <a:lnTo>
                    <a:pt x="0" y="2712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147" r="-8147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xmlns="" val="278274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1999" y="1469985"/>
            <a:ext cx="1065711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traffic congestion increases travel time, fuel use,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Manual control, Timer controls and Electronic sensor controls traffic management is monitored.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machine learning algorithms the system predicts traffic congestion, travel time and incident risks.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real-time traffic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big data to forecast traffic conditions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weather retrieval protocols, social media feeds and machine learning models.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providing accurate, real-time traffic forecasts, this system has the potential to reduce congestion, enhance road safety, and improve urban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5271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3929" y="1469985"/>
            <a:ext cx="1083390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Scope of the project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diagram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676" y="2014271"/>
            <a:ext cx="5459754" cy="28561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11419114" y="3262185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308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1999" y="1469985"/>
            <a:ext cx="1069271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and rising vehicle ownership, leads to wasted time, increased fuel use, pollution,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monitoring systems using fixed sensors and manual data entry are often reactive and lack accuracy in forecasting traffic. Big data technologies and machine learning now enable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various sources, allowing for more precise and proactive traffic prediction.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prediction system employs advanced machine learning models, including LSTM networks and regression models, to analyze and forecast traffic patterns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displayed on user-friendly dashboards integrated with mapping services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updates.</a:t>
            </a:r>
          </a:p>
          <a:p>
            <a:pPr algn="just"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292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1999" y="1469985"/>
            <a:ext cx="1066800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Proactive Traffic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Advancements in Big Data and Machine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Concerns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and Emergency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and Smart City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Navigation and User Experience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34434" y="2792627"/>
            <a:ext cx="2975918" cy="29759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809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6119" y="1469985"/>
            <a:ext cx="1066388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GPS data from smartphones, vehicle navigation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traffic data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feeds.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Weather data from meteorological APIs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Data processing:  Apache Spark,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Kafka.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Model selection: Time series forecasting(LSTM), Logical regression.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Classification model: SVM, CNN, ANN.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15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6120" y="617369"/>
            <a:ext cx="1067623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 Traffic flow visualization using charts and graphs, congestion prediction on maps,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  indicates road blocks and weather conditions.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  Displays numerical values w.r.t day/month/year. 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application: drivers, traffic authorities, city planners.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223" y="2570286"/>
            <a:ext cx="3604572" cy="26748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124" y="3163034"/>
            <a:ext cx="4795096" cy="25375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7637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8476" y="1469985"/>
            <a:ext cx="106515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traffic related data will be sourced from a variety of platforms, including: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GPS data(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MapBox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API’s)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feeds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Open-metro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API)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Historic Junction data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number of vehicles passed through a junction at a </a:t>
            </a:r>
          </a:p>
          <a:p>
            <a:pPr marL="0"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particular time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data will be stored w.r.t date and time on daily basis.</a:t>
            </a:r>
          </a:p>
          <a:p>
            <a:pPr lvl="1"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TRAFFIC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WEATHER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27705" y="2578375"/>
            <a:ext cx="2143125" cy="21431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302818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0324" y="1469985"/>
            <a:ext cx="103796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planning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 centers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Ride-sharing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53912" y="2616679"/>
            <a:ext cx="4856207" cy="32381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5657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3762" y="1469985"/>
            <a:ext cx="1067623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is capable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predicting traffic congestion, travel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 in real time.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integrate real-time data from multiple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intuitive and interactive dashboard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equip city planners and traffic authorities with tools to make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reduce traffic congestion.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the performance, accuracy, and scalability of the real-time traffic prediction system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the development of smarter,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systems.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the system with flexibility to accommodate future enhancements and scalability to other cities or regions.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992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F98DCBB6-90C3-9846-BF08-B831592E4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38753283"/>
              </p:ext>
            </p:extLst>
          </p:nvPr>
        </p:nvGraphicFramePr>
        <p:xfrm>
          <a:off x="790832" y="1469986"/>
          <a:ext cx="10628282" cy="44612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1752">
                  <a:extLst>
                    <a:ext uri="{9D8B030D-6E8A-4147-A177-3AD203B41FA5}">
                      <a16:colId xmlns:a16="http://schemas.microsoft.com/office/drawing/2014/main" xmlns="" val="858995333"/>
                    </a:ext>
                  </a:extLst>
                </a:gridCol>
                <a:gridCol w="2585258">
                  <a:extLst>
                    <a:ext uri="{9D8B030D-6E8A-4147-A177-3AD203B41FA5}">
                      <a16:colId xmlns:a16="http://schemas.microsoft.com/office/drawing/2014/main" xmlns="" val="4051299422"/>
                    </a:ext>
                  </a:extLst>
                </a:gridCol>
                <a:gridCol w="1723505">
                  <a:extLst>
                    <a:ext uri="{9D8B030D-6E8A-4147-A177-3AD203B41FA5}">
                      <a16:colId xmlns:a16="http://schemas.microsoft.com/office/drawing/2014/main" xmlns="" val="2444163550"/>
                    </a:ext>
                  </a:extLst>
                </a:gridCol>
                <a:gridCol w="2106505">
                  <a:extLst>
                    <a:ext uri="{9D8B030D-6E8A-4147-A177-3AD203B41FA5}">
                      <a16:colId xmlns:a16="http://schemas.microsoft.com/office/drawing/2014/main" xmlns="" val="2519435167"/>
                    </a:ext>
                  </a:extLst>
                </a:gridCol>
                <a:gridCol w="3351262">
                  <a:extLst>
                    <a:ext uri="{9D8B030D-6E8A-4147-A177-3AD203B41FA5}">
                      <a16:colId xmlns:a16="http://schemas.microsoft.com/office/drawing/2014/main" xmlns="" val="1278365714"/>
                    </a:ext>
                  </a:extLst>
                </a:gridCol>
              </a:tblGrid>
              <a:tr h="44369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DETAILS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80422226"/>
                  </a:ext>
                </a:extLst>
              </a:tr>
              <a:tr h="210068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Novel Deep Learning Approach of BH &amp; SH on MANET basis Traffic Prediction with Big Data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Narasima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Venkatesh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Y. M.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Mahaboob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John; P.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Ananthi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Balaji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Adusumalli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T.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Manikumar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Bhasker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3rd International Conference on Intelligent Engineering and Management, 2022.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for traffic flow forecasting that consider both spatial and temporal correlations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layered auto encoder model is used to teach traffic flow characteristics since it builds up greedy layer by layer.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architecture models for traffic flow prediction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 as building blocks. 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24977577"/>
                  </a:ext>
                </a:extLst>
              </a:tr>
              <a:tr h="191687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Reinforcement Learning-Based Network Traffic Prediction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Laisen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Nie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Xiaojie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Wang; Qinglin Zhao;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Zhigang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Shang; Li Feng;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Guojun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Intelligent Transportation Systems, 2024.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Deep Q-Learning (DQN) and Generative Adversarial Networks (GAN) for network traffic feature extraction.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DQN is leveraged to carry out network traffic prediction, in which GAN is involved to represent Q-network.</a:t>
                      </a:r>
                      <a:endParaRPr lang="en-IN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866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8644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F98DCBB6-90C3-9846-BF08-B831592E4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0579853"/>
              </p:ext>
            </p:extLst>
          </p:nvPr>
        </p:nvGraphicFramePr>
        <p:xfrm>
          <a:off x="790832" y="926757"/>
          <a:ext cx="10628282" cy="5068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1752">
                  <a:extLst>
                    <a:ext uri="{9D8B030D-6E8A-4147-A177-3AD203B41FA5}">
                      <a16:colId xmlns:a16="http://schemas.microsoft.com/office/drawing/2014/main" xmlns="" val="858995333"/>
                    </a:ext>
                  </a:extLst>
                </a:gridCol>
                <a:gridCol w="2585258">
                  <a:extLst>
                    <a:ext uri="{9D8B030D-6E8A-4147-A177-3AD203B41FA5}">
                      <a16:colId xmlns:a16="http://schemas.microsoft.com/office/drawing/2014/main" xmlns="" val="4051299422"/>
                    </a:ext>
                  </a:extLst>
                </a:gridCol>
                <a:gridCol w="1723505">
                  <a:extLst>
                    <a:ext uri="{9D8B030D-6E8A-4147-A177-3AD203B41FA5}">
                      <a16:colId xmlns:a16="http://schemas.microsoft.com/office/drawing/2014/main" xmlns="" val="2444163550"/>
                    </a:ext>
                  </a:extLst>
                </a:gridCol>
                <a:gridCol w="2106505">
                  <a:extLst>
                    <a:ext uri="{9D8B030D-6E8A-4147-A177-3AD203B41FA5}">
                      <a16:colId xmlns:a16="http://schemas.microsoft.com/office/drawing/2014/main" xmlns="" val="2519435167"/>
                    </a:ext>
                  </a:extLst>
                </a:gridCol>
                <a:gridCol w="3351262">
                  <a:extLst>
                    <a:ext uri="{9D8B030D-6E8A-4147-A177-3AD203B41FA5}">
                      <a16:colId xmlns:a16="http://schemas.microsoft.com/office/drawing/2014/main" xmlns="" val="1278365714"/>
                    </a:ext>
                  </a:extLst>
                </a:gridCol>
              </a:tblGrid>
              <a:tr h="47546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DETAILS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80422226"/>
                  </a:ext>
                </a:extLst>
              </a:tr>
              <a:tr h="23681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 Traffic Flow Prediction Algorithm Based on CNN-LSTM Model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Xiang Zhang; Kai Huang;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Chengzhi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Liu; Xin Xu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3rd International Conference on Consumer Electronics and Computer Engineering, 2023.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convolutional neural network is used to capture the local spatial characteristics of traffic flow.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long short-term memory-cycle neural network is used to capture temporal characteristics of traffic flow data.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flow prediction values of the urban areas are obtained by fusing with external factors. </a:t>
                      </a:r>
                      <a:endParaRPr lang="en-IN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24977577"/>
                  </a:ext>
                </a:extLst>
              </a:tr>
              <a:tr h="21609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Short-Term Traffic Flow Prediction for Urban Road Sections Based on Time Series Analysis and LSTM_BILSTM Method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Changxi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Ma;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Guowen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Dai;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Jibiao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Zhou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Intelligent Transportation Systems, 2022.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time series analysis on traffic flow data and perform smoothing and standardization processing to obtain a stable time series as model input data.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the advantages of sequential data and long-term dependence of forwarding LSTM and reverse LSTM, the BILSTM is integrated into prediction model.</a:t>
                      </a:r>
                      <a:endParaRPr lang="en-IN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866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2101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F98DCBB6-90C3-9846-BF08-B831592E4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78839443"/>
              </p:ext>
            </p:extLst>
          </p:nvPr>
        </p:nvGraphicFramePr>
        <p:xfrm>
          <a:off x="790832" y="926757"/>
          <a:ext cx="10628282" cy="5068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1752">
                  <a:extLst>
                    <a:ext uri="{9D8B030D-6E8A-4147-A177-3AD203B41FA5}">
                      <a16:colId xmlns:a16="http://schemas.microsoft.com/office/drawing/2014/main" xmlns="" val="858995333"/>
                    </a:ext>
                  </a:extLst>
                </a:gridCol>
                <a:gridCol w="2585258">
                  <a:extLst>
                    <a:ext uri="{9D8B030D-6E8A-4147-A177-3AD203B41FA5}">
                      <a16:colId xmlns:a16="http://schemas.microsoft.com/office/drawing/2014/main" xmlns="" val="4051299422"/>
                    </a:ext>
                  </a:extLst>
                </a:gridCol>
                <a:gridCol w="1723505">
                  <a:extLst>
                    <a:ext uri="{9D8B030D-6E8A-4147-A177-3AD203B41FA5}">
                      <a16:colId xmlns:a16="http://schemas.microsoft.com/office/drawing/2014/main" xmlns="" val="2444163550"/>
                    </a:ext>
                  </a:extLst>
                </a:gridCol>
                <a:gridCol w="2106505">
                  <a:extLst>
                    <a:ext uri="{9D8B030D-6E8A-4147-A177-3AD203B41FA5}">
                      <a16:colId xmlns:a16="http://schemas.microsoft.com/office/drawing/2014/main" xmlns="" val="2519435167"/>
                    </a:ext>
                  </a:extLst>
                </a:gridCol>
                <a:gridCol w="3351262">
                  <a:extLst>
                    <a:ext uri="{9D8B030D-6E8A-4147-A177-3AD203B41FA5}">
                      <a16:colId xmlns:a16="http://schemas.microsoft.com/office/drawing/2014/main" xmlns="" val="1278365714"/>
                    </a:ext>
                  </a:extLst>
                </a:gridCol>
              </a:tblGrid>
              <a:tr h="47546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DETAILS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80422226"/>
                  </a:ext>
                </a:extLst>
              </a:tr>
              <a:tr h="23681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Impact of Big Data Analytics on Traffic Prediction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Hakima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Khelifi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Amani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Belouahri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Conference on Advanced Aspects of Software Engineering, 2022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the impact of big data analytics on traffic prediction in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iovs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 data analytics steps to predict the traffic flow, and based on different deep neural models such as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cnn-lstm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models are validated using evaluation metrics,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r2.</a:t>
                      </a:r>
                      <a:endParaRPr lang="en-IN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24977577"/>
                  </a:ext>
                </a:extLst>
              </a:tr>
              <a:tr h="21609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Flow Prediction Using Deep Learning Models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China-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Seh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Wu; Satya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Pranavi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Manthena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Saurabh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Kale; Maithili </a:t>
                      </a:r>
                      <a:r>
                        <a:rPr lang="en-IN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Vinayak</a:t>
                      </a:r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Kulkarni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5th International Conference on Computing and Big Data, 2022.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the long short-term memory (LSTM) model, gated recurrent unit (GRU) model, stacked auto encoder (SAE), and an auto-regressive integrated moving average (ARIMA) model, all of which are deep learning methods.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results demonstrate that the gated recurrent unit model is more applicable and performs better. </a:t>
                      </a:r>
                      <a:endParaRPr lang="en-IN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866253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421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8476" y="1482342"/>
            <a:ext cx="1064063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Operating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windows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above.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Software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Python, vs code.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Coding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 Python, Java script.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MYSQL.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Intel Core i5 and above.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Hard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Disk: 256GB and above.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Ram:8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 and above.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166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2903838" y="1469985"/>
            <a:ext cx="6759146" cy="4475706"/>
            <a:chOff x="0" y="0"/>
            <a:chExt cx="6835683" cy="4937760"/>
          </a:xfrm>
        </p:grpSpPr>
        <p:sp>
          <p:nvSpPr>
            <p:cNvPr id="34" name="Text Box 2"/>
            <p:cNvSpPr txBox="1"/>
            <p:nvPr/>
          </p:nvSpPr>
          <p:spPr>
            <a:xfrm>
              <a:off x="0" y="7620"/>
              <a:ext cx="1729740" cy="3429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Data set and API’s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3"/>
            <p:cNvSpPr txBox="1"/>
            <p:nvPr/>
          </p:nvSpPr>
          <p:spPr>
            <a:xfrm>
              <a:off x="2125980" y="0"/>
              <a:ext cx="2103120" cy="35052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Data preprocessing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1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7"/>
            <p:cNvSpPr txBox="1"/>
            <p:nvPr/>
          </p:nvSpPr>
          <p:spPr>
            <a:xfrm>
              <a:off x="4411980" y="4297680"/>
              <a:ext cx="2423703" cy="3810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Dashboard with visualization</a:t>
              </a:r>
              <a:endParaRPr lang="en-IN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2156460" y="640080"/>
              <a:ext cx="2095500" cy="1363980"/>
              <a:chOff x="0" y="0"/>
              <a:chExt cx="2095500" cy="1363980"/>
            </a:xfrm>
          </p:grpSpPr>
          <p:sp>
            <p:nvSpPr>
              <p:cNvPr id="52" name="Text Box 4"/>
              <p:cNvSpPr txBox="1"/>
              <p:nvPr/>
            </p:nvSpPr>
            <p:spPr>
              <a:xfrm>
                <a:off x="0" y="0"/>
                <a:ext cx="2095500" cy="136398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Real-time prediction</a:t>
                </a:r>
                <a:endPara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 Box 8"/>
              <p:cNvSpPr txBox="1"/>
              <p:nvPr/>
            </p:nvSpPr>
            <p:spPr>
              <a:xfrm>
                <a:off x="160020" y="381000"/>
                <a:ext cx="708660" cy="45720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Apache Hadoop</a:t>
                </a:r>
                <a:endPara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Text Box 9"/>
              <p:cNvSpPr txBox="1"/>
              <p:nvPr/>
            </p:nvSpPr>
            <p:spPr>
              <a:xfrm>
                <a:off x="1173480" y="373380"/>
                <a:ext cx="708660" cy="45720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Apache Spark</a:t>
                </a:r>
                <a:endPara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 Box 10"/>
              <p:cNvSpPr txBox="1"/>
              <p:nvPr/>
            </p:nvSpPr>
            <p:spPr>
              <a:xfrm>
                <a:off x="472440" y="967740"/>
                <a:ext cx="1135380" cy="29718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Apache Kafka</a:t>
                </a:r>
                <a:endPara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2308860" y="3985260"/>
              <a:ext cx="1729740" cy="952500"/>
              <a:chOff x="0" y="0"/>
              <a:chExt cx="1729740" cy="952500"/>
            </a:xfrm>
          </p:grpSpPr>
          <p:sp>
            <p:nvSpPr>
              <p:cNvPr id="50" name="Text Box 6"/>
              <p:cNvSpPr txBox="1"/>
              <p:nvPr/>
            </p:nvSpPr>
            <p:spPr>
              <a:xfrm>
                <a:off x="0" y="0"/>
                <a:ext cx="1729740" cy="95250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Model evaluation</a:t>
                </a:r>
                <a:endPara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Text Box 12"/>
              <p:cNvSpPr txBox="1"/>
              <p:nvPr/>
            </p:nvSpPr>
            <p:spPr>
              <a:xfrm>
                <a:off x="152400" y="396240"/>
                <a:ext cx="1455420" cy="29718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Accuracy (API’s)</a:t>
                </a:r>
                <a:endParaRPr lang="en-IN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2186940" y="2308860"/>
              <a:ext cx="2057400" cy="1371600"/>
              <a:chOff x="0" y="0"/>
              <a:chExt cx="2057400" cy="1371600"/>
            </a:xfrm>
          </p:grpSpPr>
          <p:sp>
            <p:nvSpPr>
              <p:cNvPr id="45" name="Text Box 5"/>
              <p:cNvSpPr txBox="1"/>
              <p:nvPr/>
            </p:nvSpPr>
            <p:spPr>
              <a:xfrm>
                <a:off x="0" y="0"/>
                <a:ext cx="2057400" cy="137160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Model construction</a:t>
                </a:r>
                <a:endParaRPr lang="en-IN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Text Box 14"/>
              <p:cNvSpPr txBox="1"/>
              <p:nvPr/>
            </p:nvSpPr>
            <p:spPr>
              <a:xfrm>
                <a:off x="274320" y="403860"/>
                <a:ext cx="518160" cy="27432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CNN</a:t>
                </a:r>
                <a:endParaRPr lang="en-IN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Text Box 15"/>
              <p:cNvSpPr txBox="1"/>
              <p:nvPr/>
            </p:nvSpPr>
            <p:spPr>
              <a:xfrm>
                <a:off x="1150620" y="411480"/>
                <a:ext cx="579120" cy="27432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SVM</a:t>
                </a:r>
                <a:endParaRPr lang="en-IN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Text Box 16"/>
              <p:cNvSpPr txBox="1"/>
              <p:nvPr/>
            </p:nvSpPr>
            <p:spPr>
              <a:xfrm>
                <a:off x="289560" y="998220"/>
                <a:ext cx="617220" cy="27432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LSTM</a:t>
                </a:r>
                <a:endParaRPr lang="en-IN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Text Box 17"/>
              <p:cNvSpPr txBox="1"/>
              <p:nvPr/>
            </p:nvSpPr>
            <p:spPr>
              <a:xfrm>
                <a:off x="1173480" y="960120"/>
                <a:ext cx="586740" cy="27432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ANN</a:t>
                </a:r>
                <a:endParaRPr lang="en-IN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0" name="Down Arrow 39"/>
            <p:cNvSpPr/>
            <p:nvPr/>
          </p:nvSpPr>
          <p:spPr>
            <a:xfrm>
              <a:off x="3070860" y="2019300"/>
              <a:ext cx="167005" cy="281940"/>
            </a:xfrm>
            <a:prstGeom prst="down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1" name="Down Arrow 40"/>
            <p:cNvSpPr/>
            <p:nvPr/>
          </p:nvSpPr>
          <p:spPr>
            <a:xfrm>
              <a:off x="3086100" y="358140"/>
              <a:ext cx="167005" cy="281940"/>
            </a:xfrm>
            <a:prstGeom prst="down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2" name="Down Arrow 41"/>
            <p:cNvSpPr/>
            <p:nvPr/>
          </p:nvSpPr>
          <p:spPr>
            <a:xfrm>
              <a:off x="3093720" y="3695700"/>
              <a:ext cx="167005" cy="281940"/>
            </a:xfrm>
            <a:prstGeom prst="downArrow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3" name="Right Arrow 42"/>
            <p:cNvSpPr/>
            <p:nvPr/>
          </p:nvSpPr>
          <p:spPr>
            <a:xfrm>
              <a:off x="1744980" y="91440"/>
              <a:ext cx="373380" cy="17526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4038600" y="4404360"/>
              <a:ext cx="373380" cy="17526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125709" y="5907892"/>
            <a:ext cx="387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9.1: System architecture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518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25033" y="7274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777433" y="879889"/>
            <a:ext cx="10972800" cy="7424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19114" y="3249828"/>
            <a:ext cx="7728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1114" y="1469985"/>
            <a:ext cx="1064063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Narasima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Venkatesh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M.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Mahaboob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John, P.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Ananthi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Adusumalli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Manikumar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B. Pant, "A Novel Deep Learning Approach of BH &amp; SH on MANET basis Traffic Prediction with Big Data,"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X. Wang, Q. Zhao, Z. Shang, L. Feng and G. Li, "Digital Twin for Transportation Big Data: A Reinforcement Learning-Based Network Traffic Prediction Approach," 2024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X. Zhang, K. Huang, C. Liu and X. Xu, "Urban Short - Term Traffic Flow Prediction Algorithm Based on CNN-LSTM Model,"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Ma, G. Dai and J. Zhou, "Short-Term Traffic Flow Prediction for Urban Road Sections Based on Time Series Analysis and LSTM_BILSTM Method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," 2022.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Khelifi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Belouahri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"The Impact of Big Data Analytics on Traffic Prediction," 2022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C. -S. Wu, S. P.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Manthena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Kale and M. V. Kulkarni, "Traffic Flow Prediction Using Deep Learning Models,"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272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838" y="2939704"/>
            <a:ext cx="10960443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1313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525</TotalTime>
  <Words>1365</Words>
  <Application>Microsoft Office PowerPoint</Application>
  <PresentationFormat>Custom</PresentationFormat>
  <Paragraphs>197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Organic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91</cp:revision>
  <dcterms:created xsi:type="dcterms:W3CDTF">2024-09-26T06:12:27Z</dcterms:created>
  <dcterms:modified xsi:type="dcterms:W3CDTF">2026-10-13T06:09:52Z</dcterms:modified>
</cp:coreProperties>
</file>