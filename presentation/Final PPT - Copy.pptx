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5e2660cf94ed4" /><Relationship Type="http://schemas.openxmlformats.org/officeDocument/2006/relationships/extended-properties" Target="/docProps/app.xml" Id="R3a3ab5254b2b4729" /><Relationship Type="http://schemas.openxmlformats.org/officeDocument/2006/relationships/officeDocument" Target="/ppt/presentation.xml" Id="R45811990f38b44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f27d5cb2e447ab"/>
  </p:sldMasterIdLst>
  <p:notesMasterIdLst>
    <p:notesMasterId xmlns:r="http://schemas.openxmlformats.org/officeDocument/2006/relationships" r:id="R610b93fa84de4677"/>
  </p:notesMasterIdLst>
  <p:sldIdLst>
    <p:sldId xmlns:r="http://schemas.openxmlformats.org/officeDocument/2006/relationships" id="256" r:id="R3ac02182c1f24ab4"/>
    <p:sldId xmlns:r="http://schemas.openxmlformats.org/officeDocument/2006/relationships" id="257" r:id="R5e1db1313c674414"/>
    <p:sldId xmlns:r="http://schemas.openxmlformats.org/officeDocument/2006/relationships" id="258" r:id="Rfd7effacc2be41ba"/>
    <p:sldId xmlns:r="http://schemas.openxmlformats.org/officeDocument/2006/relationships" id="259" r:id="R9e1b65737c6c4906"/>
    <p:sldId xmlns:r="http://schemas.openxmlformats.org/officeDocument/2006/relationships" id="260" r:id="R88e43ea3a2dd455b"/>
    <p:sldId xmlns:r="http://schemas.openxmlformats.org/officeDocument/2006/relationships" id="261" r:id="R7e702f040eff4b92"/>
    <p:sldId xmlns:r="http://schemas.openxmlformats.org/officeDocument/2006/relationships" id="262" r:id="Rc8a2f02464114f69"/>
    <p:sldId xmlns:r="http://schemas.openxmlformats.org/officeDocument/2006/relationships" id="263" r:id="Ra1255ba9e8e04c74"/>
    <p:sldId xmlns:r="http://schemas.openxmlformats.org/officeDocument/2006/relationships" id="264" r:id="Rad9fe08e35074bad"/>
    <p:sldId xmlns:r="http://schemas.openxmlformats.org/officeDocument/2006/relationships" id="265" r:id="R7f6b73ac686f4ef7"/>
    <p:sldId xmlns:r="http://schemas.openxmlformats.org/officeDocument/2006/relationships" id="266" r:id="R2801def85cd84684"/>
    <p:sldId xmlns:r="http://schemas.openxmlformats.org/officeDocument/2006/relationships" id="267" r:id="R1874b074ba4449ea"/>
    <p:sldId xmlns:r="http://schemas.openxmlformats.org/officeDocument/2006/relationships" id="268" r:id="Ra7a0b558c17d443c"/>
    <p:sldId xmlns:r="http://schemas.openxmlformats.org/officeDocument/2006/relationships" id="269" r:id="R211e40b852a54fb4"/>
    <p:sldId xmlns:r="http://schemas.openxmlformats.org/officeDocument/2006/relationships" id="270" r:id="R8c7f500d8fa24d65"/>
    <p:sldId xmlns:r="http://schemas.openxmlformats.org/officeDocument/2006/relationships" id="271" r:id="Rfa2af3f248904146"/>
    <p:sldId xmlns:r="http://schemas.openxmlformats.org/officeDocument/2006/relationships" id="272" r:id="R0d2341da767e419b"/>
    <p:sldId xmlns:r="http://schemas.openxmlformats.org/officeDocument/2006/relationships" id="273" r:id="Re716fa17f7a341af"/>
    <p:sldId xmlns:r="http://schemas.openxmlformats.org/officeDocument/2006/relationships" id="274" r:id="R4eee646a6c944cb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b8f702ae6c4fc8" /><Relationship Type="http://schemas.openxmlformats.org/officeDocument/2006/relationships/slideMaster" Target="/ppt/slideMasters/slideMaster1.xml" Id="R77f27d5cb2e447ab" /><Relationship Type="http://schemas.openxmlformats.org/officeDocument/2006/relationships/notesMaster" Target="/ppt/notesMasters/notesMaster1.xml" Id="R610b93fa84de4677" /><Relationship Type="http://schemas.openxmlformats.org/officeDocument/2006/relationships/presProps" Target="/ppt/presProps.xml" Id="Rc87f13d3628d414c" /><Relationship Type="http://schemas.openxmlformats.org/officeDocument/2006/relationships/viewProps" Target="/ppt/viewProps.xml" Id="R0257776e295c4bfc" /><Relationship Type="http://schemas.openxmlformats.org/officeDocument/2006/relationships/tableStyles" Target="/ppt/tableStyles.xml" Id="R10814e6a0b1949c8" /><Relationship Type="http://schemas.openxmlformats.org/officeDocument/2006/relationships/slide" Target="/ppt/slides/slide1.xml" Id="R3ac02182c1f24ab4" /><Relationship Type="http://schemas.openxmlformats.org/officeDocument/2006/relationships/slide" Target="/ppt/slides/slide2.xml" Id="R5e1db1313c674414" /><Relationship Type="http://schemas.openxmlformats.org/officeDocument/2006/relationships/slide" Target="/ppt/slides/slide3.xml" Id="Rfd7effacc2be41ba" /><Relationship Type="http://schemas.openxmlformats.org/officeDocument/2006/relationships/slide" Target="/ppt/slides/slide4.xml" Id="R9e1b65737c6c4906" /><Relationship Type="http://schemas.openxmlformats.org/officeDocument/2006/relationships/slide" Target="/ppt/slides/slide5.xml" Id="R88e43ea3a2dd455b" /><Relationship Type="http://schemas.openxmlformats.org/officeDocument/2006/relationships/slide" Target="/ppt/slides/slide6.xml" Id="R7e702f040eff4b92" /><Relationship Type="http://schemas.openxmlformats.org/officeDocument/2006/relationships/slide" Target="/ppt/slides/slide7.xml" Id="Rc8a2f02464114f69" /><Relationship Type="http://schemas.openxmlformats.org/officeDocument/2006/relationships/slide" Target="/ppt/slides/slide8.xml" Id="Ra1255ba9e8e04c74" /><Relationship Type="http://schemas.openxmlformats.org/officeDocument/2006/relationships/slide" Target="/ppt/slides/slide9.xml" Id="Rad9fe08e35074bad" /><Relationship Type="http://schemas.openxmlformats.org/officeDocument/2006/relationships/slide" Target="/ppt/slides/slide10.xml" Id="R7f6b73ac686f4ef7" /><Relationship Type="http://schemas.openxmlformats.org/officeDocument/2006/relationships/slide" Target="/ppt/slides/slide11.xml" Id="R2801def85cd84684" /><Relationship Type="http://schemas.openxmlformats.org/officeDocument/2006/relationships/slide" Target="/ppt/slides/slide12.xml" Id="R1874b074ba4449ea" /><Relationship Type="http://schemas.openxmlformats.org/officeDocument/2006/relationships/slide" Target="/ppt/slides/slide13.xml" Id="Ra7a0b558c17d443c" /><Relationship Type="http://schemas.openxmlformats.org/officeDocument/2006/relationships/slide" Target="/ppt/slides/slide14.xml" Id="R211e40b852a54fb4" /><Relationship Type="http://schemas.openxmlformats.org/officeDocument/2006/relationships/slide" Target="/ppt/slides/slide15.xml" Id="R8c7f500d8fa24d65" /><Relationship Type="http://schemas.openxmlformats.org/officeDocument/2006/relationships/slide" Target="/ppt/slides/slide16.xml" Id="Rfa2af3f248904146" /><Relationship Type="http://schemas.openxmlformats.org/officeDocument/2006/relationships/slide" Target="/ppt/slides/slide17.xml" Id="R0d2341da767e419b" /><Relationship Type="http://schemas.openxmlformats.org/officeDocument/2006/relationships/slide" Target="/ppt/slides/slide18.xml" Id="Re716fa17f7a341af" /><Relationship Type="http://schemas.openxmlformats.org/officeDocument/2006/relationships/slide" Target="/ppt/slides/slide19.xml" Id="R4eee646a6c944c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f48b7cd0d74c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8387acb39446ad" /><Relationship Type="http://schemas.openxmlformats.org/officeDocument/2006/relationships/notesMaster" Target="/ppt/notesMasters/notesMaster1.xml" Id="Re7368a4f039a4f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da97d226264954" /><Relationship Type="http://schemas.openxmlformats.org/officeDocument/2006/relationships/notesMaster" Target="/ppt/notesMasters/notesMaster1.xml" Id="R8ace135b0f854f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e30c3a67154705" /><Relationship Type="http://schemas.openxmlformats.org/officeDocument/2006/relationships/notesMaster" Target="/ppt/notesMasters/notesMaster1.xml" Id="Rad43541e2d1743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1f972e0e104f44" /><Relationship Type="http://schemas.openxmlformats.org/officeDocument/2006/relationships/notesMaster" Target="/ppt/notesMasters/notesMaster1.xml" Id="Rcf6da21af0fe41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b12d8f479a4f6d" /><Relationship Type="http://schemas.openxmlformats.org/officeDocument/2006/relationships/notesMaster" Target="/ppt/notesMasters/notesMaster1.xml" Id="Rcfb4f60f3c8945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e26360ed9d4c26" /><Relationship Type="http://schemas.openxmlformats.org/officeDocument/2006/relationships/notesMaster" Target="/ppt/notesMasters/notesMaster1.xml" Id="Rec28c7736e9e43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494f99c07d46d4" /><Relationship Type="http://schemas.openxmlformats.org/officeDocument/2006/relationships/notesMaster" Target="/ppt/notesMasters/notesMaster1.xml" Id="Rd3918c15b2344e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f493f2e49040ea" /><Relationship Type="http://schemas.openxmlformats.org/officeDocument/2006/relationships/notesMaster" Target="/ppt/notesMasters/notesMaster1.xml" Id="Rbb44805c58f2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3da36324504805" /><Relationship Type="http://schemas.openxmlformats.org/officeDocument/2006/relationships/notesMaster" Target="/ppt/notesMasters/notesMaster1.xml" Id="R1f4e7c2b7c4a49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f6a3a3bb4a4f25" /><Relationship Type="http://schemas.openxmlformats.org/officeDocument/2006/relationships/notesMaster" Target="/ppt/notesMasters/notesMaster1.xml" Id="R73289a84324f46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f418f33dcb46eb" /><Relationship Type="http://schemas.openxmlformats.org/officeDocument/2006/relationships/notesMaster" Target="/ppt/notesMasters/notesMaster1.xml" Id="R6779c24d8de748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821a091b0641f2" /><Relationship Type="http://schemas.openxmlformats.org/officeDocument/2006/relationships/notesMaster" Target="/ppt/notesMasters/notesMaster1.xml" Id="R87c0b40b6c7543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ff4ed3ab50493b" /><Relationship Type="http://schemas.openxmlformats.org/officeDocument/2006/relationships/notesMaster" Target="/ppt/notesMasters/notesMaster1.xml" Id="R7e5390c60ded46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0d632459b54e04" /><Relationship Type="http://schemas.openxmlformats.org/officeDocument/2006/relationships/notesMaster" Target="/ppt/notesMasters/notesMaster1.xml" Id="R4e5e8f6dabbe4e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6235617bbd4038" /><Relationship Type="http://schemas.openxmlformats.org/officeDocument/2006/relationships/notesMaster" Target="/ppt/notesMasters/notesMaster1.xml" Id="R8b9089f2ba3046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5c0543fc04473a" /><Relationship Type="http://schemas.openxmlformats.org/officeDocument/2006/relationships/notesMaster" Target="/ppt/notesMasters/notesMaster1.xml" Id="R4f5003c4776840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c1915b5df54741" /><Relationship Type="http://schemas.openxmlformats.org/officeDocument/2006/relationships/notesMaster" Target="/ppt/notesMasters/notesMaster1.xml" Id="Rbde6722a486343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e81784f8d84d68" /><Relationship Type="http://schemas.openxmlformats.org/officeDocument/2006/relationships/notesMaster" Target="/ppt/notesMasters/notesMaster1.xml" Id="R07aa04b096e044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7f28e38cb14b05" /><Relationship Type="http://schemas.openxmlformats.org/officeDocument/2006/relationships/notesMaster" Target="/ppt/notesMasters/notesMaster1.xml" Id="R6b5b2861952e40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fe1e6a2bc49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7ed96ca0142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d42131d664e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7ac49d86e43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cdf93774847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fc741c6f445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c096aaf8c49c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65abfc33c4fa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aa6ab1a2e4b3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7f75e00e3464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a649a567e4bf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8EF141-589E-4231-8C55-1703B6291B3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5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3E0DB73-5025-46A5-A100-72D0AD2EDF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8703BF5-9ED5-4B11-9D08-A5E5FBA7B4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31EE99-88E8-467F-9947-28519868C6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554133" y="6356350"/>
            <a:ext cx="514773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CD7B35-0269-413D-9CF5-F6C00AB7A2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50133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A2E4A2-0F1A-4EFA-92B6-7737F112F9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600" y="330200"/>
            <a:ext cx="10718800" cy="812800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08448-194E-4309-905E-0B4A529E05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36600" y="1396999"/>
            <a:ext cx="10718800" cy="4826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770460-1DB3-4FBA-A113-DB3804786A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06EB52-A64F-44A1-A799-CD60BB55C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736599" y="6388100"/>
            <a:ext cx="9144000" cy="30480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8318D2-1938-405E-9FC4-0E7F19255A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439400" y="6388100"/>
            <a:ext cx="1016000" cy="304800"/>
          </a:xfr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BB8FE2-CEA9-450F-BC89-9419E1FE9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0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00134D6-E68E-49C4-A81D-EDCD754171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86EE08-B8D2-47BB-A77F-228F4AD396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A0C9B4-48E2-4A2B-B819-296B105665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554133" y="6356350"/>
            <a:ext cx="514773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CC66D8-7810-4155-8B4F-1DE0C9E03C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50133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0BEEB1-DE19-43F4-A9F5-6FA4A3AC8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4630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271E38-3B70-4912-826D-8046415E2B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0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A105546-885D-4708-941B-164CDAD8A6F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0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8C3C74E-2035-4AFB-A803-C7D38DB8F5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3194594-AD42-4951-8D15-4C78AF1929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554133" y="6356350"/>
            <a:ext cx="514773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ABC0B17-35F1-47A8-A1C6-E8A36C4B98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50133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B301E4-EA70-4EEC-A29B-FCCB08B71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46304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5BD76F4-901A-478F-9141-63EE41E916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3D85317-4C1D-4F45-A3E6-BA25D7B452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A451F52-6E1D-430E-B9EA-03A591C9236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7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4E413C1-E0A3-40DC-A564-6E111C2CB69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7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A5414B4-967A-4D24-BF30-4109882253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053E4F3-0917-43E9-BA6D-177D3C14B3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554133" y="6356350"/>
            <a:ext cx="514773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58BD6CB-6330-417B-87EB-35B4102A1B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50133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600" y="330200"/>
            <a:ext cx="10718800" cy="812800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D68DEE3-D93B-4D28-B531-9A67E9FA57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736599" y="6388100"/>
            <a:ext cx="9144000" cy="30480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439400" y="6388100"/>
            <a:ext cx="1016000" cy="304800"/>
          </a:xfr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5E3C528-FDA5-4AD4-8138-F7FED301CB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2F53DDC-AE68-4445-BF5D-5736706BF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554133" y="6356350"/>
            <a:ext cx="514773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E0CE673-4E59-43FD-8AC2-76F57990E6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50133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5C86DB-E699-4A48-B0E1-687113A6E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599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77C8C9-4239-46D3-96AA-3572E1903C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0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43879E0-677C-4A71-AEB1-D80FE2C28F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599" y="1435100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C3A65D6-1814-4CC1-95A6-B030DC75C4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243F873-02BD-4C44-B792-F0CB3D6766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554133" y="6356350"/>
            <a:ext cx="514773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60CD994-EA08-480A-A872-63A2393002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50133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687C10-5D3D-4FA2-BE61-B1FE10CC5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8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5FA977A-A562-40A9-ABBD-AEC800035CF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8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C75CCBF-B724-49D5-AA20-2927E9516C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8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B30EAD-B779-465B-983D-7AC61062C8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43428B7-1751-424B-B071-671AE67FB7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554133" y="6356350"/>
            <a:ext cx="514773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D9BAAA4-B5F8-432C-A79E-D46E60DF64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50133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772F76-D3AB-4250-BA0C-25170D6A1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74638"/>
            <a:ext cx="14630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95A078-099E-41B2-A710-632284CC05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2800" y="1600200"/>
            <a:ext cx="14630400" cy="4525963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D29E29-EE54-4470-A061-49E1942BB1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6AE13B-5CD1-48B6-AFB4-CDFC9597AE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554133" y="6356350"/>
            <a:ext cx="514773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15D7A0-7A64-40EB-A57D-F2AA5A3979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50133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45F3B85-7164-4135-8174-113E76310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38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1E431C-D8A0-43D5-B42B-42111F2C7C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38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2C03DE-08E1-4F0B-9FE3-FEA7A3E3E1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12800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A27C69-AA95-4100-9127-B348F9D9A5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554133" y="6356350"/>
            <a:ext cx="514773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ACC323-CC5B-4C2C-830E-D3E2505551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50133" y="6356350"/>
            <a:ext cx="379306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fceff56b4041be" /><Relationship Type="http://schemas.openxmlformats.org/officeDocument/2006/relationships/slideLayout" Target="/ppt/slideLayouts/slideLayout1.xml" Id="R4ac6c11c5b30423d" /><Relationship Type="http://schemas.openxmlformats.org/officeDocument/2006/relationships/slideLayout" Target="/ppt/slideLayouts/slideLayout2.xml" Id="R9595a3ecfa814866" /><Relationship Type="http://schemas.openxmlformats.org/officeDocument/2006/relationships/slideLayout" Target="/ppt/slideLayouts/slideLayout3.xml" Id="Rbf318f9a6eff4d21" /><Relationship Type="http://schemas.openxmlformats.org/officeDocument/2006/relationships/slideLayout" Target="/ppt/slideLayouts/slideLayout4.xml" Id="Racb929c2151349d1" /><Relationship Type="http://schemas.openxmlformats.org/officeDocument/2006/relationships/slideLayout" Target="/ppt/slideLayouts/slideLayout5.xml" Id="R9ec1522b46ff45ba" /><Relationship Type="http://schemas.openxmlformats.org/officeDocument/2006/relationships/slideLayout" Target="/ppt/slideLayouts/slideLayout6.xml" Id="Rf856de625c884130" /><Relationship Type="http://schemas.openxmlformats.org/officeDocument/2006/relationships/slideLayout" Target="/ppt/slideLayouts/slideLayout7.xml" Id="R437f42027ac64efd" /><Relationship Type="http://schemas.openxmlformats.org/officeDocument/2006/relationships/slideLayout" Target="/ppt/slideLayouts/slideLayout8.xml" Id="R1ef5fedacb714947" /><Relationship Type="http://schemas.openxmlformats.org/officeDocument/2006/relationships/slideLayout" Target="/ppt/slideLayouts/slideLayout9.xml" Id="R259bd2741c534d63" /><Relationship Type="http://schemas.openxmlformats.org/officeDocument/2006/relationships/slideLayout" Target="/ppt/slideLayouts/slideLayout10.xml" Id="Rd1c7716f634d4633" /><Relationship Type="http://schemas.openxmlformats.org/officeDocument/2006/relationships/slideLayout" Target="/ppt/slideLayouts/slideLayout11.xml" Id="Ra305a0c1a5d74cd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1C8D891-3338-4507-AF5C-E7B5136F75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600" y="330200"/>
            <a:ext cx="10718800" cy="81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608591-56ED-4389-9472-3963ABCD6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600" y="1396999"/>
            <a:ext cx="10718800" cy="482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111364-EBBB-485F-8069-9D4DB251EDA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0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38E074-63F3-418E-B399-B9E24835394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36600" y="6388100"/>
            <a:ext cx="914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F51B56-8237-400C-B44D-CDD939A3C1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439400" y="6388100"/>
            <a:ext cx="101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c6c11c5b30423d"/>
    <p:sldLayoutId xmlns:r="http://schemas.openxmlformats.org/officeDocument/2006/relationships" id="2147483650" r:id="R9595a3ecfa814866"/>
    <p:sldLayoutId xmlns:r="http://schemas.openxmlformats.org/officeDocument/2006/relationships" id="2147483651" r:id="Rbf318f9a6eff4d21"/>
    <p:sldLayoutId xmlns:r="http://schemas.openxmlformats.org/officeDocument/2006/relationships" id="2147483652" r:id="Racb929c2151349d1"/>
    <p:sldLayoutId xmlns:r="http://schemas.openxmlformats.org/officeDocument/2006/relationships" id="2147483653" r:id="R9ec1522b46ff45ba"/>
    <p:sldLayoutId xmlns:r="http://schemas.openxmlformats.org/officeDocument/2006/relationships" id="2147483654" r:id="Rf856de625c884130"/>
    <p:sldLayoutId xmlns:r="http://schemas.openxmlformats.org/officeDocument/2006/relationships" id="2147483655" r:id="R437f42027ac64efd"/>
    <p:sldLayoutId xmlns:r="http://schemas.openxmlformats.org/officeDocument/2006/relationships" id="2147483656" r:id="R1ef5fedacb714947"/>
    <p:sldLayoutId xmlns:r="http://schemas.openxmlformats.org/officeDocument/2006/relationships" id="2147483657" r:id="R259bd2741c534d63"/>
    <p:sldLayoutId xmlns:r="http://schemas.openxmlformats.org/officeDocument/2006/relationships" id="2147483658" r:id="Rd1c7716f634d4633"/>
    <p:sldLayoutId xmlns:r="http://schemas.openxmlformats.org/officeDocument/2006/relationships" id="2147483659" r:id="Ra305a0c1a5d74cd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3200" b="1" kern="1200">
          <a:solidFill>
            <a:srgbClr val="000000"/>
          </a:solidFill>
          <a:latin typeface="Times New Roman"/>
          <a:ea typeface="Times New Roman"/>
          <a:cs typeface="Times New Roman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2400" b="0" kern="1200">
          <a:solidFill>
            <a:srgbClr val="000000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200" b="0" kern="1200">
          <a:solidFill>
            <a:srgbClr val="000000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000" b="0" kern="1200">
          <a:solidFill>
            <a:srgbClr val="000000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1800" b="0" kern="1200">
          <a:solidFill>
            <a:srgbClr val="000000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1800" b="0" kern="1200">
          <a:solidFill>
            <a:srgbClr val="000000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77b856e9a24114" /><Relationship Type="http://schemas.openxmlformats.org/officeDocument/2006/relationships/image" Target="/ppt/media/image.png" Id="R2dc2bb3e2dc740e9" /><Relationship Type="http://schemas.openxmlformats.org/officeDocument/2006/relationships/image" Target="/ppt/media/image2.png" Id="Rcaeabe3397f148ef" /><Relationship Type="http://schemas.openxmlformats.org/officeDocument/2006/relationships/image" Target="/ppt/media/image3.png" Id="R3b4fe73e5399405f" /><Relationship Type="http://schemas.openxmlformats.org/officeDocument/2006/relationships/notesSlide" Target="/ppt/notesSlides/notesSlide1.xml" Id="R07d562f50a1840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102c0b3db34f76" /><Relationship Type="http://schemas.openxmlformats.org/officeDocument/2006/relationships/notesSlide" Target="/ppt/notesSlides/notesSlide2.xml" Id="Ra12d051cdb3746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01e758f9a74457" /><Relationship Type="http://schemas.openxmlformats.org/officeDocument/2006/relationships/notesSlide" Target="/ppt/notesSlides/notesSlide3.xml" Id="R6ac094e7788141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6b790117524f8a" /><Relationship Type="http://schemas.openxmlformats.org/officeDocument/2006/relationships/notesSlide" Target="/ppt/notesSlides/notesSlide4.xml" Id="R4b40d1ba599c47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63bdb02f0b475a" /><Relationship Type="http://schemas.openxmlformats.org/officeDocument/2006/relationships/notesSlide" Target="/ppt/notesSlides/notesSlide5.xml" Id="Rf91d48fa631c4c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4ba8670eb3480c" /><Relationship Type="http://schemas.openxmlformats.org/officeDocument/2006/relationships/notesSlide" Target="/ppt/notesSlides/notesSlide6.xml" Id="R064ca103dcaa46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220cbd891b469e" /><Relationship Type="http://schemas.openxmlformats.org/officeDocument/2006/relationships/notesSlide" Target="/ppt/notesSlides/notesSlide7.xml" Id="Rb3236cf6a71f48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979d01a554151" /><Relationship Type="http://schemas.openxmlformats.org/officeDocument/2006/relationships/notesSlide" Target="/ppt/notesSlides/notesSlide8.xml" Id="Rcefb8fc49acc4d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9ffc77c5414eb1" /><Relationship Type="http://schemas.openxmlformats.org/officeDocument/2006/relationships/notesSlide" Target="/ppt/notesSlides/notesSlide9.xml" Id="R032b580d45464c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8fb0b66184590" /><Relationship Type="http://schemas.openxmlformats.org/officeDocument/2006/relationships/notesSlide" Target="/ppt/notesSlides/notesSlide10.xml" Id="R9082c941199040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dd82df719424b" /><Relationship Type="http://schemas.openxmlformats.org/officeDocument/2006/relationships/notesSlide" Target="/ppt/notesSlides/notesSlide11.xml" Id="R4d527ea267c447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934605bcb4e97" /><Relationship Type="http://schemas.openxmlformats.org/officeDocument/2006/relationships/notesSlide" Target="/ppt/notesSlides/notesSlide12.xml" Id="R45fff9ffed5d47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8a6c3484c4d50" /><Relationship Type="http://schemas.openxmlformats.org/officeDocument/2006/relationships/notesSlide" Target="/ppt/notesSlides/notesSlide13.xml" Id="R9bda13d91cd34b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b47ab0eb342d3" /><Relationship Type="http://schemas.openxmlformats.org/officeDocument/2006/relationships/notesSlide" Target="/ppt/notesSlides/notesSlide14.xml" Id="R71f517451d7346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3dbc8b8a64ccb" /><Relationship Type="http://schemas.openxmlformats.org/officeDocument/2006/relationships/notesSlide" Target="/ppt/notesSlides/notesSlide15.xml" Id="Rf9647699703347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489bc074c4729" /><Relationship Type="http://schemas.openxmlformats.org/officeDocument/2006/relationships/notesSlide" Target="/ppt/notesSlides/notesSlide16.xml" Id="Ra316ff59af5647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be6e848e34f81" /><Relationship Type="http://schemas.openxmlformats.org/officeDocument/2006/relationships/notesSlide" Target="/ppt/notesSlides/notesSlide17.xml" Id="Rbf1af10112bd43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942bdd9e74cd1" /><Relationship Type="http://schemas.openxmlformats.org/officeDocument/2006/relationships/notesSlide" Target="/ppt/notesSlides/notesSlide18.xml" Id="R334fb2eff1a640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bee5ec3b948c6" /><Relationship Type="http://schemas.openxmlformats.org/officeDocument/2006/relationships/notesSlide" Target="/ppt/notesSlides/notesSlide19.xml" Id="R994b5aae7bfb410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flip="none" rotWithShape="1">
          <a:gsLst>
            <a:gs pos="0">
              <a:srgbClr val="66FFFF"/>
            </a:gs>
            <a:gs pos="54000">
              <a:srgbClr val="AEEACF"/>
            </a:gs>
            <a:gs pos="100000">
              <a:schemeClr val="accent3">
                <a:lumMod val="20000"/>
                <a:lumOff val="80000"/>
              </a:schemeClr>
            </a:gs>
          </a:gsLst>
          <a:lin ang="5400000" scaled="0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VTU emblem">
            <a:extLst xmlns:a="http://schemas.openxmlformats.org/drawingml/2006/main">
              <a:ext uri="{FF2B5EF4-FFF2-40B4-BE49-F238E27FC236}">
                <a16:creationId xmlns:a16="http://schemas.microsoft.com/office/drawing/2014/main" id="{C54A0858-41B5-45F5-AA41-4CED60EED0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2bb3e2dc740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31520" y="405727"/>
            <a:ext cx="1153058" cy="1039155"/>
          </a:xfrm>
          <a:prstGeom xmlns:a="http://schemas.openxmlformats.org/drawingml/2006/main" prst="rect">
            <a:avLst/>
          </a:prstGeom>
        </p:spPr>
      </p:pic>
      <p:pic>
        <p:nvPicPr>
          <p:cNvPr id="4" name="AIT emblem">
            <a:extLst xmlns:a="http://schemas.openxmlformats.org/drawingml/2006/main">
              <a:ext uri="{FF2B5EF4-FFF2-40B4-BE49-F238E27FC236}">
                <a16:creationId xmlns:a16="http://schemas.microsoft.com/office/drawing/2014/main" id="{21E97B63-C6F4-4637-9302-06EA18DB6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abe3397f148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314214" y="405727"/>
            <a:ext cx="1146266" cy="1039155"/>
          </a:xfrm>
          <a:prstGeom xmlns:a="http://schemas.openxmlformats.org/drawingml/2006/main" prst="rect">
            <a:avLst/>
          </a:prstGeom>
        </p:spPr>
      </p:pic>
      <p:sp>
        <p:nvSpPr>
          <p:cNvPr id="5" name="College text">
            <a:extLst xmlns:a="http://schemas.openxmlformats.org/drawingml/2006/main">
              <a:ext uri="{FF2B5EF4-FFF2-40B4-BE49-F238E27FC236}">
                <a16:creationId xmlns:a16="http://schemas.microsoft.com/office/drawing/2014/main" id="{8C894D4A-2ACC-41F6-B41F-1B917E7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4560" y="365760"/>
            <a:ext cx="7802880" cy="1119091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|| Jai Sri Gurudev ||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ADICHUNCHANAGIRI INSTITUTE OF TECHNOLOGY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(Affiliated to Visvesvaraya Technological University, Belagavi  |  Accredited by NAAC)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Chikkamagaluru – 577 102, Karnataka</a:t>
            </a:r>
          </a:p>
        </p:txBody>
      </p:sp>
      <p:sp>
        <p:nvSpPr>
          <p:cNvPr id="6" name="Department">
            <a:extLst xmlns:a="http://schemas.openxmlformats.org/drawingml/2006/main">
              <a:ext uri="{FF2B5EF4-FFF2-40B4-BE49-F238E27FC236}">
                <a16:creationId xmlns:a16="http://schemas.microsoft.com/office/drawing/2014/main" id="{123B3486-3F43-44A3-9734-B051E3B8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67731"/>
            <a:ext cx="10728960" cy="9592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800"/>
              </a:spcAft>
              <a:buNone/>
            </a:pPr>
            <a:r>
              <a:rPr sz="20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DEPARTMENT OF ARTIFICIAL INTELLIGENCE AND MACHINE LEARNING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MINI PROJECT SYNOPSIS PRESENTATION [BAI586]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7" name="Project title">
            <a:extLst xmlns:a="http://schemas.openxmlformats.org/drawingml/2006/main">
              <a:ext uri="{FF2B5EF4-FFF2-40B4-BE49-F238E27FC236}">
                <a16:creationId xmlns:a16="http://schemas.microsoft.com/office/drawing/2014/main" id="{80B61BFD-D099-45CC-99C6-68A67BB0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79" y="2576378"/>
            <a:ext cx="10728960" cy="98488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>
                <a:latin typeface="Times New Roman"/>
                <a:ea typeface="Times New Roman"/>
                <a:cs typeface="Times New Roman"/>
              </a:rPr>
              <a:t>DEVELOPMENT OF AN IOT AND AI-ENABLED ROVER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>
                <a:latin typeface="Times New Roman"/>
                <a:ea typeface="Times New Roman"/>
                <a:cs typeface="Times New Roman"/>
              </a:rPr>
              <a:t>FOR REAL-TIME CROP HEALTH MONITORING</a:t>
            </a:r>
            <a:endParaRPr sz="2400" b="1" i="0" u="none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</a:rPr>
              <a:t>Academic Year : 2026 – 2027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Guide">
            <a:extLst xmlns:a="http://schemas.openxmlformats.org/drawingml/2006/main">
              <a:ext uri="{FF2B5EF4-FFF2-40B4-BE49-F238E27FC236}">
                <a16:creationId xmlns:a16="http://schemas.microsoft.com/office/drawing/2014/main" id="{170D8694-20F8-450C-8F5B-F4B59323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79" y="4686418"/>
            <a:ext cx="3573044" cy="13901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Under the guidance of</a:t>
            </a:r>
            <a:r>
              <a:rPr sz="16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  <a:p xmlns:a="http://schemas.openxmlformats.org/drawingml/2006/main">
            <a:pPr lvl="1">
              <a:spcAft>
                <a:spcPts val="200"/>
              </a:spcAft>
              <a:buNone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Ms.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Sathyabhama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R, </a:t>
            </a:r>
            <a:r>
              <a:rPr sz="1600" b="1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B.E., </a:t>
            </a:r>
            <a:r>
              <a:rPr sz="1600" b="1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M.Tech</a:t>
            </a:r>
            <a:endParaRPr sz="1600" b="1" i="0" u="none" baseline="-250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spcAft>
                <a:spcPts val="200"/>
              </a:spcAft>
              <a:buNone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Assistant Professor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spcAft>
                <a:spcPts val="200"/>
              </a:spcAft>
              <a:buNone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Dept. of AI &amp; ML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buNone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AIT, Chikkamagaluru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am">
            <a:extLst xmlns:a="http://schemas.openxmlformats.org/drawingml/2006/main">
              <a:ext uri="{FF2B5EF4-FFF2-40B4-BE49-F238E27FC236}">
                <a16:creationId xmlns:a16="http://schemas.microsoft.com/office/drawing/2014/main" id="{D69525BD-EC67-4728-8F5C-2A0D394E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060" y="4695567"/>
            <a:ext cx="3749039" cy="21595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Presented by</a:t>
            </a:r>
            <a:r>
              <a:rPr sz="16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  <a:p xmlns:a="http://schemas.openxmlformats.org/drawingml/2006/main">
            <a:pPr lvl="1">
              <a:spcAft>
                <a:spcPts val="200"/>
              </a:spcAft>
              <a:buNone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Navyashree B H  (4AI24AI035),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spcAft>
                <a:spcPts val="200"/>
              </a:spcAft>
              <a:buNone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Shreyas R S  (4AI24AI048),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spcAft>
                <a:spcPts val="200"/>
              </a:spcAft>
              <a:buNone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Sumaiya Firdoes  (4AI24AI051),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buNone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Tejaswini D  (4AI24AI055),</a:t>
            </a:r>
          </a:p>
          <a:p xmlns:a="http://schemas.openxmlformats.org/drawingml/2006/main">
            <a:pPr lvl="1">
              <a:buNone/>
            </a:pPr>
            <a:r>
              <a:rPr sz="1600">
                <a:solidFill>
                  <a:srgbClr val="000000"/>
                </a:solidFill>
              </a:rPr>
              <a:t>5th Semester, </a:t>
            </a:r>
          </a:p>
          <a:p xmlns:a="http://schemas.openxmlformats.org/drawingml/2006/main">
            <a:pPr lvl="1">
              <a:buNone/>
            </a:pPr>
            <a:r>
              <a:rPr sz="1600">
                <a:solidFill>
                  <a:srgbClr val="000000"/>
                </a:solidFill>
              </a:rPr>
              <a:t>Dept. of AI &amp; ML,</a:t>
            </a:r>
          </a:p>
          <a:p xmlns:a="http://schemas.openxmlformats.org/drawingml/2006/main">
            <a:pPr lvl="1">
              <a:buNone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AIT, Chikkamagaluru.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DAB0B6C5-D283-4A41-85EC-D2E4F635CF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fe73e539940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9913" y="3684639"/>
            <a:ext cx="2672174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775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B96A4A-E444-F8EF-2AF6-084827D751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PRESENTATION OUTLINE</a:t>
            </a:r>
          </a:p>
        </p:txBody>
      </p:sp>
      <p:sp>
        <p:nvSpPr>
          <p:cNvPr id="3" name="Agenda - left">
            <a:extLst xmlns:a="http://schemas.openxmlformats.org/drawingml/2006/main">
              <a:ext uri="{FF2B5EF4-FFF2-40B4-BE49-F238E27FC236}">
                <a16:creationId xmlns:a16="http://schemas.microsoft.com/office/drawing/2014/main" id="{592A8C46-9DF0-CC40-7C00-D8E39F91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4318000" cy="40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defPPr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Abstract and project context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problem and objectives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Related work and project scope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rover and data flow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Methodology</a:t>
            </a:r>
          </a:p>
        </p:txBody>
      </p:sp>
      <p:sp>
        <p:nvSpPr>
          <p:cNvPr id="4" name="Agenda - right">
            <a:extLst xmlns:a="http://schemas.openxmlformats.org/drawingml/2006/main">
              <a:ext uri="{FF2B5EF4-FFF2-40B4-BE49-F238E27FC236}">
                <a16:creationId xmlns:a16="http://schemas.microsoft.com/office/drawing/2014/main" id="{1655749A-9FDE-4833-85DF-70723E6A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334000" cy="40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defPPr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Hardware and software stack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Applications and expected outcomes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F19CF6-9BFA-A64E-B502-919EF0680F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5BC06A-7B4E-4871-6CF5-C48292E064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E2598689-54C9-18A7-3A19-ED76AA08988F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13002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96648C-282A-8A23-8055-6EEDA46684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ABSTRACT</a:t>
            </a:r>
          </a:p>
        </p:txBody>
      </p:sp>
      <p:sp>
        <p:nvSpPr>
          <p:cNvPr id="3" name="Abstract text">
            <a:extLst xmlns:a="http://schemas.openxmlformats.org/drawingml/2006/main">
              <a:ext uri="{FF2B5EF4-FFF2-40B4-BE49-F238E27FC236}">
                <a16:creationId xmlns:a16="http://schemas.microsoft.com/office/drawing/2014/main" id="{F95542AD-3121-12A4-FF9B-88DF2EE7E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36600" y="1524000"/>
            <a:ext cx="10718800" cy="4572000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defPPr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92100" indent="-127000">
              <a:spcAft>
                <a:spcPts val="12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Crop diseases, water stress and changing weather can develop before manual inspection notices them.</a:t>
            </a:r>
          </a:p>
          <a:p xmlns:a="http://schemas.openxmlformats.org/drawingml/2006/main">
            <a:pPr marL="292100" indent="-127000">
              <a:spcAft>
                <a:spcPts val="12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proposed rover combines field sensors, an ESP-CAM module and mobile inspection to capture crop and environmental data.</a:t>
            </a:r>
          </a:p>
          <a:p xmlns:a="http://schemas.openxmlformats.org/drawingml/2006/main">
            <a:pPr marL="292100" indent="-127000">
              <a:spcAft>
                <a:spcPts val="12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 controllers transmit readings and images over Wi-Fi to a backend that stores data and runs AI-assisted analysis.</a:t>
            </a:r>
          </a:p>
          <a:p xmlns:a="http://schemas.openxmlformats.org/drawingml/2006/main">
            <a:pPr marL="292100" indent="-127000">
              <a:spcAft>
                <a:spcPts val="12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web and mobile interface presents field status, alerts and irrigation guidance for farmer decision support.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E8291AE-F5A5-7C95-9DE7-F61E0775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965E70B-80A4-4D51-58C8-195F57F540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202359C0-8A7A-196E-DD58-8E6569619F09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09712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A90063-5F12-3F81-0B31-FADDDE9A1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Introduction text">
            <a:extLst xmlns:a="http://schemas.openxmlformats.org/drawingml/2006/main">
              <a:ext uri="{FF2B5EF4-FFF2-40B4-BE49-F238E27FC236}">
                <a16:creationId xmlns:a16="http://schemas.microsoft.com/office/drawing/2014/main" id="{AFFE8616-5FE6-5DB0-2181-72442B0D21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36600" y="1422400"/>
            <a:ext cx="10718800" cy="4762500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defPPr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92100" indent="-127000">
              <a:spcAft>
                <a:spcPts val="11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Timely awareness of crop and field conditions supports agricultural productivity and food security.</a:t>
            </a:r>
          </a:p>
          <a:p xmlns:a="http://schemas.openxmlformats.org/drawingml/2006/main">
            <a:pPr marL="292100" indent="-127000">
              <a:spcAft>
                <a:spcPts val="11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Manual inspection is labour-intensive, difficult to scale and may miss emerging risks in remote areas.</a:t>
            </a:r>
          </a:p>
          <a:p xmlns:a="http://schemas.openxmlformats.org/drawingml/2006/main">
            <a:pPr marL="292100" indent="-127000">
              <a:spcAft>
                <a:spcPts val="11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sensors can measure soil and environmental conditions continuously at low cost.</a:t>
            </a:r>
          </a:p>
          <a:p xmlns:a="http://schemas.openxmlformats.org/drawingml/2006/main">
            <a:pPr marL="292100" indent="-127000">
              <a:spcAft>
                <a:spcPts val="11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mobile rover brings sensors and a camera close to crops, while AI helps interpret images and readings.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4C62C94-0C5F-5988-CA5C-3ED63736B6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E8EB887-766D-1DAC-D472-58A23B3BD5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EFD6AB9A-5F9E-5F59-51AB-3C8734130965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46271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2B8860-FD6C-E511-E8B1-79F4ED9C41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SYSTEM OVERVIEW</a:t>
            </a:r>
            <a:endParaRPr/>
          </a:p>
        </p:txBody>
      </p:sp>
      <p:sp>
        <p:nvSpPr>
          <p:cNvPr id="3" name="Overview text">
            <a:extLst xmlns:a="http://schemas.openxmlformats.org/drawingml/2006/main">
              <a:ext uri="{FF2B5EF4-FFF2-40B4-BE49-F238E27FC236}">
                <a16:creationId xmlns:a16="http://schemas.microsoft.com/office/drawing/2014/main" id="{03BF2D55-FDF5-D4FE-CF8B-9CDA018F13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36600" y="1270000"/>
            <a:ext cx="10718800" cy="2222500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defPPr>
              <a:defRPr sz="17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92100" indent="-127000">
              <a:spcAft>
                <a:spcPts val="800"/>
              </a:spcAft>
              <a:buChar char="•"/>
              <a:defRPr sz="17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mobile rover carries environmental sensors, ultrasonic obstacle sensors and an ESP-CAM module.</a:t>
            </a:r>
          </a:p>
          <a:p xmlns:a="http://schemas.openxmlformats.org/drawingml/2006/main">
            <a:pPr marL="292100" indent="-127000">
              <a:spcAft>
                <a:spcPts val="800"/>
              </a:spcAft>
              <a:buChar char="•"/>
              <a:defRPr sz="17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 controllers collect readings, control movement and transmit rover status by Wi-Fi.</a:t>
            </a:r>
          </a:p>
          <a:p xmlns:a="http://schemas.openxmlformats.org/drawingml/2006/main">
            <a:pPr marL="292100" indent="-127000">
              <a:spcAft>
                <a:spcPts val="800"/>
              </a:spcAft>
              <a:buChar char="•"/>
              <a:defRPr sz="17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Node.js and Express services store data in MongoDB, combine it with weather information and call Python-based analysis.</a:t>
            </a:r>
          </a:p>
        </p:txBody>
      </p:sp>
      <p:sp>
        <p:nvSpPr>
          <p:cNvPr id="4" name="Fig1 - Agricultural Field">
            <a:extLst xmlns:a="http://schemas.openxmlformats.org/drawingml/2006/main">
              <a:ext uri="{FF2B5EF4-FFF2-40B4-BE49-F238E27FC236}">
                <a16:creationId xmlns:a16="http://schemas.microsoft.com/office/drawing/2014/main" id="{73E7AAE3-CBBC-16EB-3CE9-9D8F1C25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600" y="3708400"/>
            <a:ext cx="187960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Agricultural Field</a:t>
            </a:r>
          </a:p>
        </p:txBody>
      </p:sp>
      <p:sp>
        <p:nvSpPr>
          <p:cNvPr id="5" name="Fig1 - Sensors &amp; ESP-CAM">
            <a:extLst xmlns:a="http://schemas.openxmlformats.org/drawingml/2006/main">
              <a:ext uri="{FF2B5EF4-FFF2-40B4-BE49-F238E27FC236}">
                <a16:creationId xmlns:a16="http://schemas.microsoft.com/office/drawing/2014/main" id="{32ADCF10-4CAF-E5AF-7204-C3B5B78B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6400" y="3708400"/>
            <a:ext cx="187960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Sensors &amp; ESP-CAM</a:t>
            </a:r>
          </a:p>
        </p:txBody>
      </p:sp>
      <p:sp>
        <p:nvSpPr>
          <p:cNvPr id="6" name="Fig1 - ESP32 Controller">
            <a:extLst xmlns:a="http://schemas.openxmlformats.org/drawingml/2006/main">
              <a:ext uri="{FF2B5EF4-FFF2-40B4-BE49-F238E27FC236}">
                <a16:creationId xmlns:a16="http://schemas.microsoft.com/office/drawing/2014/main" id="{A2F6DA20-1768-3C30-C891-91775B2D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56200" y="3708400"/>
            <a:ext cx="187960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 Controller</a:t>
            </a:r>
          </a:p>
        </p:txBody>
      </p:sp>
      <p:sp>
        <p:nvSpPr>
          <p:cNvPr id="7" name="Fig1 - IoT Communication">
            <a:extLst xmlns:a="http://schemas.openxmlformats.org/drawingml/2006/main">
              <a:ext uri="{FF2B5EF4-FFF2-40B4-BE49-F238E27FC236}">
                <a16:creationId xmlns:a16="http://schemas.microsoft.com/office/drawing/2014/main" id="{32F56018-B8DD-9943-F34F-94BE72A8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6000" y="3708400"/>
            <a:ext cx="187960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Communication</a:t>
            </a:r>
          </a:p>
        </p:txBody>
      </p:sp>
      <p:sp>
        <p:nvSpPr>
          <p:cNvPr id="8" name="Fig1 - Backend Server">
            <a:extLst xmlns:a="http://schemas.openxmlformats.org/drawingml/2006/main">
              <a:ext uri="{FF2B5EF4-FFF2-40B4-BE49-F238E27FC236}">
                <a16:creationId xmlns:a16="http://schemas.microsoft.com/office/drawing/2014/main" id="{F7231AFA-D941-7FBB-9583-60748CE0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5800" y="3708400"/>
            <a:ext cx="187960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 Server</a:t>
            </a:r>
          </a:p>
        </p:txBody>
      </p:sp>
      <p:sp>
        <p:nvSpPr>
          <p:cNvPr id="9" name="Fig1 - AI / Data Analysis">
            <a:extLst xmlns:a="http://schemas.openxmlformats.org/drawingml/2006/main">
              <a:ext uri="{FF2B5EF4-FFF2-40B4-BE49-F238E27FC236}">
                <a16:creationId xmlns:a16="http://schemas.microsoft.com/office/drawing/2014/main" id="{B21A30BA-C5BF-A079-4017-BA08FADC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5800" y="4927600"/>
            <a:ext cx="187960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/ Data Analysis</a:t>
            </a:r>
          </a:p>
        </p:txBody>
      </p:sp>
      <p:sp>
        <p:nvSpPr>
          <p:cNvPr id="10" name="Fig1 - MongoDB Database">
            <a:extLst xmlns:a="http://schemas.openxmlformats.org/drawingml/2006/main">
              <a:ext uri="{FF2B5EF4-FFF2-40B4-BE49-F238E27FC236}">
                <a16:creationId xmlns:a16="http://schemas.microsoft.com/office/drawing/2014/main" id="{813CDD63-8C83-28A0-02DF-3F936795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6000" y="4927600"/>
            <a:ext cx="187960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MongoDB Database</a:t>
            </a:r>
          </a:p>
        </p:txBody>
      </p:sp>
      <p:sp>
        <p:nvSpPr>
          <p:cNvPr id="11" name="Fig1 - Web / Mobile Interface">
            <a:extLst xmlns:a="http://schemas.openxmlformats.org/drawingml/2006/main">
              <a:ext uri="{FF2B5EF4-FFF2-40B4-BE49-F238E27FC236}">
                <a16:creationId xmlns:a16="http://schemas.microsoft.com/office/drawing/2014/main" id="{A9B1FF83-BF1F-578D-7641-F0E1A2F9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56200" y="4927600"/>
            <a:ext cx="187960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 / Mobile Interface</a:t>
            </a:r>
          </a:p>
        </p:txBody>
      </p:sp>
      <p:sp>
        <p:nvSpPr>
          <p:cNvPr id="12" name="Fig1 - Alerts &amp; Insights">
            <a:extLst xmlns:a="http://schemas.openxmlformats.org/drawingml/2006/main">
              <a:ext uri="{FF2B5EF4-FFF2-40B4-BE49-F238E27FC236}">
                <a16:creationId xmlns:a16="http://schemas.microsoft.com/office/drawing/2014/main" id="{B3DE431E-4F05-DD46-34BB-335FD694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6400" y="4927600"/>
            <a:ext cx="187960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Alerts &amp; Insights</a:t>
            </a:r>
          </a:p>
        </p:txBody>
      </p:sp>
      <p:cxnSp>
        <p:nvCxnSpPr>
          <p:cNvPr id="13" name="Fig1 - arrow 1">
            <a:extLst xmlns:a="http://schemas.openxmlformats.org/drawingml/2006/main">
              <a:ext uri="{FF2B5EF4-FFF2-40B4-BE49-F238E27FC236}">
                <a16:creationId xmlns:a16="http://schemas.microsoft.com/office/drawing/2014/main" id="{70B92366-FAE8-4EFB-8966-A23C6E6EC18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rot="0" flipH="0" flipV="0">
            <a:off x="2616200" y="4051300"/>
            <a:ext cx="33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4" name="Fig1 - arrow 2">
            <a:extLst xmlns:a="http://schemas.openxmlformats.org/drawingml/2006/main">
              <a:ext uri="{FF2B5EF4-FFF2-40B4-BE49-F238E27FC236}">
                <a16:creationId xmlns:a16="http://schemas.microsoft.com/office/drawing/2014/main" id="{F095C51A-88B7-4650-8699-A54F2471F5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rot="0" flipH="0" flipV="0">
            <a:off x="4826000" y="4051300"/>
            <a:ext cx="33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" name="Fig1 - arrow 3">
            <a:extLst xmlns:a="http://schemas.openxmlformats.org/drawingml/2006/main">
              <a:ext uri="{FF2B5EF4-FFF2-40B4-BE49-F238E27FC236}">
                <a16:creationId xmlns:a16="http://schemas.microsoft.com/office/drawing/2014/main" id="{F9F0FF00-C0B8-4BBC-B816-6558DB7D0B9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rot="0" flipH="0" flipV="0">
            <a:off x="7035800" y="4051300"/>
            <a:ext cx="33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" name="Fig1 - arrow 4">
            <a:extLst xmlns:a="http://schemas.openxmlformats.org/drawingml/2006/main">
              <a:ext uri="{FF2B5EF4-FFF2-40B4-BE49-F238E27FC236}">
                <a16:creationId xmlns:a16="http://schemas.microsoft.com/office/drawing/2014/main" id="{B4375694-6AF1-4674-826F-ACE4A0FB97A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rot="0" flipH="0" flipV="0">
            <a:off x="9245600" y="4051300"/>
            <a:ext cx="33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" name="Fig1 - arrow 5">
            <a:extLst xmlns:a="http://schemas.openxmlformats.org/drawingml/2006/main">
              <a:ext uri="{FF2B5EF4-FFF2-40B4-BE49-F238E27FC236}">
                <a16:creationId xmlns:a16="http://schemas.microsoft.com/office/drawing/2014/main" id="{88B4094A-0B88-4A83-8CA4-50CE6C3E4D71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rot="0" flipH="0" flipV="0">
            <a:off x="10515600" y="439420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8" name="Fig1 - arrow 6">
            <a:extLst xmlns:a="http://schemas.openxmlformats.org/drawingml/2006/main">
              <a:ext uri="{FF2B5EF4-FFF2-40B4-BE49-F238E27FC236}">
                <a16:creationId xmlns:a16="http://schemas.microsoft.com/office/drawing/2014/main" id="{D759A743-7D5E-4611-861C-CC794BDAEEA6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rot="0" flipH="1" flipV="0">
            <a:off x="9245600" y="5270500"/>
            <a:ext cx="33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9" name="Fig1 - arrow 7">
            <a:extLst xmlns:a="http://schemas.openxmlformats.org/drawingml/2006/main">
              <a:ext uri="{FF2B5EF4-FFF2-40B4-BE49-F238E27FC236}">
                <a16:creationId xmlns:a16="http://schemas.microsoft.com/office/drawing/2014/main" id="{0687DC91-6F86-4BC8-B0BE-7C74A68C4393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rot="0" flipH="1" flipV="0">
            <a:off x="7035800" y="5270500"/>
            <a:ext cx="33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" name="Fig1 - arrow 8">
            <a:extLst xmlns:a="http://schemas.openxmlformats.org/drawingml/2006/main">
              <a:ext uri="{FF2B5EF4-FFF2-40B4-BE49-F238E27FC236}">
                <a16:creationId xmlns:a16="http://schemas.microsoft.com/office/drawing/2014/main" id="{BD7EB4B4-3A0B-474D-A3C2-23D139D90736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rot="0" flipH="1" flipV="0">
            <a:off x="4826000" y="5270500"/>
            <a:ext cx="33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Fig1 - caption">
            <a:extLst xmlns:a="http://schemas.openxmlformats.org/drawingml/2006/main">
              <a:ext uri="{FF2B5EF4-FFF2-40B4-BE49-F238E27FC236}">
                <a16:creationId xmlns:a16="http://schemas.microsoft.com/office/drawing/2014/main" id="{7D2FCAAD-5E1D-60E5-9434-10A03270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5740400"/>
            <a:ext cx="107188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r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 1: Overall data flow of the proposed system</a:t>
            </a:r>
            <a:endParaRPr sz="1600" i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93BEAB08-B262-51A7-C3DE-16CC7D61CC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24" name="Slide Number Placeholder 23">
            <a:extLst xmlns:a="http://schemas.openxmlformats.org/drawingml/2006/main">
              <a:ext uri="{FF2B5EF4-FFF2-40B4-BE49-F238E27FC236}">
                <a16:creationId xmlns:a16="http://schemas.microsoft.com/office/drawing/2014/main" id="{19A1C21A-06F5-3393-B76F-965685E45A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EE5B3003-2C54-13C6-9832-7637201064DE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52253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A69BAF-E2A4-C12C-6505-EB2E1E4AF8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PROBLEM AND MOTIVATION</a:t>
            </a:r>
          </a:p>
        </p:txBody>
      </p:sp>
      <p:sp>
        <p:nvSpPr>
          <p:cNvPr id="3" name="Motivation text">
            <a:extLst xmlns:a="http://schemas.openxmlformats.org/drawingml/2006/main">
              <a:ext uri="{FF2B5EF4-FFF2-40B4-BE49-F238E27FC236}">
                <a16:creationId xmlns:a16="http://schemas.microsoft.com/office/drawing/2014/main" id="{7D32E17D-9D1F-1280-F820-161C8D475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36600" y="1422400"/>
            <a:ext cx="10718800" cy="4762500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defPPr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92100" indent="-127000">
              <a:spcAft>
                <a:spcPts val="12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Diseases, pests, nutrient deficiencies, water stress and environmental risks can reduce crop productivity.</a:t>
            </a:r>
          </a:p>
          <a:p xmlns:a="http://schemas.openxmlformats.org/drawingml/2006/main">
            <a:pPr marL="292100" indent="-127000">
              <a:spcAft>
                <a:spcPts val="12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Periodic manual inspection can delay early response and is difficult across large or inaccessible fields.</a:t>
            </a:r>
          </a:p>
          <a:p xmlns:a="http://schemas.openxmlformats.org/drawingml/2006/main">
            <a:pPr marL="292100" indent="-127000">
              <a:spcAft>
                <a:spcPts val="12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Farmers need reliable soil-moisture and weather information before making irrigation decisions.</a:t>
            </a:r>
          </a:p>
          <a:p xmlns:a="http://schemas.openxmlformats.org/drawingml/2006/main">
            <a:pPr marL="292100" indent="-127000">
              <a:spcAft>
                <a:spcPts val="12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field-deployable rover can provide remote observation and continuous data for timely action.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70C6527-91AA-84DC-A982-B22D225C40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63EBFF0-8352-23BA-62B1-BEB51622A7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8C630A04-5A25-9E0C-9436-126091DB86B3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65895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88AD00-7C1F-37E2-43FF-104D14AFB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</a:t>
            </a:r>
          </a:p>
        </p:txBody>
      </p:sp>
      <p:sp>
        <p:nvSpPr>
          <p:cNvPr id="3" name="Problem statement text">
            <a:extLst xmlns:a="http://schemas.openxmlformats.org/drawingml/2006/main">
              <a:ext uri="{FF2B5EF4-FFF2-40B4-BE49-F238E27FC236}">
                <a16:creationId xmlns:a16="http://schemas.microsoft.com/office/drawing/2014/main" id="{94B9404D-23E5-8CD4-C710-453B2884A8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36600" y="1422400"/>
            <a:ext cx="10718800" cy="4762500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330200" indent="-330200">
              <a:spcBef>
                <a:spcPct val="0"/>
              </a:spcBef>
              <a:spcAft>
                <a:spcPts val="1200"/>
              </a:spcAft>
              <a:buNone/>
            </a:pPr>
            <a:r>
              <a:rPr sz="2200"/>
              <a:t>Agricultural productivity is affected by crop diseases, pest infestations, nutrient deficiencies, water stress, erratic rainfall, droughts, floods, heat waves and other environmental risks.</a:t>
            </a:r>
          </a:p>
          <a:p xmlns:a="http://schemas.openxmlformats.org/drawingml/2006/main">
            <a:pPr marL="330200" indent="-330200">
              <a:spcBef>
                <a:spcPct val="0"/>
              </a:spcBef>
              <a:spcAft>
                <a:spcPts val="1200"/>
              </a:spcAft>
              <a:buNone/>
            </a:pPr>
            <a:r>
              <a:rPr sz="2200"/>
              <a:t>Conventional monitoring depends largely on periodic manual inspection, which may delay the identification of emerging problems and is difficult to scale across large or remote fields.</a:t>
            </a:r>
          </a:p>
          <a:p xmlns:a="http://schemas.openxmlformats.org/drawingml/2006/main">
            <a:pPr marL="330200" indent="-330200">
              <a:spcBef>
                <a:spcPct val="0"/>
              </a:spcBef>
              <a:spcAft>
                <a:spcPts val="1200"/>
              </a:spcAft>
              <a:buNone/>
            </a:pPr>
            <a:r>
              <a:rPr sz="2200"/>
              <a:t>There is therefore a need for a field-deployable intelligent monitoring system capable of continuously collecting and analysing crop and environmental information.</a:t>
            </a:r>
          </a:p>
          <a:p xmlns:a="http://schemas.openxmlformats.org/drawingml/2006/main">
            <a:pPr marL="330200" indent="-330200">
              <a:spcBef>
                <a:spcPct val="0"/>
              </a:spcBef>
              <a:spcAft>
                <a:spcPts val="1200"/>
              </a:spcAft>
              <a:buNone/>
            </a:pPr>
            <a:r>
              <a:rPr sz="2200"/>
              <a:t>This project develops an IoT-enabled, AI-based agricultural rover that integrates embedded sensors, camera-based monitoring, robotics, wireless communication, AI/computer vision and software analytics to provide real-time field information and actionable decision support.</a:t>
            </a:r>
            <a:endParaRPr sz="2200"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9135D0C-FCF5-1EF1-86D3-4E5918A29F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D75EEAF-2275-6CA1-CD10-5E20915DC3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3D7D1C8-AE23-AA48-DF65-C742588DBE47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27164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EDEDD5-6782-3B40-B7E4-780CB6705A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INPUT, PROCESS AND OUTPUT</a:t>
            </a:r>
          </a:p>
        </p:txBody>
      </p:sp>
      <p:sp>
        <p:nvSpPr>
          <p:cNvPr id="3" name="IPO - INPUT">
            <a:extLst xmlns:a="http://schemas.openxmlformats.org/drawingml/2006/main">
              <a:ext uri="{FF2B5EF4-FFF2-40B4-BE49-F238E27FC236}">
                <a16:creationId xmlns:a16="http://schemas.microsoft.com/office/drawing/2014/main" id="{F6DBAF6C-ED93-247B-42C1-E502A980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600" y="1651000"/>
            <a:ext cx="30988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77800" tIns="177800" rIns="152400" bIns="127000" anchor="t"/>
          <a:lstStyle xmlns:a="http://schemas.openxmlformats.org/drawingml/2006/main"/>
          <a:p xmlns:a="http://schemas.openxmlformats.org/drawingml/2006/main">
            <a:pPr marL="254000" indent="-254000" algn="ctr">
              <a:spcAft>
                <a:spcPts val="1400"/>
              </a:spcAft>
              <a:buNone/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 xmlns:a="http://schemas.openxmlformats.org/drawingml/2006/main">
            <a:pPr marL="254000" indent="-254000">
              <a:spcAft>
                <a:spcPts val="1000"/>
              </a:spcAft>
              <a:buFont typeface="+mj-lt"/>
              <a:buChar char="•"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Environmental sensor readings</a:t>
            </a:r>
          </a:p>
          <a:p xmlns:a="http://schemas.openxmlformats.org/drawingml/2006/main">
            <a:pPr marL="254000" indent="-254000">
              <a:spcAft>
                <a:spcPts val="1000"/>
              </a:spcAft>
              <a:buFont typeface="+mj-lt"/>
              <a:buChar char="•"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ESP-CAM field images</a:t>
            </a:r>
          </a:p>
          <a:p xmlns:a="http://schemas.openxmlformats.org/drawingml/2006/main">
            <a:pPr marL="254000" indent="-254000">
              <a:spcAft>
                <a:spcPts val="1000"/>
              </a:spcAft>
              <a:buFont typeface="+mj-lt"/>
              <a:buChar char="•"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External weather / environmental data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IPO - PROCESS">
            <a:extLst xmlns:a="http://schemas.openxmlformats.org/drawingml/2006/main">
              <a:ext uri="{FF2B5EF4-FFF2-40B4-BE49-F238E27FC236}">
                <a16:creationId xmlns:a16="http://schemas.microsoft.com/office/drawing/2014/main" id="{875B5FF9-AAB1-920E-A7EB-79D977AF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46600" y="1651000"/>
            <a:ext cx="30988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77800" tIns="177800" rIns="152400" bIns="127000" anchor="t"/>
          <a:lstStyle xmlns:a="http://schemas.openxmlformats.org/drawingml/2006/main"/>
          <a:p xmlns:a="http://schemas.openxmlformats.org/drawingml/2006/main">
            <a:pPr marL="254000" indent="-254000" algn="ctr">
              <a:spcAft>
                <a:spcPts val="1400"/>
              </a:spcAft>
              <a:buNone/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  <a:p xmlns:a="http://schemas.openxmlformats.org/drawingml/2006/main">
            <a:pPr marL="254000" indent="-254000">
              <a:spcAft>
                <a:spcPts val="1000"/>
              </a:spcAft>
              <a:buFont typeface="+mj-lt"/>
              <a:buChar char="•"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Embedded data acquisition</a:t>
            </a:r>
          </a:p>
          <a:p xmlns:a="http://schemas.openxmlformats.org/drawingml/2006/main">
            <a:pPr marL="254000" indent="-254000">
              <a:spcAft>
                <a:spcPts val="1000"/>
              </a:spcAft>
              <a:buFont typeface="+mj-lt"/>
              <a:buChar char="•"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Wireless transmission</a:t>
            </a:r>
          </a:p>
          <a:p xmlns:a="http://schemas.openxmlformats.org/drawingml/2006/main">
            <a:pPr marL="254000" indent="-254000">
              <a:spcAft>
                <a:spcPts val="1000"/>
              </a:spcAft>
              <a:buFont typeface="+mj-lt"/>
              <a:buChar char="•"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 processing and storage</a:t>
            </a:r>
          </a:p>
          <a:p xmlns:a="http://schemas.openxmlformats.org/drawingml/2006/main">
            <a:pPr marL="254000" indent="-254000">
              <a:spcAft>
                <a:spcPts val="1000"/>
              </a:spcAft>
              <a:buFont typeface="+mj-lt"/>
              <a:buChar char="•"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/ computer-vision-assisted analysis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IPO - OUTPUT">
            <a:extLst xmlns:a="http://schemas.openxmlformats.org/drawingml/2006/main">
              <a:ext uri="{FF2B5EF4-FFF2-40B4-BE49-F238E27FC236}">
                <a16:creationId xmlns:a16="http://schemas.microsoft.com/office/drawing/2014/main" id="{F65ED2BD-C326-4298-87A4-72249E4D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6600" y="1651000"/>
            <a:ext cx="30988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0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77800" tIns="177800" rIns="152400" bIns="127000" anchor="t"/>
          <a:lstStyle xmlns:a="http://schemas.openxmlformats.org/drawingml/2006/main"/>
          <a:p xmlns:a="http://schemas.openxmlformats.org/drawingml/2006/main">
            <a:pPr marL="254000" indent="-254000" algn="ctr">
              <a:spcAft>
                <a:spcPts val="1400"/>
              </a:spcAft>
              <a:buNone/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  <a:p xmlns:a="http://schemas.openxmlformats.org/drawingml/2006/main">
            <a:pPr marL="254000" indent="-254000">
              <a:spcAft>
                <a:spcPts val="1000"/>
              </a:spcAft>
              <a:buFont typeface="+mj-lt"/>
              <a:buChar char="•"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Real-time field status</a:t>
            </a:r>
          </a:p>
          <a:p xmlns:a="http://schemas.openxmlformats.org/drawingml/2006/main">
            <a:pPr marL="254000" indent="-254000">
              <a:spcAft>
                <a:spcPts val="1000"/>
              </a:spcAft>
              <a:buFont typeface="+mj-lt"/>
              <a:buChar char="•"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Alerts</a:t>
            </a:r>
          </a:p>
          <a:p xmlns:a="http://schemas.openxmlformats.org/drawingml/2006/main">
            <a:pPr marL="254000" indent="-254000">
              <a:spcAft>
                <a:spcPts val="1000"/>
              </a:spcAft>
              <a:buFont typeface="+mj-lt"/>
              <a:buChar char="•"/>
            </a:pPr>
            <a:r>
              <a: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Decision-support information on web and mobile interfaces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" name="IPO - arrow 1">
            <a:extLst xmlns:a="http://schemas.openxmlformats.org/drawingml/2006/main">
              <a:ext uri="{FF2B5EF4-FFF2-40B4-BE49-F238E27FC236}">
                <a16:creationId xmlns:a16="http://schemas.microsoft.com/office/drawing/2014/main" id="{7DB6CC85-3B1E-41D7-81B8-6DAA9DA719D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rot="0" flipH="0" flipV="0">
            <a:off x="3835400" y="3556000"/>
            <a:ext cx="711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" name="IPO - arrow 2">
            <a:extLst xmlns:a="http://schemas.openxmlformats.org/drawingml/2006/main">
              <a:ext uri="{FF2B5EF4-FFF2-40B4-BE49-F238E27FC236}">
                <a16:creationId xmlns:a16="http://schemas.microsoft.com/office/drawing/2014/main" id="{4D5B488F-4852-4AEC-9AF2-41157896011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rot="0" flipH="0" flipV="0">
            <a:off x="7645400" y="3556000"/>
            <a:ext cx="711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6D8726C7-8850-FC3B-5A42-C1D1FCF2B7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DDB80593-9EFB-BC11-95A9-A09A478CF7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BA58DA2A-B818-18A9-29C1-B697728D5BCE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72072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OBJECTIVES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388657AE-30A1-5A7A-6A7F-315D84436430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DA53B-3217-46F8-B21C-C52DF73E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8" y="1276350"/>
            <a:ext cx="10718768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Develop a mobile rover platform for field monitoring.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agricultural and environmental sensors with ESP32 controllers.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Capture crop and field images through the ESP-CAM module.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Transmit rover data to backend services through Wi-Fi using WebSocket or HTTP.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AI and computer vision to support analysis of crop and field conditions.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Provide a web and mobile interface for real-time monitoring, alerts and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18571888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RELATED WORK AND PROJECT GAP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B7BEEEC-A170-5376-2B6E-CB54687B0CB1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1915C-BC49-42E8-9CD9-AF26E3EE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IoT smart agriculture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B15BA-7F8E-4B22-9657-4AA20350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Wireless sensor networks monitor soil and climate parameters. Many deployments use fixed nodes with limited field coverage and no visual crop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B02AF-5AEE-44C7-8178-61B91A4C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AI crop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B0B6A-4801-43E7-847A-94E07C2F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Deep learning can identify plant diseases from leaf images. Models often use controlled data and are not connected to live field sensing.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AA3A5-BEDF-465B-8EB5-4E11CBCF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Sensor-based irrigation and robotics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023AD-AF33-46F0-8796-30A5FDB5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Soil moisture sensing supports irrigation while field robots inspect crops. Existing systems often focus on one parameter or one operation.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25811-5EA7-432A-8569-8FFCF87E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Project gap addressed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BBE10-DF35-492B-85F1-94CDB4C2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proposed prototype combines mobile sensing, field images, environmental data, backend services and farmer-facing alerts in one low-cost monitoring system.</a:t>
            </a:r>
          </a:p>
        </p:txBody>
      </p:sp>
    </p:spTree>
    <p:extLst>
      <p:ext uri="{BB962C8B-B14F-4D97-AF65-F5344CB8AC3E}">
        <p14:creationId xmlns:p14="http://schemas.microsoft.com/office/powerpoint/2010/main" val="9724106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SCOPE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30394428-F1DC-E5F6-DB0C-7DE31F3D8A23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A3875-B27C-4F54-9B45-B672B51B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4857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Rover-based field inspection with obstacle detection.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Temperature, humidity, soil moisture, rain and flame sensing.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Camera-based crop and field observation.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Wi-Fi communication with real-time web and mobile monitoring.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Historical data storage for field trend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C7C84-1DA6-4352-BAAA-DD613A42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857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AI-assisted identification of crop and field risks.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Soil-moisture and weather-based irrigation guidance.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Alerts for rainfall, heat and fire-related risks.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Autonomous navigation, GPS mapping and automated irrigation remain future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16227198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METHODOLOGY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4DB16885-0D3F-A391-B669-3211DB3B26E8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22A5F-1A4B-4536-B595-7D822A6C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620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Field acquisition and rover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0238B-1252-4771-BE6B-8229C579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24025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Sensors and the ESP-CAM collect field readings and images. ESP32 controllers manage acquisition, motor movement and obstacle detection.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19EAA-30E7-46DF-8EDE-488E394B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Communication and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370CE-8220-43B6-958E-BAC512E9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24025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rover sends sensor values, images and status to Node.js and Express services over Wi-Fi. MongoDB stores readings, image references and alert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40E85-6178-49EA-AB35-50F5FF58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AI-assisted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1968E-223F-4AA6-9ED6-EF4DD794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86200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Python and OpenCV analyze image and sensor information with relevant environmental data to identify crop and field risks.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A6F28-F35A-4296-B740-5753E5D8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Farmer decision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CF094-27E0-48C5-A09F-49273790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dashboard and mobile interface show live conditions, alerts, crop insights and irrigation recommendations for review by farmers and field staff.</a:t>
            </a:r>
          </a:p>
        </p:txBody>
      </p:sp>
    </p:spTree>
    <p:extLst>
      <p:ext uri="{BB962C8B-B14F-4D97-AF65-F5344CB8AC3E}">
        <p14:creationId xmlns:p14="http://schemas.microsoft.com/office/powerpoint/2010/main" val="7248667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HARDWARE COMPONENTS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2DD23107-4986-8758-3A93-3D74F35908CC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241D0-72A2-4508-A6A4-B4216850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Sensing and 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77A81-2789-4117-8FFD-B9862F1C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476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DHT11 sensor for air temperature and humidity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Soil moisture and rain sensors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Five-channel flame sensor for hazard detection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ESP-CAM module with servo-based positioning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Four ultrasonic sensors for obstacle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7CC63-5BD5-4DB1-9AA7-A9AB7F5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Control and mobility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CB318-94D5-4B72-88FD-CCDA8C4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476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Two ESP32 development modules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Four BO DC motors and two TB6612FNG motor drivers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Servo motors and buzzer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Rover chassis, wheels and power subsystem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Wireless controller connection through Wi-Fi</a:t>
            </a:r>
          </a:p>
        </p:txBody>
      </p:sp>
    </p:spTree>
    <p:extLst>
      <p:ext uri="{BB962C8B-B14F-4D97-AF65-F5344CB8AC3E}">
        <p14:creationId xmlns:p14="http://schemas.microsoft.com/office/powerpoint/2010/main" val="277928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SOFTWARE AND TECHNOLOGIES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327921A4-25C4-3DB4-06B1-32693CEE2241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0426F-63D1-4302-BAFD-021A7625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Embedded and communication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160D1-520C-455E-BD33-65037D8D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Embedded C/C++ runs on the ESP32 modules for sensor acquisition and motor control. Wi-Fi with WebSocket or HTTP carries real-time rover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2D7EB-1B9F-4F78-847C-7F77F150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Backend and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D0102-A22D-4EDB-A450-74EF4056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Node.js and Express receive data and provide APIs. MongoDB stores sensor readings, image references and alert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B1FF9-8918-49CA-AC4D-FB837A42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AI and computer 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B92A1-CADF-436B-A05A-8841BDFC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Python, OpenCV and suitable AI/ML models analyze crop images and sensor information to support risk identification.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77FD8-7695-4FF6-9B5B-90938B7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813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Farmer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5592D-59E6-44C9-A82D-F764563F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React and Tailwind CSS provide a responsive dashboard and mobile-friendly interface for live conditions, alerts and historical trends.</a:t>
            </a:r>
          </a:p>
        </p:txBody>
      </p:sp>
    </p:spTree>
    <p:extLst>
      <p:ext uri="{BB962C8B-B14F-4D97-AF65-F5344CB8AC3E}">
        <p14:creationId xmlns:p14="http://schemas.microsoft.com/office/powerpoint/2010/main" val="129455482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EA83FA91-883A-0168-8075-96CEB9DCA3C2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C86B9-DD20-4A44-A522-6EF8D00D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1. Field and rover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42433-4878-4CA7-9A85-6CF12A38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Crop images, environmental readings and rover status originate from the agricultural field through sensors, ESP-CAM, ESP32 controllers and motor systems.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EA246-971B-40BA-B0A6-9AEB2451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2. Communication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8CC9B-0845-42F5-BF65-BCABD9FE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Wi-Fi carries rover data to the backend. Public weather and environmental data adds context for field-condition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4C32E-D09F-4C74-BA9E-A5C6A9A8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3. Intelligence and application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97C39-0768-44D3-97C3-3F572E6F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Node.js and Express services coordinate ingestion and APIs. MongoDB stores information. Python-based analysis produces crop insights, irrigation guidance and environmental-risk alerts for the dashboard and mobile interface.</a:t>
            </a:r>
          </a:p>
        </p:txBody>
      </p:sp>
    </p:spTree>
    <p:extLst>
      <p:ext uri="{BB962C8B-B14F-4D97-AF65-F5344CB8AC3E}">
        <p14:creationId xmlns:p14="http://schemas.microsoft.com/office/powerpoint/2010/main" val="16081600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APPLICATIONS AND EXPECTED OUTCOMES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C9C7607-4BA3-B4DC-A00F-2E67A9FCFF7E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ED4E4-4AC5-4A33-895E-07F78A2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Practical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FC143-531C-49F0-8F22-7F3D8803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Agricultural field monitoring and remote inspection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Soil moisture monitoring and irrigation decision support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Early awareness of crop and environmental risks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Historical field review for precision-agriculture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CD88F-DE04-4392-93FC-CE424FBB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Expected project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BB635-729E-466C-9AFF-213C74F0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Working rover prototype with environmental sensing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communication and MongoDB data management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Camera-based field observation with AI-assisted analysis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 and mobile monitoring interface with alerts</a:t>
            </a:r>
          </a:p>
        </p:txBody>
      </p:sp>
    </p:spTree>
    <p:extLst>
      <p:ext uri="{BB962C8B-B14F-4D97-AF65-F5344CB8AC3E}">
        <p14:creationId xmlns:p14="http://schemas.microsoft.com/office/powerpoint/2010/main" val="17220926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90F7333B-44AC-F7E9-D49D-FE92F45E0477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93E7B-EF9B-49D5-B93B-8F62D847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8" y="1276350"/>
            <a:ext cx="10718768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Autonomous navigation and path planning for systematic field coverage.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GPS-based field mapping and a digital representation of the farm.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Advanced disease and pest detection models with stronger edge AI capabilities.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Automated irrigation control based on sensor data and predictions.</a:t>
            </a:r>
          </a:p>
          <a:p xmlns:a="http://schemas.openxmlformats.org/drawingml/2006/main">
            <a:pPr marL="266700" indent="-127000" algn="l">
              <a:spcAft>
                <a:spcPts val="900"/>
              </a:spcAft>
              <a:buChar char="•"/>
              <a:def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Drone integration, multi-rover deployment and multilingual farmer assistance.</a:t>
            </a:r>
          </a:p>
        </p:txBody>
      </p:sp>
    </p:spTree>
    <p:extLst>
      <p:ext uri="{BB962C8B-B14F-4D97-AF65-F5344CB8AC3E}">
        <p14:creationId xmlns:p14="http://schemas.microsoft.com/office/powerpoint/2010/main" val="45515235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B1C6C81E-38B9-7560-621D-5A151A79DF9B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29823-E6BB-4D8B-8E1D-2CB19487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4953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A. Tzounis et al., "Internet of Things in agriculture, recent advances and future challenges," Biosystems Engineering, 2017.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O. Elijah et al., "An overview of Internet of Things and data analytics in agriculture," IEEE IoT Journal, 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S. P. Mohanty, D. P. Hughes and M. Salathé, "Using deep learning for image-based plant disease detection," Frontiers in Plant Science, 2016.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K. P. Ferentinos, "Deep learning models for plant disease detection and diagnosis," Computers and Electronics in Agriculture, 2018.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58902-4EE9-4317-BD96-06D76F7D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4476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M. Ayaz et al., "IoT-based smart agriculture: Toward making the fields talk," IEEE Access, 2019.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A. Bechar and C. Vigneault, "Agricultural robots for field operations," Biosystems Engineering, 2016.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[7] W. Shi et al., "Edge computing: Vision and challenges," IEEE IoT Journal, 2016.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[8] S. Wolfert et al., "Big data in smart farming: A review," Agricultural Systems, 2017.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[9] G. Bradski, "The OpenCV Library," Dr. Dobb's Journal of Software Tools, 2000.</a:t>
            </a:r>
          </a:p>
        </p:txBody>
      </p:sp>
    </p:spTree>
    <p:extLst>
      <p:ext uri="{BB962C8B-B14F-4D97-AF65-F5344CB8AC3E}">
        <p14:creationId xmlns:p14="http://schemas.microsoft.com/office/powerpoint/2010/main" val="4479641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F7CB79-8DC8-4E54-B068-725C13A86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296B4D-51C6-4421-A193-77B57FCD4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IoT and AI-Enabled Rover for Crop Health Monitoring</a:t>
            </a:r>
            <a:endParaRPr/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A3758-8336-4BE1-B301-73E98718A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buNone/>
              <a:defRPr sz="1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CCF91274-D221-1BB4-3BF9-836E3AD31EBE}" type="slidenum"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0C1A3-31CD-4BD9-8C56-C6262D72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 and discussion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24942-C9D5-45C5-80AE-ACB77778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Development of an IoT and AI-Enabled Rover for Real-Time Crop Health Monitoring</a:t>
            </a:r>
          </a:p>
        </p:txBody>
      </p:sp>
    </p:spTree>
    <p:extLst>
      <p:ext uri="{BB962C8B-B14F-4D97-AF65-F5344CB8AC3E}">
        <p14:creationId xmlns:p14="http://schemas.microsoft.com/office/powerpoint/2010/main" val="8702597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2026-10-13T16:39:36.4830000Z</dcterms:created>
  <dcterms:modified xsi:type="dcterms:W3CDTF">2026-10-13T16:39:36.4830000Z</dcterms:modified>
</coreProperties>
</file>