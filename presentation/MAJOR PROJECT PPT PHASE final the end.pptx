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271" r:id="rId2"/>
    <p:sldId id="257" r:id="rId3"/>
    <p:sldId id="259" r:id="rId4"/>
    <p:sldId id="268" r:id="rId5"/>
    <p:sldId id="277" r:id="rId6"/>
    <p:sldId id="278" r:id="rId7"/>
    <p:sldId id="279" r:id="rId8"/>
    <p:sldId id="280" r:id="rId9"/>
    <p:sldId id="272" r:id="rId10"/>
    <p:sldId id="264" r:id="rId11"/>
    <p:sldId id="267" r:id="rId12"/>
    <p:sldId id="262" r:id="rId13"/>
    <p:sldId id="273" r:id="rId14"/>
    <p:sldId id="274" r:id="rId15"/>
    <p:sldId id="275" r:id="rId16"/>
    <p:sldId id="276" r:id="rId17"/>
    <p:sldId id="256" r:id="rId18"/>
    <p:sldId id="302" r:id="rId19"/>
    <p:sldId id="258" r:id="rId20"/>
    <p:sldId id="303" r:id="rId21"/>
    <p:sldId id="260" r:id="rId22"/>
    <p:sldId id="261"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4" r:id="rId43"/>
    <p:sldId id="305" r:id="rId44"/>
    <p:sldId id="306" r:id="rId45"/>
    <p:sldId id="307" r:id="rId46"/>
    <p:sldId id="308" r:id="rId47"/>
    <p:sldId id="309" r:id="rId48"/>
    <p:sldId id="310" r:id="rId49"/>
    <p:sldId id="311" r:id="rId50"/>
    <p:sldId id="312" r:id="rId51"/>
    <p:sldId id="313" r:id="rId52"/>
    <p:sldId id="265" r:id="rId53"/>
    <p:sldId id="266" r:id="rId54"/>
    <p:sldId id="314" r:id="rId55"/>
    <p:sldId id="315" r:id="rId56"/>
    <p:sldId id="263" r:id="rId57"/>
    <p:sldId id="270" r:id="rId58"/>
  </p:sldIdLst>
  <p:sldSz cx="20104100" cy="11309350"/>
  <p:notesSz cx="20104100" cy="1130935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574B8"/>
    <a:srgbClr val="BFD1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0980" autoAdjust="0"/>
  </p:normalViewPr>
  <p:slideViewPr>
    <p:cSldViewPr>
      <p:cViewPr varScale="1">
        <p:scale>
          <a:sx n="34" d="100"/>
          <a:sy n="34" d="100"/>
        </p:scale>
        <p:origin x="1092" y="6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yesha A" userId="973edc1398f39e7f" providerId="LiveId" clId="{15F73983-E654-407B-8896-2C2218E87339}"/>
    <pc:docChg chg="modSld">
      <pc:chgData name="ayesha A" userId="973edc1398f39e7f" providerId="LiveId" clId="{15F73983-E654-407B-8896-2C2218E87339}" dt="2026-05-06T06:49:52.291" v="8" actId="20577"/>
      <pc:docMkLst>
        <pc:docMk/>
      </pc:docMkLst>
      <pc:sldChg chg="modSp mod">
        <pc:chgData name="ayesha A" userId="973edc1398f39e7f" providerId="LiveId" clId="{15F73983-E654-407B-8896-2C2218E87339}" dt="2026-05-06T06:49:52.291" v="8" actId="20577"/>
        <pc:sldMkLst>
          <pc:docMk/>
          <pc:sldMk cId="3945520127" sldId="271"/>
        </pc:sldMkLst>
        <pc:spChg chg="mod">
          <ac:chgData name="ayesha A" userId="973edc1398f39e7f" providerId="LiveId" clId="{15F73983-E654-407B-8896-2C2218E87339}" dt="2026-05-06T06:49:52.291" v="8" actId="20577"/>
          <ac:spMkLst>
            <pc:docMk/>
            <pc:sldMk cId="3945520127" sldId="271"/>
            <ac:spMk id="11" creationId="{C9A13DF2-9644-74A6-FACF-537271AC253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8712200" cy="56673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11387138" y="0"/>
            <a:ext cx="8712200" cy="566738"/>
          </a:xfrm>
          <a:prstGeom prst="rect">
            <a:avLst/>
          </a:prstGeom>
        </p:spPr>
        <p:txBody>
          <a:bodyPr vert="horz" lIns="91440" tIns="45720" rIns="91440" bIns="45720" rtlCol="0"/>
          <a:lstStyle>
            <a:lvl1pPr algn="r">
              <a:defRPr sz="1200"/>
            </a:lvl1pPr>
          </a:lstStyle>
          <a:p>
            <a:fld id="{2B62CF68-7C08-4452-989C-B1D598C9B370}" type="datetimeFigureOut">
              <a:rPr lang="en-IN" smtClean="0"/>
              <a:t>06-05-2026</a:t>
            </a:fld>
            <a:endParaRPr lang="en-IN"/>
          </a:p>
        </p:txBody>
      </p:sp>
      <p:sp>
        <p:nvSpPr>
          <p:cNvPr id="4" name="Slide Image Placeholder 3"/>
          <p:cNvSpPr>
            <a:spLocks noGrp="1" noRot="1" noChangeAspect="1"/>
          </p:cNvSpPr>
          <p:nvPr>
            <p:ph type="sldImg" idx="2"/>
          </p:nvPr>
        </p:nvSpPr>
        <p:spPr>
          <a:xfrm>
            <a:off x="6659563" y="1414463"/>
            <a:ext cx="6784975" cy="38163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2009775" y="5441950"/>
            <a:ext cx="16084550" cy="445452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10742613"/>
            <a:ext cx="8712200" cy="56673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11387138" y="10742613"/>
            <a:ext cx="8712200" cy="566737"/>
          </a:xfrm>
          <a:prstGeom prst="rect">
            <a:avLst/>
          </a:prstGeom>
        </p:spPr>
        <p:txBody>
          <a:bodyPr vert="horz" lIns="91440" tIns="45720" rIns="91440" bIns="45720" rtlCol="0" anchor="b"/>
          <a:lstStyle>
            <a:lvl1pPr algn="r">
              <a:defRPr sz="1200"/>
            </a:lvl1pPr>
          </a:lstStyle>
          <a:p>
            <a:fld id="{F9F981CB-4446-4706-9A59-EC29DB0116B8}" type="slidenum">
              <a:rPr lang="en-IN" smtClean="0"/>
              <a:t>‹#›</a:t>
            </a:fld>
            <a:endParaRPr lang="en-IN"/>
          </a:p>
        </p:txBody>
      </p:sp>
    </p:spTree>
    <p:extLst>
      <p:ext uri="{BB962C8B-B14F-4D97-AF65-F5344CB8AC3E}">
        <p14:creationId xmlns:p14="http://schemas.microsoft.com/office/powerpoint/2010/main" val="1350823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F981CB-4446-4706-9A59-EC29DB0116B8}" type="slidenum">
              <a:rPr lang="en-IN" smtClean="0"/>
              <a:t>9</a:t>
            </a:fld>
            <a:endParaRPr lang="en-IN"/>
          </a:p>
        </p:txBody>
      </p:sp>
    </p:spTree>
    <p:extLst>
      <p:ext uri="{BB962C8B-B14F-4D97-AF65-F5344CB8AC3E}">
        <p14:creationId xmlns:p14="http://schemas.microsoft.com/office/powerpoint/2010/main" val="242047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F981CB-4446-4706-9A59-EC29DB0116B8}" type="slidenum">
              <a:rPr lang="en-IN" smtClean="0"/>
              <a:t>13</a:t>
            </a:fld>
            <a:endParaRPr lang="en-IN"/>
          </a:p>
        </p:txBody>
      </p:sp>
    </p:spTree>
    <p:extLst>
      <p:ext uri="{BB962C8B-B14F-4D97-AF65-F5344CB8AC3E}">
        <p14:creationId xmlns:p14="http://schemas.microsoft.com/office/powerpoint/2010/main" val="515993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F981CB-4446-4706-9A59-EC29DB0116B8}" type="slidenum">
              <a:rPr lang="en-IN" smtClean="0"/>
              <a:t>16</a:t>
            </a:fld>
            <a:endParaRPr lang="en-IN"/>
          </a:p>
        </p:txBody>
      </p:sp>
    </p:spTree>
    <p:extLst>
      <p:ext uri="{BB962C8B-B14F-4D97-AF65-F5344CB8AC3E}">
        <p14:creationId xmlns:p14="http://schemas.microsoft.com/office/powerpoint/2010/main" val="1298471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9F981CB-4446-4706-9A59-EC29DB0116B8}" type="slidenum">
              <a:rPr lang="en-IN" smtClean="0"/>
              <a:t>17</a:t>
            </a:fld>
            <a:endParaRPr lang="en-IN"/>
          </a:p>
        </p:txBody>
      </p:sp>
    </p:spTree>
    <p:extLst>
      <p:ext uri="{BB962C8B-B14F-4D97-AF65-F5344CB8AC3E}">
        <p14:creationId xmlns:p14="http://schemas.microsoft.com/office/powerpoint/2010/main" val="24572696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F968A4-940F-46BD-A4D9-0D20F8B5140B}" type="slidenum">
              <a:rPr lang="en-IN" smtClean="0"/>
              <a:t>46</a:t>
            </a:fld>
            <a:endParaRPr lang="en-IN"/>
          </a:p>
        </p:txBody>
      </p:sp>
    </p:spTree>
    <p:extLst>
      <p:ext uri="{BB962C8B-B14F-4D97-AF65-F5344CB8AC3E}">
        <p14:creationId xmlns:p14="http://schemas.microsoft.com/office/powerpoint/2010/main" val="2292024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F968A4-940F-46BD-A4D9-0D20F8B5140B}" type="slidenum">
              <a:rPr lang="en-IN" smtClean="0"/>
              <a:t>50</a:t>
            </a:fld>
            <a:endParaRPr lang="en-IN"/>
          </a:p>
        </p:txBody>
      </p:sp>
    </p:spTree>
    <p:extLst>
      <p:ext uri="{BB962C8B-B14F-4D97-AF65-F5344CB8AC3E}">
        <p14:creationId xmlns:p14="http://schemas.microsoft.com/office/powerpoint/2010/main" val="1249047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2138575" y="927091"/>
            <a:ext cx="15826948" cy="874394"/>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p:txBody>
          <a:bodyPr lIns="0" tIns="0" rIns="0" bIns="0"/>
          <a:lstStyle>
            <a:lvl1pPr>
              <a:defRPr sz="4950" b="1" i="0">
                <a:solidFill>
                  <a:schemeClr val="bg1"/>
                </a:solidFill>
                <a:latin typeface="Rajdhani"/>
                <a:cs typeface="Rajdhani"/>
              </a:defRPr>
            </a:lvl1pPr>
          </a:lstStyle>
          <a:p>
            <a:pPr marL="25400">
              <a:lnSpc>
                <a:spcPts val="5690"/>
              </a:lnSpc>
            </a:pPr>
            <a:fld id="{81D60167-4931-47E6-BA6A-407CBD079E47}" type="slidenum">
              <a:rPr spc="175" dirty="0"/>
              <a:t>‹#›</a:t>
            </a:fld>
            <a:endParaRPr spc="17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50" b="1" i="0">
                <a:solidFill>
                  <a:srgbClr val="2574B8"/>
                </a:solidFill>
                <a:latin typeface="Rajdhani"/>
                <a:cs typeface="Rajdhani"/>
              </a:defRPr>
            </a:lvl1pPr>
          </a:lstStyle>
          <a:p>
            <a:endParaRPr/>
          </a:p>
        </p:txBody>
      </p:sp>
      <p:sp>
        <p:nvSpPr>
          <p:cNvPr id="3" name="Holder 3"/>
          <p:cNvSpPr>
            <a:spLocks noGrp="1"/>
          </p:cNvSpPr>
          <p:nvPr>
            <p:ph type="body" idx="1"/>
          </p:nvPr>
        </p:nvSpPr>
        <p:spPr/>
        <p:txBody>
          <a:bodyPr lIns="0" tIns="0" rIns="0" bIns="0"/>
          <a:lstStyle>
            <a:lvl1pPr>
              <a:defRPr sz="9050" b="1" i="0">
                <a:solidFill>
                  <a:schemeClr val="bg1"/>
                </a:solidFill>
                <a:latin typeface="Rajdhani"/>
                <a:cs typeface="Rajdhan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p:txBody>
          <a:bodyPr lIns="0" tIns="0" rIns="0" bIns="0"/>
          <a:lstStyle>
            <a:lvl1pPr>
              <a:defRPr sz="4950" b="1" i="0">
                <a:solidFill>
                  <a:schemeClr val="bg1"/>
                </a:solidFill>
                <a:latin typeface="Rajdhani"/>
                <a:cs typeface="Rajdhani"/>
              </a:defRPr>
            </a:lvl1pPr>
          </a:lstStyle>
          <a:p>
            <a:pPr marL="25400">
              <a:lnSpc>
                <a:spcPts val="5690"/>
              </a:lnSpc>
            </a:pPr>
            <a:fld id="{81D60167-4931-47E6-BA6A-407CBD079E47}" type="slidenum">
              <a:rPr spc="175" dirty="0"/>
              <a:t>‹#›</a:t>
            </a:fld>
            <a:endParaRPr spc="17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50" b="1" i="0">
                <a:solidFill>
                  <a:srgbClr val="2574B8"/>
                </a:solidFill>
                <a:latin typeface="Rajdhani"/>
                <a:cs typeface="Rajdhani"/>
              </a:defRPr>
            </a:lvl1pPr>
          </a:lstStyle>
          <a:p>
            <a:endParaRPr/>
          </a:p>
        </p:txBody>
      </p:sp>
      <p:sp>
        <p:nvSpPr>
          <p:cNvPr id="3" name="Holder 3"/>
          <p:cNvSpPr>
            <a:spLocks noGrp="1"/>
          </p:cNvSpPr>
          <p:nvPr>
            <p:ph sz="half" idx="2"/>
          </p:nvPr>
        </p:nvSpPr>
        <p:spPr>
          <a:xfrm>
            <a:off x="1005205" y="2601150"/>
            <a:ext cx="8745284" cy="746417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10353611" y="2601150"/>
            <a:ext cx="8745284" cy="746417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7" name="Holder 7"/>
          <p:cNvSpPr>
            <a:spLocks noGrp="1"/>
          </p:cNvSpPr>
          <p:nvPr>
            <p:ph type="sldNum" sz="quarter" idx="7"/>
          </p:nvPr>
        </p:nvSpPr>
        <p:spPr/>
        <p:txBody>
          <a:bodyPr lIns="0" tIns="0" rIns="0" bIns="0"/>
          <a:lstStyle>
            <a:lvl1pPr>
              <a:defRPr sz="4950" b="1" i="0">
                <a:solidFill>
                  <a:schemeClr val="bg1"/>
                </a:solidFill>
                <a:latin typeface="Rajdhani"/>
                <a:cs typeface="Rajdhani"/>
              </a:defRPr>
            </a:lvl1pPr>
          </a:lstStyle>
          <a:p>
            <a:pPr marL="25400">
              <a:lnSpc>
                <a:spcPts val="5690"/>
              </a:lnSpc>
            </a:pPr>
            <a:fld id="{81D60167-4931-47E6-BA6A-407CBD079E47}" type="slidenum">
              <a:rPr spc="175" dirty="0"/>
              <a:t>‹#›</a:t>
            </a:fld>
            <a:endParaRPr spc="17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9050" b="1" i="0">
                <a:solidFill>
                  <a:srgbClr val="2574B8"/>
                </a:solidFill>
                <a:latin typeface="Rajdhani"/>
                <a:cs typeface="Rajdhan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5" name="Holder 5"/>
          <p:cNvSpPr>
            <a:spLocks noGrp="1"/>
          </p:cNvSpPr>
          <p:nvPr>
            <p:ph type="sldNum" sz="quarter" idx="7"/>
          </p:nvPr>
        </p:nvSpPr>
        <p:spPr/>
        <p:txBody>
          <a:bodyPr lIns="0" tIns="0" rIns="0" bIns="0"/>
          <a:lstStyle>
            <a:lvl1pPr>
              <a:defRPr sz="4950" b="1" i="0">
                <a:solidFill>
                  <a:schemeClr val="bg1"/>
                </a:solidFill>
                <a:latin typeface="Rajdhani"/>
                <a:cs typeface="Rajdhani"/>
              </a:defRPr>
            </a:lvl1pPr>
          </a:lstStyle>
          <a:p>
            <a:pPr marL="25400">
              <a:lnSpc>
                <a:spcPts val="5690"/>
              </a:lnSpc>
            </a:pPr>
            <a:fld id="{81D60167-4931-47E6-BA6A-407CBD079E47}" type="slidenum">
              <a:rPr spc="175" dirty="0"/>
              <a:t>‹#›</a:t>
            </a:fld>
            <a:endParaRPr spc="17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5/6/2026</a:t>
            </a:fld>
            <a:endParaRPr lang="en-US"/>
          </a:p>
        </p:txBody>
      </p:sp>
      <p:sp>
        <p:nvSpPr>
          <p:cNvPr id="4" name="Holder 4"/>
          <p:cNvSpPr>
            <a:spLocks noGrp="1"/>
          </p:cNvSpPr>
          <p:nvPr>
            <p:ph type="sldNum" sz="quarter" idx="7"/>
          </p:nvPr>
        </p:nvSpPr>
        <p:spPr/>
        <p:txBody>
          <a:bodyPr lIns="0" tIns="0" rIns="0" bIns="0"/>
          <a:lstStyle>
            <a:lvl1pPr>
              <a:defRPr sz="4950" b="1" i="0">
                <a:solidFill>
                  <a:schemeClr val="bg1"/>
                </a:solidFill>
                <a:latin typeface="Rajdhani"/>
                <a:cs typeface="Rajdhani"/>
              </a:defRPr>
            </a:lvl1pPr>
          </a:lstStyle>
          <a:p>
            <a:pPr marL="25400">
              <a:lnSpc>
                <a:spcPts val="5690"/>
              </a:lnSpc>
            </a:pPr>
            <a:fld id="{81D60167-4931-47E6-BA6A-407CBD079E47}" type="slidenum">
              <a:rPr spc="175" dirty="0"/>
              <a:t>‹#›</a:t>
            </a:fld>
            <a:endParaRPr spc="175"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FE94C-0191-40CD-88F4-6A0EA94A1292}"/>
              </a:ext>
            </a:extLst>
          </p:cNvPr>
          <p:cNvSpPr>
            <a:spLocks noGrp="1"/>
          </p:cNvSpPr>
          <p:nvPr>
            <p:ph type="ctrTitle"/>
          </p:nvPr>
        </p:nvSpPr>
        <p:spPr>
          <a:xfrm>
            <a:off x="2513013" y="2742996"/>
            <a:ext cx="15078075" cy="3045193"/>
          </a:xfrm>
        </p:spPr>
        <p:txBody>
          <a:bodyPr anchor="b"/>
          <a:lstStyle>
            <a:lvl1pPr algn="ctr">
              <a:defRPr sz="9894"/>
            </a:lvl1pPr>
          </a:lstStyle>
          <a:p>
            <a:r>
              <a:rPr lang="en-US"/>
              <a:t>Click to edit Master title style</a:t>
            </a:r>
            <a:endParaRPr lang="en-IN"/>
          </a:p>
        </p:txBody>
      </p:sp>
      <p:sp>
        <p:nvSpPr>
          <p:cNvPr id="3" name="Subtitle 2">
            <a:extLst>
              <a:ext uri="{FF2B5EF4-FFF2-40B4-BE49-F238E27FC236}">
                <a16:creationId xmlns:a16="http://schemas.microsoft.com/office/drawing/2014/main" id="{3A7AE85B-2298-4B7C-A257-1C2671C7CFC1}"/>
              </a:ext>
            </a:extLst>
          </p:cNvPr>
          <p:cNvSpPr>
            <a:spLocks noGrp="1"/>
          </p:cNvSpPr>
          <p:nvPr>
            <p:ph type="subTitle" idx="1"/>
          </p:nvPr>
        </p:nvSpPr>
        <p:spPr>
          <a:xfrm>
            <a:off x="2513013" y="5940028"/>
            <a:ext cx="15078075" cy="609077"/>
          </a:xfrm>
        </p:spPr>
        <p:txBody>
          <a:bodyPr/>
          <a:lstStyle>
            <a:lvl1pPr marL="0" indent="0" algn="ctr">
              <a:buNone/>
              <a:defRPr sz="3958"/>
            </a:lvl1pPr>
            <a:lvl2pPr marL="753923" indent="0" algn="ctr">
              <a:buNone/>
              <a:defRPr sz="3298"/>
            </a:lvl2pPr>
            <a:lvl3pPr marL="1507846" indent="0" algn="ctr">
              <a:buNone/>
              <a:defRPr sz="2968"/>
            </a:lvl3pPr>
            <a:lvl4pPr marL="2261768" indent="0" algn="ctr">
              <a:buNone/>
              <a:defRPr sz="2638"/>
            </a:lvl4pPr>
            <a:lvl5pPr marL="3015691" indent="0" algn="ctr">
              <a:buNone/>
              <a:defRPr sz="2638"/>
            </a:lvl5pPr>
            <a:lvl6pPr marL="3769614" indent="0" algn="ctr">
              <a:buNone/>
              <a:defRPr sz="2638"/>
            </a:lvl6pPr>
            <a:lvl7pPr marL="4523537" indent="0" algn="ctr">
              <a:buNone/>
              <a:defRPr sz="2638"/>
            </a:lvl7pPr>
            <a:lvl8pPr marL="5277460" indent="0" algn="ctr">
              <a:buNone/>
              <a:defRPr sz="2638"/>
            </a:lvl8pPr>
            <a:lvl9pPr marL="6031382" indent="0" algn="ctr">
              <a:buNone/>
              <a:defRPr sz="2638"/>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64D55CB-4B97-493C-8203-91DD0D772D4F}"/>
              </a:ext>
            </a:extLst>
          </p:cNvPr>
          <p:cNvSpPr>
            <a:spLocks noGrp="1"/>
          </p:cNvSpPr>
          <p:nvPr>
            <p:ph type="dt" sz="half" idx="10"/>
          </p:nvPr>
        </p:nvSpPr>
        <p:spPr>
          <a:xfrm>
            <a:off x="1005205" y="10517696"/>
            <a:ext cx="4623943" cy="276999"/>
          </a:xfrm>
        </p:spPr>
        <p:txBody>
          <a:bodyPr/>
          <a:lstStyle/>
          <a:p>
            <a:fld id="{59621841-A07C-442E-A699-E2227068E6F0}" type="datetimeFigureOut">
              <a:rPr lang="en-IN" smtClean="0"/>
              <a:t>06-05-2026</a:t>
            </a:fld>
            <a:endParaRPr lang="en-IN"/>
          </a:p>
        </p:txBody>
      </p:sp>
      <p:sp>
        <p:nvSpPr>
          <p:cNvPr id="5" name="Footer Placeholder 4">
            <a:extLst>
              <a:ext uri="{FF2B5EF4-FFF2-40B4-BE49-F238E27FC236}">
                <a16:creationId xmlns:a16="http://schemas.microsoft.com/office/drawing/2014/main" id="{757470D7-F6A5-4BF8-81FE-805BFB98AF4A}"/>
              </a:ext>
            </a:extLst>
          </p:cNvPr>
          <p:cNvSpPr>
            <a:spLocks noGrp="1"/>
          </p:cNvSpPr>
          <p:nvPr>
            <p:ph type="ftr" sz="quarter" idx="11"/>
          </p:nvPr>
        </p:nvSpPr>
        <p:spPr>
          <a:xfrm>
            <a:off x="6835394" y="10517696"/>
            <a:ext cx="6433312" cy="276999"/>
          </a:xfrm>
        </p:spPr>
        <p:txBody>
          <a:bodyPr/>
          <a:lstStyle/>
          <a:p>
            <a:endParaRPr lang="en-IN"/>
          </a:p>
        </p:txBody>
      </p:sp>
      <p:sp>
        <p:nvSpPr>
          <p:cNvPr id="6" name="Slide Number Placeholder 5">
            <a:extLst>
              <a:ext uri="{FF2B5EF4-FFF2-40B4-BE49-F238E27FC236}">
                <a16:creationId xmlns:a16="http://schemas.microsoft.com/office/drawing/2014/main" id="{417DE2E8-BF4F-42E5-B469-4B19F391A478}"/>
              </a:ext>
            </a:extLst>
          </p:cNvPr>
          <p:cNvSpPr>
            <a:spLocks noGrp="1"/>
          </p:cNvSpPr>
          <p:nvPr>
            <p:ph type="sldNum" sz="quarter" idx="12"/>
          </p:nvPr>
        </p:nvSpPr>
        <p:spPr>
          <a:xfrm>
            <a:off x="18752118" y="9920736"/>
            <a:ext cx="645794" cy="1523494"/>
          </a:xfrm>
        </p:spPr>
        <p:txBody>
          <a:bodyPr/>
          <a:lstStyle/>
          <a:p>
            <a:fld id="{BF7914EE-2212-446C-8BAD-18C25BF96EAC}" type="slidenum">
              <a:rPr lang="en-IN" smtClean="0"/>
              <a:t>‹#›</a:t>
            </a:fld>
            <a:endParaRPr lang="en-IN"/>
          </a:p>
        </p:txBody>
      </p:sp>
    </p:spTree>
    <p:extLst>
      <p:ext uri="{BB962C8B-B14F-4D97-AF65-F5344CB8AC3E}">
        <p14:creationId xmlns:p14="http://schemas.microsoft.com/office/powerpoint/2010/main" val="39343349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1789907" y="3730697"/>
            <a:ext cx="5263515" cy="1408429"/>
          </a:xfrm>
          <a:prstGeom prst="rect">
            <a:avLst/>
          </a:prstGeom>
        </p:spPr>
        <p:txBody>
          <a:bodyPr wrap="square" lIns="0" tIns="0" rIns="0" bIns="0">
            <a:spAutoFit/>
          </a:bodyPr>
          <a:lstStyle>
            <a:lvl1pPr>
              <a:defRPr sz="9050" b="1" i="0">
                <a:solidFill>
                  <a:srgbClr val="2574B8"/>
                </a:solidFill>
                <a:latin typeface="Rajdhani"/>
                <a:cs typeface="Rajdhani"/>
              </a:defRPr>
            </a:lvl1pPr>
          </a:lstStyle>
          <a:p>
            <a:endParaRPr/>
          </a:p>
        </p:txBody>
      </p:sp>
      <p:sp>
        <p:nvSpPr>
          <p:cNvPr id="3" name="Holder 3"/>
          <p:cNvSpPr>
            <a:spLocks noGrp="1"/>
          </p:cNvSpPr>
          <p:nvPr>
            <p:ph type="body" idx="1"/>
          </p:nvPr>
        </p:nvSpPr>
        <p:spPr>
          <a:xfrm>
            <a:off x="4007061" y="3098706"/>
            <a:ext cx="12089977" cy="4711065"/>
          </a:xfrm>
          <a:prstGeom prst="rect">
            <a:avLst/>
          </a:prstGeom>
        </p:spPr>
        <p:txBody>
          <a:bodyPr wrap="square" lIns="0" tIns="0" rIns="0" bIns="0">
            <a:spAutoFit/>
          </a:bodyPr>
          <a:lstStyle>
            <a:lvl1pPr>
              <a:defRPr sz="9050" b="1" i="0">
                <a:solidFill>
                  <a:schemeClr val="bg1"/>
                </a:solidFill>
                <a:latin typeface="Rajdhani"/>
                <a:cs typeface="Rajdhani"/>
              </a:defRPr>
            </a:lvl1pPr>
          </a:lstStyle>
          <a:p>
            <a:endParaRPr/>
          </a:p>
        </p:txBody>
      </p:sp>
      <p:sp>
        <p:nvSpPr>
          <p:cNvPr id="4" name="Holder 4"/>
          <p:cNvSpPr>
            <a:spLocks noGrp="1"/>
          </p:cNvSpPr>
          <p:nvPr>
            <p:ph type="ftr" sz="quarter" idx="5"/>
          </p:nvPr>
        </p:nvSpPr>
        <p:spPr>
          <a:xfrm>
            <a:off x="6835394" y="10517696"/>
            <a:ext cx="6433312" cy="56546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1005205" y="10517696"/>
            <a:ext cx="4623943" cy="56546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5/6/2026</a:t>
            </a:fld>
            <a:endParaRPr lang="en-US"/>
          </a:p>
        </p:txBody>
      </p:sp>
      <p:sp>
        <p:nvSpPr>
          <p:cNvPr id="6" name="Holder 6"/>
          <p:cNvSpPr>
            <a:spLocks noGrp="1"/>
          </p:cNvSpPr>
          <p:nvPr>
            <p:ph type="sldNum" sz="quarter" idx="7"/>
          </p:nvPr>
        </p:nvSpPr>
        <p:spPr>
          <a:xfrm>
            <a:off x="18752118" y="9920736"/>
            <a:ext cx="645794" cy="827404"/>
          </a:xfrm>
          <a:prstGeom prst="rect">
            <a:avLst/>
          </a:prstGeom>
        </p:spPr>
        <p:txBody>
          <a:bodyPr wrap="square" lIns="0" tIns="0" rIns="0" bIns="0">
            <a:spAutoFit/>
          </a:bodyPr>
          <a:lstStyle>
            <a:lvl1pPr>
              <a:defRPr sz="4950" b="1" i="0">
                <a:solidFill>
                  <a:schemeClr val="bg1"/>
                </a:solidFill>
                <a:latin typeface="Rajdhani"/>
                <a:cs typeface="Rajdhani"/>
              </a:defRPr>
            </a:lvl1pPr>
          </a:lstStyle>
          <a:p>
            <a:pPr marL="25400">
              <a:lnSpc>
                <a:spcPts val="5690"/>
              </a:lnSpc>
            </a:pPr>
            <a:fld id="{81D60167-4931-47E6-BA6A-407CBD079E47}" type="slidenum">
              <a:rPr spc="175" dirty="0"/>
              <a:t>‹#›</a:t>
            </a:fld>
            <a:endParaRPr spc="17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1.jpe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youtu.be/mUyTmW7NMQo?si=XwVH2Kquthbyb149" TargetMode="Externa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8.png"/><Relationship Id="rId1" Type="http://schemas.openxmlformats.org/officeDocument/2006/relationships/slideLayout" Target="../slideLayouts/slideLayout5.xml"/><Relationship Id="rId5" Type="http://schemas.openxmlformats.org/officeDocument/2006/relationships/image" Target="../media/image22.jpeg"/><Relationship Id="rId4" Type="http://schemas.openxmlformats.org/officeDocument/2006/relationships/image" Target="../media/image21.jpe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3">
            <a:extLst>
              <a:ext uri="{FF2B5EF4-FFF2-40B4-BE49-F238E27FC236}">
                <a16:creationId xmlns:a16="http://schemas.microsoft.com/office/drawing/2014/main" id="{51E6ADCC-8E29-3816-1F30-82094C61A102}"/>
              </a:ext>
            </a:extLst>
          </p:cNvPr>
          <p:cNvSpPr/>
          <p:nvPr/>
        </p:nvSpPr>
        <p:spPr>
          <a:xfrm flipV="1">
            <a:off x="1" y="6967819"/>
            <a:ext cx="20104099" cy="4341531"/>
          </a:xfrm>
          <a:prstGeom prst="rect">
            <a:avLst/>
          </a:prstGeom>
          <a:blipFill>
            <a:blip r:embed="rId2" cstate="print"/>
            <a:stretch>
              <a:fillRect/>
            </a:stretch>
          </a:blipFill>
        </p:spPr>
        <p:txBody>
          <a:bodyPr wrap="square" lIns="0" tIns="0" rIns="0" bIns="0" rtlCol="0"/>
          <a:lstStyle/>
          <a:p>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8B30A79-BB5B-F077-67F1-09100615847F}"/>
              </a:ext>
            </a:extLst>
          </p:cNvPr>
          <p:cNvSpPr txBox="1"/>
          <p:nvPr/>
        </p:nvSpPr>
        <p:spPr>
          <a:xfrm>
            <a:off x="4636602" y="295535"/>
            <a:ext cx="10654297" cy="2067233"/>
          </a:xfrm>
          <a:prstGeom prst="rect">
            <a:avLst/>
          </a:prstGeom>
          <a:noFill/>
        </p:spPr>
        <p:txBody>
          <a:bodyPr wrap="square">
            <a:spAutoFit/>
          </a:bodyPr>
          <a:lstStyle/>
          <a:p>
            <a:pPr algn="ctr">
              <a:lnSpc>
                <a:spcPts val="2519"/>
              </a:lnSpc>
              <a:spcBef>
                <a:spcPct val="0"/>
              </a:spcBef>
            </a:pPr>
            <a:r>
              <a:rPr lang="en-US" sz="2000" b="1" dirty="0">
                <a:latin typeface="Times New Roman Medium"/>
                <a:ea typeface="Times New Roman Medium"/>
                <a:cs typeface="Times New Roman Medium"/>
                <a:sym typeface="Times New Roman Medium"/>
              </a:rPr>
              <a:t>||Jai Sri Gurudev|| </a:t>
            </a:r>
          </a:p>
          <a:p>
            <a:pPr algn="ctr">
              <a:lnSpc>
                <a:spcPts val="2519"/>
              </a:lnSpc>
              <a:spcBef>
                <a:spcPct val="0"/>
              </a:spcBef>
            </a:pPr>
            <a:r>
              <a:rPr lang="en-US" sz="2000" b="1" dirty="0">
                <a:latin typeface="Times New Roman Medium"/>
                <a:ea typeface="Times New Roman Medium"/>
                <a:cs typeface="Times New Roman Medium"/>
                <a:sym typeface="Times New Roman Medium"/>
              </a:rPr>
              <a:t>Sri </a:t>
            </a:r>
            <a:r>
              <a:rPr lang="en-US" sz="2000" b="1" dirty="0" err="1">
                <a:latin typeface="Times New Roman Medium"/>
                <a:ea typeface="Times New Roman Medium"/>
                <a:cs typeface="Times New Roman Medium"/>
                <a:sym typeface="Times New Roman Medium"/>
              </a:rPr>
              <a:t>Adhichunchanagiri</a:t>
            </a:r>
            <a:r>
              <a:rPr lang="en-US" sz="2000" b="1" dirty="0">
                <a:latin typeface="Times New Roman Medium"/>
                <a:ea typeface="Times New Roman Medium"/>
                <a:cs typeface="Times New Roman Medium"/>
                <a:sym typeface="Times New Roman Medium"/>
              </a:rPr>
              <a:t> </a:t>
            </a:r>
            <a:r>
              <a:rPr lang="en-US" sz="2000" b="1" dirty="0" err="1">
                <a:latin typeface="Times New Roman Medium"/>
                <a:ea typeface="Times New Roman Medium"/>
                <a:cs typeface="Times New Roman Medium"/>
                <a:sym typeface="Times New Roman Medium"/>
              </a:rPr>
              <a:t>Shikshana</a:t>
            </a:r>
            <a:r>
              <a:rPr lang="en-US" sz="2000" b="1" dirty="0">
                <a:latin typeface="Times New Roman Medium"/>
                <a:ea typeface="Times New Roman Medium"/>
                <a:cs typeface="Times New Roman Medium"/>
                <a:sym typeface="Times New Roman Medium"/>
              </a:rPr>
              <a:t> Trust® </a:t>
            </a:r>
          </a:p>
          <a:p>
            <a:pPr algn="ctr">
              <a:lnSpc>
                <a:spcPts val="2519"/>
              </a:lnSpc>
              <a:spcBef>
                <a:spcPct val="0"/>
              </a:spcBef>
            </a:pPr>
            <a:r>
              <a:rPr lang="en-US" sz="2200" b="1" dirty="0">
                <a:latin typeface="Times New Roman Medium"/>
                <a:ea typeface="Times New Roman Medium"/>
                <a:cs typeface="Times New Roman Medium"/>
                <a:sym typeface="Times New Roman Medium"/>
              </a:rPr>
              <a:t>ADHICHUNCHANAGIRI INSTITUTE OF TECHNOLOGY</a:t>
            </a:r>
          </a:p>
          <a:p>
            <a:pPr algn="ctr">
              <a:lnSpc>
                <a:spcPts val="1679"/>
              </a:lnSpc>
              <a:spcBef>
                <a:spcPct val="0"/>
              </a:spcBef>
            </a:pPr>
            <a:r>
              <a:rPr lang="en-US" sz="1400" b="1" dirty="0">
                <a:latin typeface="Times New Roman Medium"/>
                <a:ea typeface="Times New Roman Medium"/>
                <a:cs typeface="Times New Roman Medium"/>
                <a:sym typeface="Times New Roman Medium"/>
              </a:rPr>
              <a:t>(</a:t>
            </a:r>
            <a:r>
              <a:rPr lang="en-US" sz="1600" b="1" dirty="0">
                <a:latin typeface="Times New Roman Medium"/>
                <a:ea typeface="Times New Roman Medium"/>
                <a:cs typeface="Times New Roman Medium"/>
                <a:sym typeface="Times New Roman Medium"/>
              </a:rPr>
              <a:t>An</a:t>
            </a:r>
            <a:r>
              <a:rPr lang="en-US" sz="1400" b="1" dirty="0">
                <a:latin typeface="Times New Roman Medium"/>
                <a:ea typeface="Times New Roman Medium"/>
                <a:cs typeface="Times New Roman Medium"/>
                <a:sym typeface="Times New Roman Medium"/>
              </a:rPr>
              <a:t> </a:t>
            </a:r>
            <a:r>
              <a:rPr lang="en-US" sz="1600" b="1" dirty="0">
                <a:latin typeface="Times New Roman Medium"/>
                <a:ea typeface="Times New Roman Medium"/>
                <a:cs typeface="Times New Roman Medium"/>
                <a:sym typeface="Times New Roman Medium"/>
              </a:rPr>
              <a:t>ISO</a:t>
            </a:r>
            <a:r>
              <a:rPr lang="en-US" sz="1400" b="1" dirty="0">
                <a:latin typeface="Times New Roman Medium"/>
                <a:ea typeface="Times New Roman Medium"/>
                <a:cs typeface="Times New Roman Medium"/>
                <a:sym typeface="Times New Roman Medium"/>
              </a:rPr>
              <a:t> </a:t>
            </a:r>
            <a:r>
              <a:rPr lang="en-US" sz="1600" b="1" dirty="0">
                <a:latin typeface="Times New Roman Medium"/>
                <a:ea typeface="Times New Roman Medium"/>
                <a:cs typeface="Times New Roman Medium"/>
                <a:sym typeface="Times New Roman Medium"/>
              </a:rPr>
              <a:t>9001: 2008 Certified</a:t>
            </a:r>
            <a:r>
              <a:rPr lang="en-US" sz="1400" b="1" dirty="0">
                <a:latin typeface="Times New Roman Medium"/>
                <a:ea typeface="Times New Roman Medium"/>
                <a:cs typeface="Times New Roman Medium"/>
                <a:sym typeface="Times New Roman Medium"/>
              </a:rPr>
              <a:t>)</a:t>
            </a:r>
          </a:p>
          <a:p>
            <a:pPr algn="ctr">
              <a:lnSpc>
                <a:spcPts val="1679"/>
              </a:lnSpc>
              <a:spcBef>
                <a:spcPct val="0"/>
              </a:spcBef>
            </a:pPr>
            <a:r>
              <a:rPr lang="en-US" sz="1600" b="1" dirty="0">
                <a:latin typeface="Times New Roman Medium"/>
                <a:ea typeface="Times New Roman Medium"/>
                <a:cs typeface="Times New Roman Medium"/>
                <a:sym typeface="Times New Roman Medium"/>
              </a:rPr>
              <a:t>Affiliated to </a:t>
            </a:r>
            <a:r>
              <a:rPr lang="en-US" sz="1600" b="1" dirty="0" err="1">
                <a:latin typeface="Times New Roman Medium"/>
                <a:ea typeface="Times New Roman Medium"/>
                <a:cs typeface="Times New Roman Medium"/>
                <a:sym typeface="Times New Roman Medium"/>
              </a:rPr>
              <a:t>Vishvesvaraya</a:t>
            </a:r>
            <a:r>
              <a:rPr lang="en-US" sz="1600" b="1" dirty="0">
                <a:latin typeface="Times New Roman Medium"/>
                <a:ea typeface="Times New Roman Medium"/>
                <a:cs typeface="Times New Roman Medium"/>
                <a:sym typeface="Times New Roman Medium"/>
              </a:rPr>
              <a:t> Technological University (VTU), Belagavi,</a:t>
            </a:r>
          </a:p>
          <a:p>
            <a:pPr algn="ctr">
              <a:lnSpc>
                <a:spcPts val="1959"/>
              </a:lnSpc>
              <a:spcBef>
                <a:spcPct val="0"/>
              </a:spcBef>
            </a:pPr>
            <a:r>
              <a:rPr lang="en-US" b="1" dirty="0">
                <a:latin typeface="Times New Roman Medium"/>
                <a:ea typeface="Times New Roman Medium"/>
                <a:cs typeface="Times New Roman Medium"/>
                <a:sym typeface="Times New Roman Medium"/>
              </a:rPr>
              <a:t>Approved by AICTE, New Delhi, </a:t>
            </a:r>
            <a:r>
              <a:rPr lang="en-US" b="1" dirty="0" err="1">
                <a:latin typeface="Times New Roman Medium"/>
                <a:ea typeface="Times New Roman Medium"/>
                <a:cs typeface="Times New Roman Medium"/>
                <a:sym typeface="Times New Roman Medium"/>
              </a:rPr>
              <a:t>Jyothinagar</a:t>
            </a:r>
            <a:r>
              <a:rPr lang="en-US" b="1" dirty="0">
                <a:latin typeface="Times New Roman Medium"/>
                <a:ea typeface="Times New Roman Medium"/>
                <a:cs typeface="Times New Roman Medium"/>
                <a:sym typeface="Times New Roman Medium"/>
              </a:rPr>
              <a:t>, Chikkamagaluru-577102 </a:t>
            </a:r>
          </a:p>
          <a:p>
            <a:pPr algn="ctr">
              <a:lnSpc>
                <a:spcPts val="2520"/>
              </a:lnSpc>
              <a:spcBef>
                <a:spcPct val="0"/>
              </a:spcBef>
            </a:pPr>
            <a:r>
              <a:rPr lang="en-US" sz="2200" b="1" dirty="0">
                <a:solidFill>
                  <a:schemeClr val="tx1"/>
                </a:solidFill>
                <a:latin typeface="Times New Roman Medium"/>
                <a:ea typeface="Times New Roman Medium"/>
                <a:cs typeface="Times New Roman Medium"/>
                <a:sym typeface="Times New Roman Medium"/>
              </a:rPr>
              <a:t>DEPARTMENT OF ARTIFICIAL INTELLIGENCE AND MACHING LEARNING </a:t>
            </a:r>
          </a:p>
        </p:txBody>
      </p:sp>
      <p:pic>
        <p:nvPicPr>
          <p:cNvPr id="8" name="Picture 7">
            <a:extLst>
              <a:ext uri="{FF2B5EF4-FFF2-40B4-BE49-F238E27FC236}">
                <a16:creationId xmlns:a16="http://schemas.microsoft.com/office/drawing/2014/main" id="{29E4DD3E-FCFF-6B6A-33E9-37348336D9F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36650" y="549275"/>
            <a:ext cx="2338670" cy="2369150"/>
          </a:xfrm>
          <a:prstGeom prst="rect">
            <a:avLst/>
          </a:prstGeom>
        </p:spPr>
      </p:pic>
      <p:pic>
        <p:nvPicPr>
          <p:cNvPr id="9" name="Picture 8">
            <a:extLst>
              <a:ext uri="{FF2B5EF4-FFF2-40B4-BE49-F238E27FC236}">
                <a16:creationId xmlns:a16="http://schemas.microsoft.com/office/drawing/2014/main" id="{571CC2E4-193B-A631-D0E6-570D6EAC394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6376650" y="549275"/>
            <a:ext cx="2288793" cy="2216749"/>
          </a:xfrm>
          <a:prstGeom prst="rect">
            <a:avLst/>
          </a:prstGeom>
        </p:spPr>
      </p:pic>
      <p:sp>
        <p:nvSpPr>
          <p:cNvPr id="11" name="TextBox 10">
            <a:extLst>
              <a:ext uri="{FF2B5EF4-FFF2-40B4-BE49-F238E27FC236}">
                <a16:creationId xmlns:a16="http://schemas.microsoft.com/office/drawing/2014/main" id="{C9A13DF2-9644-74A6-FACF-537271AC2533}"/>
              </a:ext>
            </a:extLst>
          </p:cNvPr>
          <p:cNvSpPr txBox="1"/>
          <p:nvPr/>
        </p:nvSpPr>
        <p:spPr>
          <a:xfrm>
            <a:off x="2555563" y="3854056"/>
            <a:ext cx="15421287" cy="1446550"/>
          </a:xfrm>
          <a:prstGeom prst="rect">
            <a:avLst/>
          </a:prstGeom>
          <a:noFill/>
        </p:spPr>
        <p:txBody>
          <a:bodyPr wrap="square">
            <a:spAutoFit/>
          </a:bodyPr>
          <a:lstStyle/>
          <a:p>
            <a:pPr algn="ctr"/>
            <a:r>
              <a:rPr lang="en-US" sz="4400" b="0" cap="none" spc="0" dirty="0">
                <a:ln w="0"/>
                <a:solidFill>
                  <a:schemeClr val="tx2"/>
                </a:solidFill>
                <a:effectLst>
                  <a:outerShdw blurRad="38100" dist="25400" dir="5400000" algn="ctr" rotWithShape="0">
                    <a:srgbClr val="6E747A">
                      <a:alpha val="43000"/>
                    </a:srgbClr>
                  </a:outerShdw>
                </a:effectLst>
                <a:latin typeface="Arial Black" panose="020B0A04020102020204" pitchFamily="34" charset="0"/>
              </a:rPr>
              <a:t>PROJECT PHASE -1[BAI685</a:t>
            </a:r>
            <a:r>
              <a:rPr lang="en-US" sz="4400" b="0" cap="none" spc="0">
                <a:ln w="0"/>
                <a:solidFill>
                  <a:schemeClr val="tx2"/>
                </a:solidFill>
                <a:effectLst>
                  <a:outerShdw blurRad="38100" dist="25400" dir="5400000" algn="ctr" rotWithShape="0">
                    <a:srgbClr val="6E747A">
                      <a:alpha val="43000"/>
                    </a:srgbClr>
                  </a:outerShdw>
                </a:effectLst>
                <a:latin typeface="Arial Black" panose="020B0A04020102020204" pitchFamily="34" charset="0"/>
              </a:rPr>
              <a:t>] Progress Seminar</a:t>
            </a:r>
            <a:endParaRPr lang="en-US" sz="4400" dirty="0">
              <a:ln w="0"/>
              <a:solidFill>
                <a:schemeClr val="tx2"/>
              </a:solidFill>
              <a:effectLst>
                <a:outerShdw blurRad="38100" dist="25400" dir="5400000" algn="ctr" rotWithShape="0">
                  <a:srgbClr val="6E747A">
                    <a:alpha val="43000"/>
                  </a:srgbClr>
                </a:outerShdw>
              </a:effectLst>
              <a:latin typeface="Arial Black" panose="020B0A04020102020204" pitchFamily="34" charset="0"/>
            </a:endParaRPr>
          </a:p>
          <a:p>
            <a:pPr algn="ctr"/>
            <a:r>
              <a:rPr lang="en-US" sz="4400" b="0" cap="none" spc="0" dirty="0">
                <a:ln w="0"/>
                <a:solidFill>
                  <a:schemeClr val="tx2"/>
                </a:solidFill>
                <a:effectLst>
                  <a:outerShdw blurRad="38100" dist="25400" dir="5400000" algn="ctr" rotWithShape="0">
                    <a:srgbClr val="6E747A">
                      <a:alpha val="43000"/>
                    </a:srgbClr>
                  </a:outerShdw>
                </a:effectLst>
                <a:latin typeface="Arial Black" panose="020B0A04020102020204" pitchFamily="34" charset="0"/>
              </a:rPr>
              <a:t>On</a:t>
            </a:r>
            <a:endParaRPr lang="en-IN" sz="4400" b="0" cap="none" spc="0" dirty="0">
              <a:ln w="0"/>
              <a:solidFill>
                <a:schemeClr val="tx2"/>
              </a:solidFill>
              <a:effectLst>
                <a:outerShdw blurRad="38100" dist="25400" dir="5400000" algn="ctr" rotWithShape="0">
                  <a:srgbClr val="6E747A">
                    <a:alpha val="43000"/>
                  </a:srgbClr>
                </a:outerShdw>
              </a:effectLst>
              <a:latin typeface="Arial Black" panose="020B0A04020102020204" pitchFamily="34" charset="0"/>
            </a:endParaRPr>
          </a:p>
        </p:txBody>
      </p:sp>
      <p:sp>
        <p:nvSpPr>
          <p:cNvPr id="13" name="TextBox 12">
            <a:extLst>
              <a:ext uri="{FF2B5EF4-FFF2-40B4-BE49-F238E27FC236}">
                <a16:creationId xmlns:a16="http://schemas.microsoft.com/office/drawing/2014/main" id="{FC5EB7EA-8EFE-CD21-85F5-BC555CC97061}"/>
              </a:ext>
            </a:extLst>
          </p:cNvPr>
          <p:cNvSpPr txBox="1"/>
          <p:nvPr/>
        </p:nvSpPr>
        <p:spPr>
          <a:xfrm>
            <a:off x="2872265" y="5206021"/>
            <a:ext cx="14626389" cy="1323439"/>
          </a:xfrm>
          <a:prstGeom prst="rect">
            <a:avLst/>
          </a:prstGeom>
          <a:noFill/>
        </p:spPr>
        <p:txBody>
          <a:bodyPr wrap="square">
            <a:spAutoFit/>
          </a:bodyPr>
          <a:lstStyle/>
          <a:p>
            <a:pPr algn="ctr"/>
            <a:r>
              <a:rPr lang="en-US" sz="4000" b="0" cap="none" spc="0" dirty="0">
                <a:ln w="0"/>
                <a:solidFill>
                  <a:schemeClr val="accent2">
                    <a:lumMod val="75000"/>
                  </a:schemeClr>
                </a:solidFill>
                <a:effectLst>
                  <a:outerShdw blurRad="38100" dist="25400" dir="5400000" algn="ctr" rotWithShape="0">
                    <a:srgbClr val="6E747A">
                      <a:alpha val="43000"/>
                    </a:srgbClr>
                  </a:outerShdw>
                </a:effectLst>
                <a:latin typeface="Cooper Black" panose="0208090404030B020404" pitchFamily="18" charset="0"/>
              </a:rPr>
              <a:t>IOT-BASED DEEP LEARNING COLLISION AVOIDANCE </a:t>
            </a:r>
          </a:p>
          <a:p>
            <a:pPr algn="ctr"/>
            <a:r>
              <a:rPr lang="en-US" sz="4000" b="0" cap="none" spc="0" dirty="0">
                <a:ln w="0"/>
                <a:solidFill>
                  <a:schemeClr val="accent2">
                    <a:lumMod val="75000"/>
                  </a:schemeClr>
                </a:solidFill>
                <a:effectLst>
                  <a:outerShdw blurRad="38100" dist="25400" dir="5400000" algn="ctr" rotWithShape="0">
                    <a:srgbClr val="6E747A">
                      <a:alpha val="43000"/>
                    </a:srgbClr>
                  </a:outerShdw>
                </a:effectLst>
                <a:latin typeface="Cooper Black" panose="0208090404030B020404" pitchFamily="18" charset="0"/>
              </a:rPr>
              <a:t>SYSTEM FOR MULTIHAZARD ROAD SAFETY</a:t>
            </a:r>
            <a:endParaRPr lang="en-IN" sz="4000" b="0" cap="none" spc="0" dirty="0">
              <a:ln w="0"/>
              <a:solidFill>
                <a:schemeClr val="accent2">
                  <a:lumMod val="75000"/>
                </a:schemeClr>
              </a:solidFill>
              <a:effectLst>
                <a:outerShdw blurRad="38100" dist="25400" dir="5400000" algn="ctr" rotWithShape="0">
                  <a:srgbClr val="6E747A">
                    <a:alpha val="43000"/>
                  </a:srgbClr>
                </a:outerShdw>
              </a:effectLst>
              <a:latin typeface="Cooper Black" panose="0208090404030B020404" pitchFamily="18" charset="0"/>
            </a:endParaRPr>
          </a:p>
        </p:txBody>
      </p:sp>
      <p:sp>
        <p:nvSpPr>
          <p:cNvPr id="15" name="TextBox 14">
            <a:extLst>
              <a:ext uri="{FF2B5EF4-FFF2-40B4-BE49-F238E27FC236}">
                <a16:creationId xmlns:a16="http://schemas.microsoft.com/office/drawing/2014/main" id="{B00EB108-73AE-3ACE-F7BE-B74733736615}"/>
              </a:ext>
            </a:extLst>
          </p:cNvPr>
          <p:cNvSpPr txBox="1"/>
          <p:nvPr/>
        </p:nvSpPr>
        <p:spPr>
          <a:xfrm>
            <a:off x="922620" y="6703264"/>
            <a:ext cx="5105400" cy="646331"/>
          </a:xfrm>
          <a:prstGeom prst="rect">
            <a:avLst/>
          </a:prstGeom>
          <a:noFill/>
        </p:spPr>
        <p:txBody>
          <a:bodyPr wrap="square">
            <a:spAutoFit/>
          </a:bodyPr>
          <a:lstStyle/>
          <a:p>
            <a:r>
              <a:rPr lang="en-US" sz="3600" b="1" dirty="0">
                <a:solidFill>
                  <a:srgbClr val="0070C0"/>
                </a:solidFill>
                <a:latin typeface="Source Sans Pro" panose="020B0503030403020204" pitchFamily="34" charset="0"/>
                <a:ea typeface="Source Sans Pro" panose="020B0503030403020204" pitchFamily="34" charset="0"/>
                <a:cs typeface="Times New Roman" pitchFamily="18" charset="0"/>
              </a:rPr>
              <a:t>Under the guidance Of:</a:t>
            </a:r>
          </a:p>
        </p:txBody>
      </p:sp>
      <p:sp>
        <p:nvSpPr>
          <p:cNvPr id="17" name="TextBox 16">
            <a:extLst>
              <a:ext uri="{FF2B5EF4-FFF2-40B4-BE49-F238E27FC236}">
                <a16:creationId xmlns:a16="http://schemas.microsoft.com/office/drawing/2014/main" id="{F889F9C1-EEA8-1AD9-F3A2-DFDD8D18C344}"/>
              </a:ext>
            </a:extLst>
          </p:cNvPr>
          <p:cNvSpPr txBox="1"/>
          <p:nvPr/>
        </p:nvSpPr>
        <p:spPr>
          <a:xfrm>
            <a:off x="2083902" y="7434377"/>
            <a:ext cx="5105400" cy="1815882"/>
          </a:xfrm>
          <a:prstGeom prst="rect">
            <a:avLst/>
          </a:prstGeom>
          <a:noFill/>
        </p:spPr>
        <p:txBody>
          <a:bodyPr wrap="square">
            <a:spAutoFit/>
          </a:bodyPr>
          <a:lstStyle/>
          <a:p>
            <a:r>
              <a:rPr lang="en-US" sz="2800" b="1" dirty="0" err="1">
                <a:latin typeface="Source Sans Pro" panose="020B0503030403020204" pitchFamily="34" charset="0"/>
                <a:ea typeface="Source Sans Pro" panose="020B0503030403020204" pitchFamily="34" charset="0"/>
                <a:cs typeface="Times New Roman" pitchFamily="18" charset="0"/>
              </a:rPr>
              <a:t>Mrs.Sathyabhama</a:t>
            </a:r>
            <a:r>
              <a:rPr lang="en-US" sz="2800" b="1" dirty="0">
                <a:latin typeface="Source Sans Pro" panose="020B0503030403020204" pitchFamily="34" charset="0"/>
                <a:ea typeface="Source Sans Pro" panose="020B0503030403020204" pitchFamily="34" charset="0"/>
                <a:cs typeface="Times New Roman" pitchFamily="18" charset="0"/>
              </a:rPr>
              <a:t> R </a:t>
            </a:r>
            <a:r>
              <a:rPr lang="en-US" b="1" dirty="0">
                <a:latin typeface="Source Sans Pro" panose="020B0503030403020204" pitchFamily="34" charset="0"/>
                <a:ea typeface="Source Sans Pro" panose="020B0503030403020204" pitchFamily="34" charset="0"/>
                <a:cs typeface="Times New Roman" pitchFamily="18" charset="0"/>
              </a:rPr>
              <a:t>B.E, </a:t>
            </a:r>
            <a:r>
              <a:rPr lang="en-US" b="1" dirty="0" err="1">
                <a:latin typeface="Source Sans Pro" panose="020B0503030403020204" pitchFamily="34" charset="0"/>
                <a:ea typeface="Source Sans Pro" panose="020B0503030403020204" pitchFamily="34" charset="0"/>
                <a:cs typeface="Times New Roman" pitchFamily="18" charset="0"/>
              </a:rPr>
              <a:t>M.Tech</a:t>
            </a:r>
            <a:r>
              <a:rPr lang="en-US" b="1" dirty="0">
                <a:latin typeface="Source Sans Pro" panose="020B0503030403020204" pitchFamily="34" charset="0"/>
                <a:ea typeface="Source Sans Pro" panose="020B0503030403020204" pitchFamily="34" charset="0"/>
                <a:cs typeface="Times New Roman" pitchFamily="18" charset="0"/>
              </a:rPr>
              <a:t>.,</a:t>
            </a:r>
          </a:p>
          <a:p>
            <a:r>
              <a:rPr lang="en-US" sz="2800" b="1" dirty="0">
                <a:latin typeface="Source Sans Pro" panose="020B0503030403020204" pitchFamily="34" charset="0"/>
                <a:ea typeface="Source Sans Pro" panose="020B0503030403020204" pitchFamily="34" charset="0"/>
                <a:cs typeface="Times New Roman" pitchFamily="18" charset="0"/>
              </a:rPr>
              <a:t>	Assistant Professor,</a:t>
            </a:r>
          </a:p>
          <a:p>
            <a:r>
              <a:rPr lang="en-US" sz="2800" b="1" dirty="0">
                <a:latin typeface="Source Sans Pro" panose="020B0503030403020204" pitchFamily="34" charset="0"/>
                <a:ea typeface="Source Sans Pro" panose="020B0503030403020204" pitchFamily="34" charset="0"/>
                <a:cs typeface="Times New Roman" pitchFamily="18" charset="0"/>
              </a:rPr>
              <a:t>	Dept. of AIML,</a:t>
            </a:r>
          </a:p>
          <a:p>
            <a:r>
              <a:rPr lang="en-US" sz="2800" b="1" dirty="0">
                <a:latin typeface="Source Sans Pro" panose="020B0503030403020204" pitchFamily="34" charset="0"/>
                <a:ea typeface="Source Sans Pro" panose="020B0503030403020204" pitchFamily="34" charset="0"/>
                <a:cs typeface="Times New Roman" pitchFamily="18" charset="0"/>
              </a:rPr>
              <a:t>	AIT, </a:t>
            </a:r>
            <a:r>
              <a:rPr lang="en-US" sz="2800" b="1" dirty="0" err="1">
                <a:latin typeface="Source Sans Pro" panose="020B0503030403020204" pitchFamily="34" charset="0"/>
                <a:ea typeface="Source Sans Pro" panose="020B0503030403020204" pitchFamily="34" charset="0"/>
                <a:cs typeface="Times New Roman" pitchFamily="18" charset="0"/>
              </a:rPr>
              <a:t>Chikkamagaluru</a:t>
            </a:r>
            <a:endParaRPr lang="en-IN" sz="2800" dirty="0"/>
          </a:p>
        </p:txBody>
      </p:sp>
      <p:sp>
        <p:nvSpPr>
          <p:cNvPr id="18" name="Freeform 9">
            <a:extLst>
              <a:ext uri="{FF2B5EF4-FFF2-40B4-BE49-F238E27FC236}">
                <a16:creationId xmlns:a16="http://schemas.microsoft.com/office/drawing/2014/main" id="{EC6C310B-B47E-5BF3-783D-A543DC3D639B}"/>
              </a:ext>
            </a:extLst>
          </p:cNvPr>
          <p:cNvSpPr/>
          <p:nvPr/>
        </p:nvSpPr>
        <p:spPr>
          <a:xfrm>
            <a:off x="8627978" y="7144704"/>
            <a:ext cx="2819400" cy="2212390"/>
          </a:xfrm>
          <a:custGeom>
            <a:avLst/>
            <a:gdLst/>
            <a:ahLst/>
            <a:cxnLst/>
            <a:rect l="l" t="t" r="r" b="b"/>
            <a:pathLst>
              <a:path w="2312266" h="2204719">
                <a:moveTo>
                  <a:pt x="0" y="0"/>
                </a:moveTo>
                <a:lnTo>
                  <a:pt x="2312265" y="0"/>
                </a:lnTo>
                <a:lnTo>
                  <a:pt x="2312265" y="2204718"/>
                </a:lnTo>
                <a:lnTo>
                  <a:pt x="0" y="2204718"/>
                </a:lnTo>
                <a:lnTo>
                  <a:pt x="0" y="0"/>
                </a:lnTo>
                <a:close/>
              </a:path>
            </a:pathLst>
          </a:custGeom>
          <a:blipFill>
            <a:blip r:embed="rId5"/>
            <a:stretch>
              <a:fillRect/>
            </a:stretch>
          </a:blipFill>
        </p:spPr>
      </p:sp>
      <p:sp>
        <p:nvSpPr>
          <p:cNvPr id="20" name="TextBox 19">
            <a:extLst>
              <a:ext uri="{FF2B5EF4-FFF2-40B4-BE49-F238E27FC236}">
                <a16:creationId xmlns:a16="http://schemas.microsoft.com/office/drawing/2014/main" id="{6F091B2B-BED6-4852-F15E-95222EE0FE6A}"/>
              </a:ext>
            </a:extLst>
          </p:cNvPr>
          <p:cNvSpPr txBox="1"/>
          <p:nvPr/>
        </p:nvSpPr>
        <p:spPr>
          <a:xfrm>
            <a:off x="13541701" y="6781968"/>
            <a:ext cx="3498396" cy="646331"/>
          </a:xfrm>
          <a:prstGeom prst="rect">
            <a:avLst/>
          </a:prstGeom>
          <a:noFill/>
        </p:spPr>
        <p:txBody>
          <a:bodyPr wrap="square">
            <a:spAutoFit/>
          </a:bodyPr>
          <a:lstStyle/>
          <a:p>
            <a:pPr algn="l"/>
            <a:r>
              <a:rPr lang="en-US" sz="3600" b="1" dirty="0">
                <a:solidFill>
                  <a:srgbClr val="0070C0"/>
                </a:solidFill>
                <a:latin typeface="Source Sans Pro" panose="020B0503030403020204" pitchFamily="34" charset="0"/>
                <a:ea typeface="Source Sans Pro" panose="020B0503030403020204" pitchFamily="34" charset="0"/>
                <a:cs typeface="Times New Roman" panose="02020603050405020304" pitchFamily="18" charset="0"/>
                <a:sym typeface="Dynamo Medium"/>
              </a:rPr>
              <a:t>Presented by:</a:t>
            </a:r>
          </a:p>
        </p:txBody>
      </p:sp>
      <p:sp>
        <p:nvSpPr>
          <p:cNvPr id="22" name="TextBox 21">
            <a:extLst>
              <a:ext uri="{FF2B5EF4-FFF2-40B4-BE49-F238E27FC236}">
                <a16:creationId xmlns:a16="http://schemas.microsoft.com/office/drawing/2014/main" id="{E0923387-01EE-1189-2322-4CD2DC8ADBBF}"/>
              </a:ext>
            </a:extLst>
          </p:cNvPr>
          <p:cNvSpPr txBox="1"/>
          <p:nvPr/>
        </p:nvSpPr>
        <p:spPr>
          <a:xfrm>
            <a:off x="13560043" y="7428299"/>
            <a:ext cx="5105400" cy="1815882"/>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Akshay K R (4AI23AI002)</a:t>
            </a:r>
          </a:p>
          <a:p>
            <a:r>
              <a:rPr lang="en-US" sz="2800" b="1" dirty="0">
                <a:latin typeface="Times New Roman" panose="02020603050405020304" pitchFamily="18" charset="0"/>
                <a:cs typeface="Times New Roman" panose="02020603050405020304" pitchFamily="18" charset="0"/>
              </a:rPr>
              <a:t>Ayesha (4AI23AI005)</a:t>
            </a:r>
          </a:p>
          <a:p>
            <a:r>
              <a:rPr lang="en-US" sz="2800" b="1" dirty="0">
                <a:latin typeface="Times New Roman" panose="02020603050405020304" pitchFamily="18" charset="0"/>
                <a:cs typeface="Times New Roman" panose="02020603050405020304" pitchFamily="18" charset="0"/>
              </a:rPr>
              <a:t>Ayesha </a:t>
            </a:r>
            <a:r>
              <a:rPr lang="en-US" sz="2800" b="1" dirty="0" err="1">
                <a:latin typeface="Times New Roman" panose="02020603050405020304" pitchFamily="18" charset="0"/>
                <a:cs typeface="Times New Roman" panose="02020603050405020304" pitchFamily="18" charset="0"/>
              </a:rPr>
              <a:t>Siddiqha</a:t>
            </a:r>
            <a:r>
              <a:rPr lang="en-US" sz="2800" b="1" dirty="0">
                <a:latin typeface="Times New Roman" panose="02020603050405020304" pitchFamily="18" charset="0"/>
                <a:cs typeface="Times New Roman" panose="02020603050405020304" pitchFamily="18" charset="0"/>
              </a:rPr>
              <a:t> (4AI23AI006)</a:t>
            </a:r>
          </a:p>
          <a:p>
            <a:r>
              <a:rPr lang="en-US" sz="2800" b="1" dirty="0">
                <a:latin typeface="Times New Roman" panose="02020603050405020304" pitchFamily="18" charset="0"/>
                <a:cs typeface="Times New Roman" panose="02020603050405020304" pitchFamily="18" charset="0"/>
              </a:rPr>
              <a:t>Thanishka M (4AI23AI058)</a:t>
            </a:r>
            <a:endParaRPr lang="en-IN" sz="2800" b="1" dirty="0">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8133D3B1-CBE6-DB29-21A8-166A60BECC47}"/>
              </a:ext>
            </a:extLst>
          </p:cNvPr>
          <p:cNvPicPr>
            <a:picLocks noChangeAspect="1"/>
          </p:cNvPicPr>
          <p:nvPr/>
        </p:nvPicPr>
        <p:blipFill>
          <a:blip r:embed="rId6"/>
          <a:srcRect/>
          <a:stretch>
            <a:fillRect/>
          </a:stretch>
        </p:blipFill>
        <p:spPr>
          <a:xfrm>
            <a:off x="9152067" y="2418990"/>
            <a:ext cx="1433383" cy="1541742"/>
          </a:xfrm>
          <a:prstGeom prst="rect">
            <a:avLst/>
          </a:prstGeom>
          <a:noFill/>
          <a:ln cap="flat">
            <a:noFill/>
          </a:ln>
        </p:spPr>
      </p:pic>
    </p:spTree>
    <p:extLst>
      <p:ext uri="{BB962C8B-B14F-4D97-AF65-F5344CB8AC3E}">
        <p14:creationId xmlns:p14="http://schemas.microsoft.com/office/powerpoint/2010/main" val="39455201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350" y="0"/>
            <a:ext cx="20104099" cy="11309350"/>
          </a:xfrm>
          <a:prstGeom prst="rect">
            <a:avLst/>
          </a:prstGeom>
          <a:blipFill>
            <a:blip r:embed="rId2" cstate="print"/>
            <a:stretch>
              <a:fillRect/>
            </a:stretch>
          </a:blipFill>
        </p:spPr>
        <p:txBody>
          <a:bodyPr wrap="square" lIns="0" tIns="0" rIns="0" bIns="0" rtlCol="0"/>
          <a:lstStyle/>
          <a:p>
            <a:endParaRPr lang="en-IN" b="1" dirty="0">
              <a:solidFill>
                <a:schemeClr val="tx2">
                  <a:lumMod val="50000"/>
                </a:schemeClr>
              </a:solidFill>
              <a:latin typeface="Times New Roman" panose="02020603050405020304" pitchFamily="18" charset="0"/>
              <a:ea typeface="Source Sans Pro" panose="020B0503030403020204" pitchFamily="34" charset="0"/>
              <a:cs typeface="Times New Roman" panose="02020603050405020304" pitchFamily="18" charset="0"/>
            </a:endParaRPr>
          </a:p>
        </p:txBody>
      </p:sp>
      <p:sp>
        <p:nvSpPr>
          <p:cNvPr id="6" name="object 6"/>
          <p:cNvSpPr txBox="1"/>
          <p:nvPr/>
        </p:nvSpPr>
        <p:spPr>
          <a:xfrm>
            <a:off x="1365250" y="4366621"/>
            <a:ext cx="6096000" cy="2886688"/>
          </a:xfrm>
          <a:prstGeom prst="rect">
            <a:avLst/>
          </a:prstGeom>
        </p:spPr>
        <p:txBody>
          <a:bodyPr vert="horz" wrap="square" lIns="0" tIns="11430" rIns="0" bIns="0" rtlCol="0">
            <a:spAutoFit/>
          </a:bodyPr>
          <a:lstStyle/>
          <a:p>
            <a:pPr marL="12700">
              <a:spcBef>
                <a:spcPts val="90"/>
              </a:spcBef>
            </a:pPr>
            <a:r>
              <a:rPr lang="en-US" sz="9600" b="1" dirty="0">
                <a:solidFill>
                  <a:schemeClr val="bg1"/>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Dubai Medium" panose="020B0603030403030204" pitchFamily="34" charset="-78"/>
              </a:rPr>
              <a:t>AGENDA</a:t>
            </a:r>
            <a:endParaRPr lang="en-IN" sz="9600" b="1" dirty="0">
              <a:solidFill>
                <a:schemeClr val="bg1"/>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Dubai Medium" panose="020B0603030403030204" pitchFamily="34" charset="-78"/>
            </a:endParaRPr>
          </a:p>
          <a:p>
            <a:pPr marL="12700">
              <a:lnSpc>
                <a:spcPct val="100000"/>
              </a:lnSpc>
              <a:spcBef>
                <a:spcPts val="90"/>
              </a:spcBef>
            </a:pPr>
            <a:endParaRPr sz="9000" dirty="0">
              <a:latin typeface="Rajdhani"/>
              <a:cs typeface="Rajdhani"/>
            </a:endParaRPr>
          </a:p>
        </p:txBody>
      </p:sp>
      <p:sp>
        <p:nvSpPr>
          <p:cNvPr id="7" name="TextBox 6">
            <a:extLst>
              <a:ext uri="{FF2B5EF4-FFF2-40B4-BE49-F238E27FC236}">
                <a16:creationId xmlns:a16="http://schemas.microsoft.com/office/drawing/2014/main" id="{F65C7D2A-70BF-D923-EA51-3215EB79B770}"/>
              </a:ext>
            </a:extLst>
          </p:cNvPr>
          <p:cNvSpPr txBox="1"/>
          <p:nvPr/>
        </p:nvSpPr>
        <p:spPr>
          <a:xfrm>
            <a:off x="10204450" y="2225675"/>
            <a:ext cx="9372602" cy="7789953"/>
          </a:xfrm>
          <a:prstGeom prst="rect">
            <a:avLst/>
          </a:prstGeom>
          <a:noFill/>
        </p:spPr>
        <p:txBody>
          <a:bodyPr wrap="square" rtlCol="0">
            <a:spAutoFit/>
          </a:bodyPr>
          <a:lstStyle/>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Abstract</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Introduction</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Literature Survey</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Motivation</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Problem Statement</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Objectives</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Scope of the Project</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Hardware and Software Requirements</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System Design</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Detailed Design &amp; Algorithm Tracing</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Implementation(Algorithm and Pseudocode</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Results and Discussion</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Conclusion &amp; Future Work</a:t>
            </a:r>
          </a:p>
          <a:p>
            <a:pPr marL="571500" indent="-571500">
              <a:buFont typeface="Arial" panose="020B0604020202020204" pitchFamily="34" charset="0"/>
              <a:buChar char="•"/>
            </a:pPr>
            <a:r>
              <a:rPr lang="en-IN" sz="3400" b="1"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References</a:t>
            </a:r>
          </a:p>
          <a:p>
            <a:pPr>
              <a:lnSpc>
                <a:spcPct val="150000"/>
              </a:lnSpc>
            </a:pP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7536233" y="8606031"/>
            <a:ext cx="2582845" cy="2702525"/>
          </a:xfrm>
          <a:prstGeom prst="rect">
            <a:avLst/>
          </a:prstGeom>
          <a:blipFill>
            <a:blip r:embed="rId2" cstate="print"/>
            <a:stretch>
              <a:fillRect/>
            </a:stretch>
          </a:blipFill>
        </p:spPr>
        <p:txBody>
          <a:bodyPr wrap="square" lIns="0" tIns="0" rIns="0" bIns="0" rtlCol="0"/>
          <a:lstStyle/>
          <a:p>
            <a:endParaRPr/>
          </a:p>
        </p:txBody>
      </p:sp>
      <p:sp>
        <p:nvSpPr>
          <p:cNvPr id="3" name="object 3"/>
          <p:cNvSpPr/>
          <p:nvPr/>
        </p:nvSpPr>
        <p:spPr>
          <a:xfrm>
            <a:off x="-3403" y="0"/>
            <a:ext cx="20104099" cy="6826738"/>
          </a:xfrm>
          <a:prstGeom prst="rect">
            <a:avLst/>
          </a:prstGeom>
          <a:blipFill>
            <a:blip r:embed="rId3" cstate="print"/>
            <a:stretch>
              <a:fillRect/>
            </a:stretch>
          </a:blipFill>
        </p:spPr>
        <p:txBody>
          <a:bodyPr wrap="square" lIns="0" tIns="0" rIns="0" bIns="0" rtlCol="0"/>
          <a:lstStyle/>
          <a:p>
            <a:endParaRPr dirty="0"/>
          </a:p>
        </p:txBody>
      </p:sp>
      <p:sp>
        <p:nvSpPr>
          <p:cNvPr id="7" name="object 7"/>
          <p:cNvSpPr txBox="1"/>
          <p:nvPr/>
        </p:nvSpPr>
        <p:spPr>
          <a:xfrm>
            <a:off x="1898650" y="3512764"/>
            <a:ext cx="16687800" cy="5282856"/>
          </a:xfrm>
          <a:prstGeom prst="rect">
            <a:avLst/>
          </a:prstGeom>
        </p:spPr>
        <p:txBody>
          <a:bodyPr vert="horz" wrap="square" lIns="0" tIns="294005" rIns="0" bIns="0" rtlCol="0">
            <a:spAutoFit/>
          </a:bodyPr>
          <a:lstStyle/>
          <a:p>
            <a:pPr algn="just"/>
            <a:r>
              <a:rPr lang="en-US" altLang="en-US" sz="3600" dirty="0">
                <a:solidFill>
                  <a:schemeClr val="tx2">
                    <a:lumMod val="75000"/>
                  </a:schemeClr>
                </a:solidFill>
                <a:latin typeface="Arial Rounded MT Bold" panose="020F0704030504030204" pitchFamily="34" charset="0"/>
                <a:ea typeface="Source Sans Pro" panose="020B0503030403020204" pitchFamily="34" charset="0"/>
                <a:cs typeface="Times New Roman" panose="02020603050405020304" pitchFamily="18" charset="0"/>
              </a:rPr>
              <a:t>        </a:t>
            </a:r>
            <a:r>
              <a:rPr lang="en-US" altLang="en-US" sz="3600"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Existing systems in the Intelligent Transportation and Road Safety domain use deep learning models such as CNN and YOLO for detecting road hazards and providing driver alerts. These AI and IoT-based solutions mainly focus on single-hazard detection without real-time collision risk prediction.</a:t>
            </a:r>
          </a:p>
          <a:p>
            <a:pPr marL="571500" indent="-571500" algn="just">
              <a:buFont typeface="Arial" panose="020B0604020202020204" pitchFamily="34" charset="0"/>
              <a:buChar char="•"/>
            </a:pPr>
            <a:endParaRPr lang="en-US" altLang="en-US" sz="3600"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endParaRPr>
          </a:p>
          <a:p>
            <a:pPr algn="just"/>
            <a:r>
              <a:rPr lang="en-US" altLang="en-US" sz="3600" dirty="0">
                <a:solidFill>
                  <a:schemeClr val="tx2">
                    <a:lumMod val="75000"/>
                  </a:schemeClr>
                </a:solidFill>
                <a:latin typeface="Imprint MT Shadow" panose="04020605060303030202" pitchFamily="82" charset="0"/>
                <a:ea typeface="Source Sans Pro" panose="020B0503030403020204" pitchFamily="34" charset="0"/>
                <a:cs typeface="Times New Roman" panose="02020603050405020304" pitchFamily="18" charset="0"/>
              </a:rPr>
              <a:t>        The Proposed system, the Artificial Intelligence and Smart Transportation domain, implements a YOLOv8-based multi-hazard detection and emergency braking alert system that performs real-time hazard detection, distance estimation, and collision risk prediction with alert notifications using minimal IoT hardware.</a:t>
            </a:r>
            <a:endParaRPr lang="en-US" sz="3200" dirty="0">
              <a:latin typeface="Imprint MT Shadow" panose="04020605060303030202" pitchFamily="82" charset="0"/>
              <a:cs typeface="Rajdhani"/>
            </a:endParaRPr>
          </a:p>
        </p:txBody>
      </p:sp>
      <p:sp>
        <p:nvSpPr>
          <p:cNvPr id="8" name="TextBox 7">
            <a:extLst>
              <a:ext uri="{FF2B5EF4-FFF2-40B4-BE49-F238E27FC236}">
                <a16:creationId xmlns:a16="http://schemas.microsoft.com/office/drawing/2014/main" id="{3D586EAE-E8AF-3C3E-25CB-357A5ABBF2F6}"/>
              </a:ext>
            </a:extLst>
          </p:cNvPr>
          <p:cNvSpPr txBox="1"/>
          <p:nvPr/>
        </p:nvSpPr>
        <p:spPr>
          <a:xfrm>
            <a:off x="984250" y="625475"/>
            <a:ext cx="5105400" cy="1107996"/>
          </a:xfrm>
          <a:prstGeom prst="rect">
            <a:avLst/>
          </a:prstGeom>
          <a:noFill/>
        </p:spPr>
        <p:txBody>
          <a:bodyPr wrap="square" rtlCol="0">
            <a:spAutoFit/>
          </a:bodyPr>
          <a:lstStyle/>
          <a:p>
            <a:r>
              <a:rPr lang="en-US" sz="6600" b="1" dirty="0">
                <a:solidFill>
                  <a:schemeClr val="bg1"/>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Times New Roman" panose="02020603050405020304" pitchFamily="18" charset="0"/>
              </a:rPr>
              <a:t>ABSTRACT</a:t>
            </a:r>
            <a:endParaRPr lang="en-IN" sz="6600" dirty="0">
              <a:solidFill>
                <a:schemeClr val="bg1"/>
              </a:solidFill>
              <a:latin typeface="Imprint MT Shadow" panose="04020605060303030202" pitchFamily="82"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bk object 20"/>
          <p:cNvSpPr/>
          <p:nvPr/>
        </p:nvSpPr>
        <p:spPr>
          <a:xfrm>
            <a:off x="18053049" y="9236075"/>
            <a:ext cx="2051049" cy="2072480"/>
          </a:xfrm>
          <a:prstGeom prst="rect">
            <a:avLst/>
          </a:prstGeom>
          <a:blipFill>
            <a:blip r:embed="rId2" cstate="print"/>
            <a:stretch>
              <a:fillRect/>
            </a:stretch>
          </a:blipFill>
        </p:spPr>
        <p:txBody>
          <a:bodyPr wrap="square" lIns="0" tIns="0" rIns="0" bIns="0" rtlCol="0"/>
          <a:lstStyle/>
          <a:p>
            <a:endParaRPr/>
          </a:p>
        </p:txBody>
      </p:sp>
      <p:sp>
        <p:nvSpPr>
          <p:cNvPr id="9" name="bk object 21"/>
          <p:cNvSpPr/>
          <p:nvPr/>
        </p:nvSpPr>
        <p:spPr>
          <a:xfrm>
            <a:off x="1" y="6225"/>
            <a:ext cx="20104099" cy="4737145"/>
          </a:xfrm>
          <a:prstGeom prst="rect">
            <a:avLst/>
          </a:prstGeom>
          <a:blipFill>
            <a:blip r:embed="rId3" cstate="print"/>
            <a:stretch>
              <a:fillRect/>
            </a:stretch>
          </a:blipFill>
        </p:spPr>
        <p:txBody>
          <a:bodyPr wrap="square" lIns="0" tIns="0" rIns="0" bIns="0" rtlCol="0"/>
          <a:lstStyle/>
          <a:p>
            <a:endParaRPr dirty="0"/>
          </a:p>
        </p:txBody>
      </p:sp>
      <p:sp>
        <p:nvSpPr>
          <p:cNvPr id="3" name="TextBox 2">
            <a:extLst>
              <a:ext uri="{FF2B5EF4-FFF2-40B4-BE49-F238E27FC236}">
                <a16:creationId xmlns:a16="http://schemas.microsoft.com/office/drawing/2014/main" id="{F3A79D3C-B356-E02F-C72A-E13CE7A93876}"/>
              </a:ext>
            </a:extLst>
          </p:cNvPr>
          <p:cNvSpPr txBox="1"/>
          <p:nvPr/>
        </p:nvSpPr>
        <p:spPr>
          <a:xfrm>
            <a:off x="222250" y="-288925"/>
            <a:ext cx="6629400" cy="1345176"/>
          </a:xfrm>
          <a:prstGeom prst="rect">
            <a:avLst/>
          </a:prstGeom>
          <a:noFill/>
        </p:spPr>
        <p:txBody>
          <a:bodyPr wrap="square">
            <a:spAutoFit/>
          </a:bodyPr>
          <a:lstStyle/>
          <a:p>
            <a:pPr algn="l">
              <a:lnSpc>
                <a:spcPts val="11200"/>
              </a:lnSpc>
            </a:pPr>
            <a:r>
              <a:rPr lang="en-US" sz="5400" b="1" dirty="0">
                <a:solidFill>
                  <a:schemeClr val="bg1"/>
                </a:solidFill>
                <a:effectLst>
                  <a:reflection blurRad="6350" stA="55000" endA="300" endPos="45500" dir="5400000" sy="-100000" algn="bl" rotWithShape="0"/>
                </a:effectLst>
                <a:latin typeface="Imprint MT Shadow" panose="04020605060303030202" pitchFamily="82" charset="0"/>
                <a:ea typeface="Dynamo Medium"/>
                <a:cs typeface="Times New Roman" panose="02020603050405020304" pitchFamily="18" charset="0"/>
                <a:sym typeface="Dynamo Medium"/>
              </a:rPr>
              <a:t>INTRODUCTION</a:t>
            </a:r>
          </a:p>
        </p:txBody>
      </p:sp>
      <p:pic>
        <p:nvPicPr>
          <p:cNvPr id="15" name="Picture 14">
            <a:extLst>
              <a:ext uri="{FF2B5EF4-FFF2-40B4-BE49-F238E27FC236}">
                <a16:creationId xmlns:a16="http://schemas.microsoft.com/office/drawing/2014/main" id="{CF977AB5-8837-97D5-D398-282B71D5C1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9450" y="3655050"/>
            <a:ext cx="5462962" cy="4524315"/>
          </a:xfrm>
          <a:prstGeom prst="rect">
            <a:avLst/>
          </a:prstGeom>
        </p:spPr>
      </p:pic>
      <p:sp>
        <p:nvSpPr>
          <p:cNvPr id="27" name="TextBox 26">
            <a:extLst>
              <a:ext uri="{FF2B5EF4-FFF2-40B4-BE49-F238E27FC236}">
                <a16:creationId xmlns:a16="http://schemas.microsoft.com/office/drawing/2014/main" id="{837973FC-D34B-2844-208A-5C54D3C43BAB}"/>
              </a:ext>
            </a:extLst>
          </p:cNvPr>
          <p:cNvSpPr txBox="1"/>
          <p:nvPr/>
        </p:nvSpPr>
        <p:spPr>
          <a:xfrm>
            <a:off x="6463083" y="3902075"/>
            <a:ext cx="13249456" cy="4524315"/>
          </a:xfrm>
          <a:prstGeom prst="rect">
            <a:avLst/>
          </a:prstGeom>
          <a:noFill/>
        </p:spPr>
        <p:txBody>
          <a:bodyPr wrap="square">
            <a:spAutoFit/>
          </a:bodyPr>
          <a:lstStyle/>
          <a:p>
            <a:pPr algn="just"/>
            <a:r>
              <a:rPr lang="en-IN" sz="3600" b="1" dirty="0">
                <a:latin typeface="Imprint MT Shadow" panose="04020605060303030202" pitchFamily="82" charset="0"/>
                <a:cs typeface="Times New Roman Medium" panose="020B0604020202020204" charset="0"/>
              </a:rPr>
              <a:t>Detecting Potholes:</a:t>
            </a:r>
          </a:p>
          <a:p>
            <a:pPr algn="just"/>
            <a:r>
              <a:rPr lang="en-US" sz="3600" dirty="0">
                <a:latin typeface="Imprint MT Shadow" panose="04020605060303030202" pitchFamily="82" charset="0"/>
              </a:rPr>
              <a:t>Potholes are detected using the </a:t>
            </a:r>
            <a:r>
              <a:rPr lang="en-US" sz="3600" b="1" dirty="0">
                <a:latin typeface="Imprint MT Shadow" panose="04020605060303030202" pitchFamily="82" charset="0"/>
              </a:rPr>
              <a:t>YOLOv8</a:t>
            </a:r>
            <a:r>
              <a:rPr lang="en-US" sz="3600" dirty="0">
                <a:latin typeface="Imprint MT Shadow" panose="04020605060303030202" pitchFamily="82" charset="0"/>
              </a:rPr>
              <a:t> deep learning model with computer vision for real-time road hazard detection.</a:t>
            </a:r>
            <a:br>
              <a:rPr lang="en-US" sz="3600" dirty="0">
                <a:latin typeface="Imprint MT Shadow" panose="04020605060303030202" pitchFamily="82" charset="0"/>
              </a:rPr>
            </a:br>
            <a:endParaRPr lang="en-US" sz="3600" dirty="0">
              <a:latin typeface="Imprint MT Shadow" panose="04020605060303030202" pitchFamily="82" charset="0"/>
            </a:endParaRPr>
          </a:p>
          <a:p>
            <a:pPr algn="just"/>
            <a:r>
              <a:rPr lang="en-US" sz="3600" dirty="0">
                <a:latin typeface="Imprint MT Shadow" panose="04020605060303030202" pitchFamily="82" charset="0"/>
              </a:rPr>
              <a:t>The system analyzes camera frames using </a:t>
            </a:r>
            <a:r>
              <a:rPr lang="en-US" sz="3600" b="1" dirty="0">
                <a:latin typeface="Imprint MT Shadow" panose="04020605060303030202" pitchFamily="82" charset="0"/>
              </a:rPr>
              <a:t>bounding box detection</a:t>
            </a:r>
            <a:r>
              <a:rPr lang="en-US" sz="3600" dirty="0">
                <a:latin typeface="Imprint MT Shadow" panose="04020605060303030202" pitchFamily="82" charset="0"/>
              </a:rPr>
              <a:t> and highlights potholes on the dashboard for </a:t>
            </a:r>
            <a:r>
              <a:rPr lang="en-US" sz="3600" b="1" dirty="0">
                <a:latin typeface="Imprint MT Shadow" panose="04020605060303030202" pitchFamily="82" charset="0"/>
              </a:rPr>
              <a:t>distance estimation and driver alerts</a:t>
            </a:r>
            <a:r>
              <a:rPr lang="en-US" sz="3600" dirty="0">
                <a:latin typeface="Imprint MT Shadow" panose="04020605060303030202" pitchFamily="82" charset="0"/>
              </a:rPr>
              <a:t>. .</a:t>
            </a:r>
            <a:endParaRPr lang="en-IN" sz="3600" dirty="0">
              <a:latin typeface="Imprint MT Shadow" panose="04020605060303030202" pitchFamily="82" charset="0"/>
              <a:cs typeface="Times New Roman Medium" panose="020B0604020202020204" charset="0"/>
            </a:endParaRPr>
          </a:p>
          <a:p>
            <a:pPr algn="just"/>
            <a:endParaRPr lang="en-IN" sz="3600" b="1" dirty="0">
              <a:latin typeface="Imprint MT Shadow" panose="04020605060303030202" pitchFamily="82" charset="0"/>
              <a:cs typeface="Times New Roman Medium"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k object 21">
            <a:extLst>
              <a:ext uri="{FF2B5EF4-FFF2-40B4-BE49-F238E27FC236}">
                <a16:creationId xmlns:a16="http://schemas.microsoft.com/office/drawing/2014/main" id="{C2D5D5CB-F437-4A85-9FA4-31081641B6A6}"/>
              </a:ext>
            </a:extLst>
          </p:cNvPr>
          <p:cNvSpPr/>
          <p:nvPr/>
        </p:nvSpPr>
        <p:spPr>
          <a:xfrm>
            <a:off x="1" y="6225"/>
            <a:ext cx="20104099" cy="4737145"/>
          </a:xfrm>
          <a:prstGeom prst="rect">
            <a:avLst/>
          </a:prstGeom>
          <a:blipFill>
            <a:blip r:embed="rId2" cstate="print"/>
            <a:stretch>
              <a:fillRect/>
            </a:stretch>
          </a:blipFill>
        </p:spPr>
        <p:txBody>
          <a:bodyPr wrap="square" lIns="0" tIns="0" rIns="0" bIns="0" rtlCol="0"/>
          <a:lstStyle/>
          <a:p>
            <a:endParaRPr dirty="0"/>
          </a:p>
        </p:txBody>
      </p:sp>
      <p:sp>
        <p:nvSpPr>
          <p:cNvPr id="3" name="bk object 20">
            <a:extLst>
              <a:ext uri="{FF2B5EF4-FFF2-40B4-BE49-F238E27FC236}">
                <a16:creationId xmlns:a16="http://schemas.microsoft.com/office/drawing/2014/main" id="{2B55E468-1C7A-4552-BC1B-E2AF572A606E}"/>
              </a:ext>
            </a:extLst>
          </p:cNvPr>
          <p:cNvSpPr/>
          <p:nvPr/>
        </p:nvSpPr>
        <p:spPr>
          <a:xfrm>
            <a:off x="18053049" y="9236075"/>
            <a:ext cx="2051049" cy="2072480"/>
          </a:xfrm>
          <a:prstGeom prst="rect">
            <a:avLst/>
          </a:prstGeom>
          <a:blipFill>
            <a:blip r:embed="rId3" cstate="print"/>
            <a:stretch>
              <a:fillRect/>
            </a:stretch>
          </a:blipFill>
        </p:spPr>
        <p:txBody>
          <a:bodyPr wrap="square" lIns="0" tIns="0" rIns="0" bIns="0" rtlCol="0"/>
          <a:lstStyle/>
          <a:p>
            <a:endParaRPr/>
          </a:p>
        </p:txBody>
      </p:sp>
      <p:pic>
        <p:nvPicPr>
          <p:cNvPr id="4" name="Picture 3">
            <a:extLst>
              <a:ext uri="{FF2B5EF4-FFF2-40B4-BE49-F238E27FC236}">
                <a16:creationId xmlns:a16="http://schemas.microsoft.com/office/drawing/2014/main" id="{593AEE47-C978-447F-8867-6F907D64317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2000" y="4028729"/>
            <a:ext cx="5638800" cy="4832092"/>
          </a:xfrm>
          <a:prstGeom prst="rect">
            <a:avLst/>
          </a:prstGeom>
        </p:spPr>
      </p:pic>
      <p:sp>
        <p:nvSpPr>
          <p:cNvPr id="7" name="TextBox 6">
            <a:extLst>
              <a:ext uri="{FF2B5EF4-FFF2-40B4-BE49-F238E27FC236}">
                <a16:creationId xmlns:a16="http://schemas.microsoft.com/office/drawing/2014/main" id="{FCB7000A-A9B8-4AAA-B7AA-9A379FF79230}"/>
              </a:ext>
            </a:extLst>
          </p:cNvPr>
          <p:cNvSpPr txBox="1"/>
          <p:nvPr/>
        </p:nvSpPr>
        <p:spPr>
          <a:xfrm>
            <a:off x="6851650" y="4004263"/>
            <a:ext cx="12954000" cy="3754874"/>
          </a:xfrm>
          <a:prstGeom prst="rect">
            <a:avLst/>
          </a:prstGeom>
          <a:noFill/>
        </p:spPr>
        <p:txBody>
          <a:bodyPr wrap="square">
            <a:spAutoFit/>
          </a:bodyPr>
          <a:lstStyle/>
          <a:p>
            <a:r>
              <a:rPr lang="en-US" sz="3400" b="1" dirty="0">
                <a:latin typeface="Imprint MT Shadow" panose="04020605060303030202" pitchFamily="82" charset="0"/>
              </a:rPr>
              <a:t>Edge Detection</a:t>
            </a:r>
            <a:r>
              <a:rPr lang="en-US" sz="3400" dirty="0">
                <a:latin typeface="Imprint MT Shadow" panose="04020605060303030202" pitchFamily="82" charset="0"/>
              </a:rPr>
              <a:t>: </a:t>
            </a:r>
          </a:p>
          <a:p>
            <a:r>
              <a:rPr lang="en-US" sz="3400" dirty="0">
                <a:latin typeface="Imprint MT Shadow" panose="04020605060303030202" pitchFamily="82" charset="0"/>
              </a:rPr>
              <a:t>Performed using </a:t>
            </a:r>
            <a:r>
              <a:rPr lang="en-US" sz="3400" b="1" dirty="0">
                <a:latin typeface="Imprint MT Shadow" panose="04020605060303030202" pitchFamily="82" charset="0"/>
              </a:rPr>
              <a:t>Canny Edge Detection</a:t>
            </a:r>
            <a:r>
              <a:rPr lang="en-US" sz="3400" dirty="0">
                <a:latin typeface="Imprint MT Shadow" panose="04020605060303030202" pitchFamily="82" charset="0"/>
              </a:rPr>
              <a:t> with </a:t>
            </a:r>
            <a:r>
              <a:rPr lang="en-US" sz="3400" b="1" dirty="0">
                <a:latin typeface="Imprint MT Shadow" panose="04020605060303030202" pitchFamily="82" charset="0"/>
              </a:rPr>
              <a:t>OpenCV</a:t>
            </a:r>
            <a:r>
              <a:rPr lang="en-US" sz="3400" dirty="0">
                <a:latin typeface="Imprint MT Shadow" panose="04020605060303030202" pitchFamily="82" charset="0"/>
              </a:rPr>
              <a:t> to enhance object boundaries and improve detection accuracy.</a:t>
            </a:r>
            <a:br>
              <a:rPr lang="en-US" sz="3400" dirty="0">
                <a:latin typeface="Imprint MT Shadow" panose="04020605060303030202" pitchFamily="82" charset="0"/>
              </a:rPr>
            </a:br>
            <a:endParaRPr lang="en-US" sz="3400" dirty="0">
              <a:latin typeface="Imprint MT Shadow" panose="04020605060303030202" pitchFamily="82" charset="0"/>
            </a:endParaRPr>
          </a:p>
          <a:p>
            <a:r>
              <a:rPr lang="en-US" sz="3400" dirty="0">
                <a:latin typeface="Imprint MT Shadow" panose="04020605060303030202" pitchFamily="82" charset="0"/>
              </a:rPr>
              <a:t>It highlights road features like potholes and speed breakers by detecting intensity changes, helping the deep learning model identify road surface irregularities.. </a:t>
            </a:r>
          </a:p>
        </p:txBody>
      </p:sp>
    </p:spTree>
    <p:extLst>
      <p:ext uri="{BB962C8B-B14F-4D97-AF65-F5344CB8AC3E}">
        <p14:creationId xmlns:p14="http://schemas.microsoft.com/office/powerpoint/2010/main" val="34841824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k object 21">
            <a:extLst>
              <a:ext uri="{FF2B5EF4-FFF2-40B4-BE49-F238E27FC236}">
                <a16:creationId xmlns:a16="http://schemas.microsoft.com/office/drawing/2014/main" id="{0604A3B5-C477-4440-A86F-3A385314CE07}"/>
              </a:ext>
            </a:extLst>
          </p:cNvPr>
          <p:cNvSpPr/>
          <p:nvPr/>
        </p:nvSpPr>
        <p:spPr>
          <a:xfrm>
            <a:off x="1" y="6225"/>
            <a:ext cx="20104099" cy="4737145"/>
          </a:xfrm>
          <a:prstGeom prst="rect">
            <a:avLst/>
          </a:prstGeom>
          <a:blipFill>
            <a:blip r:embed="rId2" cstate="print"/>
            <a:stretch>
              <a:fillRect/>
            </a:stretch>
          </a:blipFill>
        </p:spPr>
        <p:txBody>
          <a:bodyPr wrap="square" lIns="0" tIns="0" rIns="0" bIns="0" rtlCol="0"/>
          <a:lstStyle/>
          <a:p>
            <a:endParaRPr dirty="0"/>
          </a:p>
        </p:txBody>
      </p:sp>
      <p:sp>
        <p:nvSpPr>
          <p:cNvPr id="3" name="bk object 20">
            <a:extLst>
              <a:ext uri="{FF2B5EF4-FFF2-40B4-BE49-F238E27FC236}">
                <a16:creationId xmlns:a16="http://schemas.microsoft.com/office/drawing/2014/main" id="{736EF1FC-F834-496D-89F9-9BF1DB41034C}"/>
              </a:ext>
            </a:extLst>
          </p:cNvPr>
          <p:cNvSpPr/>
          <p:nvPr/>
        </p:nvSpPr>
        <p:spPr>
          <a:xfrm>
            <a:off x="18053049" y="9236075"/>
            <a:ext cx="2051049" cy="2072480"/>
          </a:xfrm>
          <a:prstGeom prst="rect">
            <a:avLst/>
          </a:prstGeom>
          <a:blipFill>
            <a:blip r:embed="rId3" cstate="print"/>
            <a:stretch>
              <a:fillRect/>
            </a:stretch>
          </a:blipFill>
        </p:spPr>
        <p:txBody>
          <a:bodyPr wrap="square" lIns="0" tIns="0" rIns="0" bIns="0" rtlCol="0"/>
          <a:lstStyle/>
          <a:p>
            <a:endParaRPr/>
          </a:p>
        </p:txBody>
      </p:sp>
      <p:pic>
        <p:nvPicPr>
          <p:cNvPr id="4" name="Picture 3">
            <a:extLst>
              <a:ext uri="{FF2B5EF4-FFF2-40B4-BE49-F238E27FC236}">
                <a16:creationId xmlns:a16="http://schemas.microsoft.com/office/drawing/2014/main" id="{4D239FFF-1959-4AD9-AF8D-06EEAD7FDB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0226" y="3820040"/>
            <a:ext cx="5715000" cy="5111235"/>
          </a:xfrm>
          <a:prstGeom prst="rect">
            <a:avLst/>
          </a:prstGeom>
        </p:spPr>
      </p:pic>
      <p:sp>
        <p:nvSpPr>
          <p:cNvPr id="6" name="TextBox 5">
            <a:extLst>
              <a:ext uri="{FF2B5EF4-FFF2-40B4-BE49-F238E27FC236}">
                <a16:creationId xmlns:a16="http://schemas.microsoft.com/office/drawing/2014/main" id="{AE1B15C4-8B4A-4A24-B9E1-58FFEF25B6F0}"/>
              </a:ext>
            </a:extLst>
          </p:cNvPr>
          <p:cNvSpPr txBox="1"/>
          <p:nvPr/>
        </p:nvSpPr>
        <p:spPr>
          <a:xfrm>
            <a:off x="6546850" y="3820040"/>
            <a:ext cx="13411200" cy="4278094"/>
          </a:xfrm>
          <a:prstGeom prst="rect">
            <a:avLst/>
          </a:prstGeom>
          <a:noFill/>
        </p:spPr>
        <p:txBody>
          <a:bodyPr wrap="square">
            <a:spAutoFit/>
          </a:bodyPr>
          <a:lstStyle/>
          <a:p>
            <a:pPr algn="just"/>
            <a:r>
              <a:rPr lang="en-IN" sz="3400" b="1" dirty="0">
                <a:latin typeface="Imprint MT Shadow" panose="04020605060303030202" pitchFamily="82" charset="0"/>
                <a:cs typeface="Times New Roman Medium" panose="020B0604020202020204" charset="0"/>
              </a:rPr>
              <a:t>Pedestrian Detection:</a:t>
            </a:r>
          </a:p>
          <a:p>
            <a:r>
              <a:rPr lang="en-US" sz="3400" dirty="0">
                <a:latin typeface="Imprint MT Shadow" panose="04020605060303030202" pitchFamily="82" charset="0"/>
              </a:rPr>
              <a:t>Pedestrians are detected using the </a:t>
            </a:r>
            <a:r>
              <a:rPr lang="en-US" sz="3400" b="1" dirty="0">
                <a:latin typeface="Imprint MT Shadow" panose="04020605060303030202" pitchFamily="82" charset="0"/>
              </a:rPr>
              <a:t>YOLOv8</a:t>
            </a:r>
            <a:r>
              <a:rPr lang="en-US" sz="3400" dirty="0">
                <a:latin typeface="Imprint MT Shadow" panose="04020605060303030202" pitchFamily="82" charset="0"/>
              </a:rPr>
              <a:t> real-time object detection model with deep learning.</a:t>
            </a:r>
          </a:p>
          <a:p>
            <a:br>
              <a:rPr lang="en-US" sz="3400" dirty="0">
                <a:latin typeface="Imprint MT Shadow" panose="04020605060303030202" pitchFamily="82" charset="0"/>
              </a:rPr>
            </a:br>
            <a:r>
              <a:rPr lang="en-US" sz="3400" dirty="0">
                <a:latin typeface="Imprint MT Shadow" panose="04020605060303030202" pitchFamily="82" charset="0"/>
              </a:rPr>
              <a:t>The system processes camera video frames and identifies pedestrians using bounding box </a:t>
            </a:r>
            <a:r>
              <a:rPr lang="en-US" sz="3400" dirty="0" err="1">
                <a:latin typeface="Imprint MT Shadow" panose="04020605060303030202" pitchFamily="82" charset="0"/>
              </a:rPr>
              <a:t>detection.If</a:t>
            </a:r>
            <a:r>
              <a:rPr lang="en-US" sz="3400" dirty="0">
                <a:latin typeface="Imprint MT Shadow" panose="04020605060303030202" pitchFamily="82" charset="0"/>
              </a:rPr>
              <a:t> a pedestrian appears near the vehicle path, the system generates a warning or emergency alert for driver safety.</a:t>
            </a:r>
            <a:endParaRPr lang="en-IN" sz="3400" dirty="0">
              <a:latin typeface="Imprint MT Shadow" panose="04020605060303030202" pitchFamily="82" charset="0"/>
              <a:cs typeface="Times New Roman Medium" panose="020B0604020202020204" charset="0"/>
            </a:endParaRPr>
          </a:p>
        </p:txBody>
      </p:sp>
    </p:spTree>
    <p:extLst>
      <p:ext uri="{BB962C8B-B14F-4D97-AF65-F5344CB8AC3E}">
        <p14:creationId xmlns:p14="http://schemas.microsoft.com/office/powerpoint/2010/main" val="3015161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k object 21">
            <a:extLst>
              <a:ext uri="{FF2B5EF4-FFF2-40B4-BE49-F238E27FC236}">
                <a16:creationId xmlns:a16="http://schemas.microsoft.com/office/drawing/2014/main" id="{2D3831AE-1CF4-4610-A68F-046ACD8C1439}"/>
              </a:ext>
            </a:extLst>
          </p:cNvPr>
          <p:cNvSpPr/>
          <p:nvPr/>
        </p:nvSpPr>
        <p:spPr>
          <a:xfrm>
            <a:off x="1" y="0"/>
            <a:ext cx="20104099" cy="4737145"/>
          </a:xfrm>
          <a:prstGeom prst="rect">
            <a:avLst/>
          </a:prstGeom>
          <a:blipFill>
            <a:blip r:embed="rId2" cstate="print"/>
            <a:stretch>
              <a:fillRect/>
            </a:stretch>
          </a:blipFill>
        </p:spPr>
        <p:txBody>
          <a:bodyPr wrap="square" lIns="0" tIns="0" rIns="0" bIns="0" rtlCol="0"/>
          <a:lstStyle/>
          <a:p>
            <a:endParaRPr dirty="0"/>
          </a:p>
        </p:txBody>
      </p:sp>
      <p:sp>
        <p:nvSpPr>
          <p:cNvPr id="3" name="bk object 20">
            <a:extLst>
              <a:ext uri="{FF2B5EF4-FFF2-40B4-BE49-F238E27FC236}">
                <a16:creationId xmlns:a16="http://schemas.microsoft.com/office/drawing/2014/main" id="{154EB5E6-D3C3-4A2B-8316-90185F2D0844}"/>
              </a:ext>
            </a:extLst>
          </p:cNvPr>
          <p:cNvSpPr/>
          <p:nvPr/>
        </p:nvSpPr>
        <p:spPr>
          <a:xfrm>
            <a:off x="18053049" y="9236075"/>
            <a:ext cx="2051049" cy="2072480"/>
          </a:xfrm>
          <a:prstGeom prst="rect">
            <a:avLst/>
          </a:prstGeom>
          <a:blipFill>
            <a:blip r:embed="rId3" cstate="print"/>
            <a:stretch>
              <a:fillRect/>
            </a:stretch>
          </a:blipFill>
        </p:spPr>
        <p:txBody>
          <a:bodyPr wrap="square" lIns="0" tIns="0" rIns="0" bIns="0" rtlCol="0"/>
          <a:lstStyle/>
          <a:p>
            <a:endParaRPr/>
          </a:p>
        </p:txBody>
      </p:sp>
      <p:pic>
        <p:nvPicPr>
          <p:cNvPr id="4" name="Picture 3">
            <a:extLst>
              <a:ext uri="{FF2B5EF4-FFF2-40B4-BE49-F238E27FC236}">
                <a16:creationId xmlns:a16="http://schemas.microsoft.com/office/drawing/2014/main" id="{BE5668D5-E820-486B-B691-027D3A5217B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650" y="3705807"/>
            <a:ext cx="6553200" cy="5213409"/>
          </a:xfrm>
          <a:prstGeom prst="rect">
            <a:avLst/>
          </a:prstGeom>
        </p:spPr>
      </p:pic>
      <p:sp>
        <p:nvSpPr>
          <p:cNvPr id="6" name="TextBox 5">
            <a:extLst>
              <a:ext uri="{FF2B5EF4-FFF2-40B4-BE49-F238E27FC236}">
                <a16:creationId xmlns:a16="http://schemas.microsoft.com/office/drawing/2014/main" id="{3CADAB83-3D33-40C3-8392-A8CE7EC67C9B}"/>
              </a:ext>
            </a:extLst>
          </p:cNvPr>
          <p:cNvSpPr txBox="1"/>
          <p:nvPr/>
        </p:nvSpPr>
        <p:spPr>
          <a:xfrm>
            <a:off x="7648575" y="4054475"/>
            <a:ext cx="12115800" cy="3754874"/>
          </a:xfrm>
          <a:prstGeom prst="rect">
            <a:avLst/>
          </a:prstGeom>
          <a:noFill/>
        </p:spPr>
        <p:txBody>
          <a:bodyPr wrap="square">
            <a:spAutoFit/>
          </a:bodyPr>
          <a:lstStyle/>
          <a:p>
            <a:r>
              <a:rPr lang="en-IN" sz="3400" b="1" dirty="0">
                <a:latin typeface="Imprint MT Shadow" panose="04020605060303030202" pitchFamily="82" charset="0"/>
              </a:rPr>
              <a:t>Animal Intrusion Detection:</a:t>
            </a:r>
          </a:p>
          <a:p>
            <a:r>
              <a:rPr lang="en-US" sz="3400" dirty="0">
                <a:latin typeface="Imprint MT Shadow" panose="04020605060303030202" pitchFamily="82" charset="0"/>
              </a:rPr>
              <a:t>Animal intrusion is detected using the </a:t>
            </a:r>
            <a:r>
              <a:rPr lang="en-US" sz="3400" b="1" dirty="0">
                <a:latin typeface="Imprint MT Shadow" panose="04020605060303030202" pitchFamily="82" charset="0"/>
              </a:rPr>
              <a:t>YOLOv8</a:t>
            </a:r>
            <a:r>
              <a:rPr lang="en-US" sz="3400" dirty="0">
                <a:latin typeface="Imprint MT Shadow" panose="04020605060303030202" pitchFamily="82" charset="0"/>
              </a:rPr>
              <a:t> and </a:t>
            </a:r>
            <a:r>
              <a:rPr lang="en-US" sz="3400" b="1" dirty="0">
                <a:latin typeface="Imprint MT Shadow" panose="04020605060303030202" pitchFamily="82" charset="0"/>
              </a:rPr>
              <a:t>Convolutional Neural Networks (CNN)</a:t>
            </a:r>
            <a:r>
              <a:rPr lang="en-US" sz="3400" dirty="0">
                <a:latin typeface="Imprint MT Shadow" panose="04020605060303030202" pitchFamily="82" charset="0"/>
              </a:rPr>
              <a:t> for real-time object classification from camera frames.</a:t>
            </a:r>
          </a:p>
          <a:p>
            <a:br>
              <a:rPr lang="en-US" sz="3400" dirty="0">
                <a:latin typeface="Imprint MT Shadow" panose="04020605060303030202" pitchFamily="82" charset="0"/>
              </a:rPr>
            </a:br>
            <a:r>
              <a:rPr lang="en-US" sz="3400" dirty="0">
                <a:latin typeface="Imprint MT Shadow" panose="04020605060303030202" pitchFamily="82" charset="0"/>
              </a:rPr>
              <a:t>When an animal enters the vehicle path, the system generates a </a:t>
            </a:r>
            <a:r>
              <a:rPr lang="en-US" sz="3400" b="1" dirty="0">
                <a:latin typeface="Imprint MT Shadow" panose="04020605060303030202" pitchFamily="82" charset="0"/>
              </a:rPr>
              <a:t>warning alert to prevent possible collisions</a:t>
            </a:r>
            <a:r>
              <a:rPr lang="en-US" sz="3400" dirty="0">
                <a:latin typeface="Imprint MT Shadow" panose="04020605060303030202" pitchFamily="82" charset="0"/>
              </a:rPr>
              <a:t>.</a:t>
            </a:r>
            <a:endParaRPr lang="en-IN" sz="3400" dirty="0">
              <a:latin typeface="Imprint MT Shadow" panose="04020605060303030202" pitchFamily="82" charset="0"/>
            </a:endParaRPr>
          </a:p>
        </p:txBody>
      </p:sp>
    </p:spTree>
    <p:extLst>
      <p:ext uri="{BB962C8B-B14F-4D97-AF65-F5344CB8AC3E}">
        <p14:creationId xmlns:p14="http://schemas.microsoft.com/office/powerpoint/2010/main" val="26067107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k object 21">
            <a:extLst>
              <a:ext uri="{FF2B5EF4-FFF2-40B4-BE49-F238E27FC236}">
                <a16:creationId xmlns:a16="http://schemas.microsoft.com/office/drawing/2014/main" id="{2748535A-21AD-4CA1-91EF-DEAEBC3F54EF}"/>
              </a:ext>
            </a:extLst>
          </p:cNvPr>
          <p:cNvSpPr/>
          <p:nvPr/>
        </p:nvSpPr>
        <p:spPr>
          <a:xfrm>
            <a:off x="1" y="6225"/>
            <a:ext cx="20104099" cy="4737145"/>
          </a:xfrm>
          <a:prstGeom prst="rect">
            <a:avLst/>
          </a:prstGeom>
          <a:blipFill>
            <a:blip r:embed="rId2" cstate="print"/>
            <a:stretch>
              <a:fillRect/>
            </a:stretch>
          </a:blipFill>
        </p:spPr>
        <p:txBody>
          <a:bodyPr wrap="square" lIns="0" tIns="0" rIns="0" bIns="0" rtlCol="0"/>
          <a:lstStyle/>
          <a:p>
            <a:endParaRPr dirty="0"/>
          </a:p>
        </p:txBody>
      </p:sp>
      <p:sp>
        <p:nvSpPr>
          <p:cNvPr id="3" name="bk object 20">
            <a:extLst>
              <a:ext uri="{FF2B5EF4-FFF2-40B4-BE49-F238E27FC236}">
                <a16:creationId xmlns:a16="http://schemas.microsoft.com/office/drawing/2014/main" id="{A1D9BD49-0DB0-43ED-A384-A095E09AC109}"/>
              </a:ext>
            </a:extLst>
          </p:cNvPr>
          <p:cNvSpPr/>
          <p:nvPr/>
        </p:nvSpPr>
        <p:spPr>
          <a:xfrm>
            <a:off x="18053049" y="9236075"/>
            <a:ext cx="2051049" cy="2072480"/>
          </a:xfrm>
          <a:prstGeom prst="rect">
            <a:avLst/>
          </a:prstGeom>
          <a:blipFill>
            <a:blip r:embed="rId3" cstate="print"/>
            <a:stretch>
              <a:fillRect/>
            </a:stretch>
          </a:blipFill>
        </p:spPr>
        <p:txBody>
          <a:bodyPr wrap="square" lIns="0" tIns="0" rIns="0" bIns="0" rtlCol="0"/>
          <a:lstStyle/>
          <a:p>
            <a:endParaRPr/>
          </a:p>
        </p:txBody>
      </p:sp>
      <p:pic>
        <p:nvPicPr>
          <p:cNvPr id="4" name="Picture 3">
            <a:extLst>
              <a:ext uri="{FF2B5EF4-FFF2-40B4-BE49-F238E27FC236}">
                <a16:creationId xmlns:a16="http://schemas.microsoft.com/office/drawing/2014/main" id="{40A2F248-50E5-4505-8ED6-A7ADC685954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6650" y="3381830"/>
            <a:ext cx="6310026" cy="5789059"/>
          </a:xfrm>
          <a:prstGeom prst="rect">
            <a:avLst/>
          </a:prstGeom>
        </p:spPr>
      </p:pic>
      <p:sp>
        <p:nvSpPr>
          <p:cNvPr id="6" name="TextBox 5">
            <a:extLst>
              <a:ext uri="{FF2B5EF4-FFF2-40B4-BE49-F238E27FC236}">
                <a16:creationId xmlns:a16="http://schemas.microsoft.com/office/drawing/2014/main" id="{B79A9602-348D-4323-A533-C814325846A0}"/>
              </a:ext>
            </a:extLst>
          </p:cNvPr>
          <p:cNvSpPr txBox="1"/>
          <p:nvPr/>
        </p:nvSpPr>
        <p:spPr>
          <a:xfrm>
            <a:off x="7637176" y="4054475"/>
            <a:ext cx="12466922" cy="3754874"/>
          </a:xfrm>
          <a:prstGeom prst="rect">
            <a:avLst/>
          </a:prstGeom>
          <a:noFill/>
        </p:spPr>
        <p:txBody>
          <a:bodyPr wrap="square">
            <a:spAutoFit/>
          </a:bodyPr>
          <a:lstStyle/>
          <a:p>
            <a:r>
              <a:rPr lang="en-IN" sz="3400" b="1" dirty="0">
                <a:latin typeface="Imprint MT Shadow" panose="04020605060303030202" pitchFamily="82" charset="0"/>
              </a:rPr>
              <a:t>Automatic Braking Alert (Simulation):</a:t>
            </a:r>
          </a:p>
          <a:p>
            <a:r>
              <a:rPr lang="en-US" sz="3400" dirty="0">
                <a:latin typeface="Imprint MT Shadow" panose="04020605060303030202" pitchFamily="82" charset="0"/>
              </a:rPr>
              <a:t>Automatic braking is simulated using AI-based collision prediction and distance estimation to analyze detected road hazards.</a:t>
            </a:r>
            <a:br>
              <a:rPr lang="en-US" sz="3400" dirty="0">
                <a:latin typeface="Imprint MT Shadow" panose="04020605060303030202" pitchFamily="82" charset="0"/>
              </a:rPr>
            </a:br>
            <a:endParaRPr lang="en-US" sz="3400" dirty="0">
              <a:latin typeface="Imprint MT Shadow" panose="04020605060303030202" pitchFamily="82" charset="0"/>
            </a:endParaRPr>
          </a:p>
          <a:p>
            <a:r>
              <a:rPr lang="en-US" sz="3400" dirty="0">
                <a:latin typeface="Imprint MT Shadow" panose="04020605060303030202" pitchFamily="82" charset="0"/>
              </a:rPr>
              <a:t>When an object is within a critical distance, the system triggers an emergency brake alert on the dashboard and activates a buzzer warning for driver safety.</a:t>
            </a:r>
          </a:p>
        </p:txBody>
      </p:sp>
    </p:spTree>
    <p:extLst>
      <p:ext uri="{BB962C8B-B14F-4D97-AF65-F5344CB8AC3E}">
        <p14:creationId xmlns:p14="http://schemas.microsoft.com/office/powerpoint/2010/main" val="36774089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82E4BC4-3C82-0C0A-9155-125FE93F19E7}"/>
              </a:ext>
            </a:extLst>
          </p:cNvPr>
          <p:cNvSpPr txBox="1"/>
          <p:nvPr/>
        </p:nvSpPr>
        <p:spPr>
          <a:xfrm>
            <a:off x="755650" y="0"/>
            <a:ext cx="8458200" cy="861774"/>
          </a:xfrm>
          <a:prstGeom prst="rect">
            <a:avLst/>
          </a:prstGeom>
          <a:noFill/>
        </p:spPr>
        <p:txBody>
          <a:bodyPr wrap="square">
            <a:spAutoFit/>
          </a:bodyPr>
          <a:lstStyle/>
          <a:p>
            <a:r>
              <a:rPr lang="en-US" sz="5000" b="1" dirty="0">
                <a:solidFill>
                  <a:srgbClr val="0070C0"/>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Times New Roman" panose="02020603050405020304" pitchFamily="18" charset="0"/>
              </a:rPr>
              <a:t>LITERATURE SURVEY</a:t>
            </a:r>
            <a:endParaRPr lang="en-IN" sz="5000" b="1" dirty="0">
              <a:solidFill>
                <a:srgbClr val="0070C0"/>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D22AE26D-9630-CFAE-88D2-1F50EBADD39B}"/>
              </a:ext>
            </a:extLst>
          </p:cNvPr>
          <p:cNvGraphicFramePr>
            <a:graphicFrameLocks noGrp="1"/>
          </p:cNvGraphicFramePr>
          <p:nvPr>
            <p:extLst>
              <p:ext uri="{D42A27DB-BD31-4B8C-83A1-F6EECF244321}">
                <p14:modId xmlns:p14="http://schemas.microsoft.com/office/powerpoint/2010/main" val="3482480014"/>
              </p:ext>
            </p:extLst>
          </p:nvPr>
        </p:nvGraphicFramePr>
        <p:xfrm>
          <a:off x="158695" y="861774"/>
          <a:ext cx="19786710" cy="9612908"/>
        </p:xfrm>
        <a:graphic>
          <a:graphicData uri="http://schemas.openxmlformats.org/drawingml/2006/table">
            <a:tbl>
              <a:tblPr firstRow="1" bandRow="1">
                <a:tableStyleId>{5C22544A-7EE6-4342-B048-85BDC9FD1C3A}</a:tableStyleId>
              </a:tblPr>
              <a:tblGrid>
                <a:gridCol w="1176020">
                  <a:extLst>
                    <a:ext uri="{9D8B030D-6E8A-4147-A177-3AD203B41FA5}">
                      <a16:colId xmlns:a16="http://schemas.microsoft.com/office/drawing/2014/main" val="778729561"/>
                    </a:ext>
                  </a:extLst>
                </a:gridCol>
                <a:gridCol w="3992935">
                  <a:extLst>
                    <a:ext uri="{9D8B030D-6E8A-4147-A177-3AD203B41FA5}">
                      <a16:colId xmlns:a16="http://schemas.microsoft.com/office/drawing/2014/main" val="2255266090"/>
                    </a:ext>
                  </a:extLst>
                </a:gridCol>
                <a:gridCol w="3544793">
                  <a:extLst>
                    <a:ext uri="{9D8B030D-6E8A-4147-A177-3AD203B41FA5}">
                      <a16:colId xmlns:a16="http://schemas.microsoft.com/office/drawing/2014/main" val="116333343"/>
                    </a:ext>
                  </a:extLst>
                </a:gridCol>
                <a:gridCol w="4371594">
                  <a:extLst>
                    <a:ext uri="{9D8B030D-6E8A-4147-A177-3AD203B41FA5}">
                      <a16:colId xmlns:a16="http://schemas.microsoft.com/office/drawing/2014/main" val="4246179957"/>
                    </a:ext>
                  </a:extLst>
                </a:gridCol>
                <a:gridCol w="3350684">
                  <a:extLst>
                    <a:ext uri="{9D8B030D-6E8A-4147-A177-3AD203B41FA5}">
                      <a16:colId xmlns:a16="http://schemas.microsoft.com/office/drawing/2014/main" val="1052685804"/>
                    </a:ext>
                  </a:extLst>
                </a:gridCol>
                <a:gridCol w="3350684">
                  <a:extLst>
                    <a:ext uri="{9D8B030D-6E8A-4147-A177-3AD203B41FA5}">
                      <a16:colId xmlns:a16="http://schemas.microsoft.com/office/drawing/2014/main" val="1191964958"/>
                    </a:ext>
                  </a:extLst>
                </a:gridCol>
              </a:tblGrid>
              <a:tr h="0">
                <a:tc>
                  <a:txBody>
                    <a:bodyPr/>
                    <a:lstStyle/>
                    <a:p>
                      <a:pPr algn="ctr" fontAlgn="b" latinLnBrk="0">
                        <a:buNone/>
                      </a:pPr>
                      <a:endParaRPr lang="en-IN" sz="3000" b="1" dirty="0">
                        <a:effectLst/>
                        <a:latin typeface="Imprint MT Shadow" panose="04020605060303030202" pitchFamily="82" charset="0"/>
                      </a:endParaRPr>
                    </a:p>
                    <a:p>
                      <a:pPr algn="ctr" fontAlgn="b" latinLnBrk="0">
                        <a:buNone/>
                      </a:pPr>
                      <a:r>
                        <a:rPr lang="en-IN" sz="3000" b="1" dirty="0">
                          <a:effectLst/>
                          <a:latin typeface="Imprint MT Shadow" panose="04020605060303030202" pitchFamily="82" charset="0"/>
                        </a:rPr>
                        <a:t>Sl.no    </a:t>
                      </a:r>
                    </a:p>
                  </a:txBody>
                  <a:tcPr marL="60960" marR="60960" marT="60960" marB="60960" anchor="b"/>
                </a:tc>
                <a:tc>
                  <a:txBody>
                    <a:bodyPr/>
                    <a:lstStyle/>
                    <a:p>
                      <a:pPr algn="l" fontAlgn="b" latinLnBrk="0">
                        <a:buNone/>
                      </a:pPr>
                      <a:r>
                        <a:rPr lang="en-IN" sz="3600" b="1" dirty="0">
                          <a:effectLst/>
                          <a:latin typeface="Imprint MT Shadow" panose="04020605060303030202" pitchFamily="82" charset="0"/>
                        </a:rPr>
                        <a:t>       Author</a:t>
                      </a:r>
                    </a:p>
                  </a:txBody>
                  <a:tcPr marL="60960" marR="60960" marT="60960" marB="60960" anchor="b"/>
                </a:tc>
                <a:tc>
                  <a:txBody>
                    <a:bodyPr/>
                    <a:lstStyle/>
                    <a:p>
                      <a:pPr algn="l" fontAlgn="b" latinLnBrk="0">
                        <a:buNone/>
                      </a:pPr>
                      <a:r>
                        <a:rPr lang="en-IN" sz="3600" b="1" dirty="0">
                          <a:effectLst/>
                          <a:latin typeface="Imprint MT Shadow" panose="04020605060303030202" pitchFamily="82" charset="0"/>
                        </a:rPr>
                        <a:t>         Title</a:t>
                      </a:r>
                    </a:p>
                  </a:txBody>
                  <a:tcPr marL="60960" marR="60960" marT="60960" marB="60960" anchor="b">
                    <a:solidFill>
                      <a:schemeClr val="accent1"/>
                    </a:solidFill>
                  </a:tcPr>
                </a:tc>
                <a:tc>
                  <a:txBody>
                    <a:bodyPr/>
                    <a:lstStyle/>
                    <a:p>
                      <a:pPr algn="l" fontAlgn="b" latinLnBrk="0">
                        <a:buNone/>
                      </a:pPr>
                      <a:r>
                        <a:rPr lang="en-IN" sz="3600" b="1" dirty="0">
                          <a:effectLst/>
                          <a:latin typeface="Imprint MT Shadow" panose="04020605060303030202" pitchFamily="82" charset="0"/>
                        </a:rPr>
                        <a:t>   Proposed Method</a:t>
                      </a:r>
                    </a:p>
                  </a:txBody>
                  <a:tcPr marL="60960" marR="60960" marT="60960" marB="60960" anchor="b"/>
                </a:tc>
                <a:tc>
                  <a:txBody>
                    <a:bodyPr/>
                    <a:lstStyle/>
                    <a:p>
                      <a:pPr algn="l" fontAlgn="b" latinLnBrk="0">
                        <a:buNone/>
                      </a:pPr>
                      <a:r>
                        <a:rPr lang="en-IN" sz="3600" b="1" dirty="0">
                          <a:effectLst/>
                          <a:latin typeface="Imprint MT Shadow" panose="04020605060303030202" pitchFamily="82" charset="0"/>
                        </a:rPr>
                        <a:t>         Pros</a:t>
                      </a:r>
                    </a:p>
                  </a:txBody>
                  <a:tcPr marL="60960" marR="60960" marT="60960" marB="60960" anchor="b"/>
                </a:tc>
                <a:tc>
                  <a:txBody>
                    <a:bodyPr/>
                    <a:lstStyle/>
                    <a:p>
                      <a:pPr algn="l" fontAlgn="b" latinLnBrk="0">
                        <a:buNone/>
                      </a:pPr>
                      <a:r>
                        <a:rPr lang="en-IN" sz="3600" b="1" dirty="0">
                          <a:effectLst/>
                          <a:latin typeface="Imprint MT Shadow" panose="04020605060303030202" pitchFamily="82" charset="0"/>
                        </a:rPr>
                        <a:t>    Drawbacks</a:t>
                      </a:r>
                    </a:p>
                  </a:txBody>
                  <a:tcPr marL="60960" marR="60960" marT="60960" marB="60960" anchor="b"/>
                </a:tc>
                <a:extLst>
                  <a:ext uri="{0D108BD9-81ED-4DB2-BD59-A6C34878D82A}">
                    <a16:rowId xmlns:a16="http://schemas.microsoft.com/office/drawing/2014/main" val="3508580007"/>
                  </a:ext>
                </a:extLst>
              </a:tr>
              <a:tr h="1402270">
                <a:tc>
                  <a:txBody>
                    <a:bodyPr/>
                    <a:lstStyle/>
                    <a:p>
                      <a:pPr algn="ctr"/>
                      <a:r>
                        <a:rPr lang="en-US" sz="3200" dirty="0">
                          <a:latin typeface="Imprint MT Shadow" panose="04020605060303030202" pitchFamily="82" charset="0"/>
                          <a:cs typeface="Times New Roman" panose="02020603050405020304" pitchFamily="18" charset="0"/>
                        </a:rPr>
                        <a:t>01</a:t>
                      </a:r>
                      <a:endParaRPr lang="en-IN" sz="3200" dirty="0">
                        <a:latin typeface="Imprint MT Shadow" panose="04020605060303030202" pitchFamily="82" charset="0"/>
                        <a:cs typeface="Times New Roman" panose="02020603050405020304" pitchFamily="18" charset="0"/>
                      </a:endParaRPr>
                    </a:p>
                  </a:txBody>
                  <a:tcPr/>
                </a:tc>
                <a:tc>
                  <a:txBody>
                    <a:bodyPr/>
                    <a:lstStyle/>
                    <a:p>
                      <a:r>
                        <a:rPr lang="en-IN" sz="3200" dirty="0" err="1">
                          <a:latin typeface="Imprint MT Shadow" panose="04020605060303030202" pitchFamily="82" charset="0"/>
                          <a:cs typeface="Times New Roman" panose="02020603050405020304" pitchFamily="18" charset="0"/>
                        </a:rPr>
                        <a:t>Kunapareddy</a:t>
                      </a:r>
                      <a:r>
                        <a:rPr lang="en-IN" sz="3200" dirty="0">
                          <a:latin typeface="Imprint MT Shadow" panose="04020605060303030202" pitchFamily="82" charset="0"/>
                          <a:cs typeface="Times New Roman" panose="02020603050405020304" pitchFamily="18" charset="0"/>
                        </a:rPr>
                        <a:t> Bhavana, Kondapalli Divya Bhavani, Angadi Swathi </a:t>
                      </a:r>
                    </a:p>
                    <a:p>
                      <a:r>
                        <a:rPr lang="en-IN" sz="3200" dirty="0">
                          <a:latin typeface="Imprint MT Shadow" panose="04020605060303030202" pitchFamily="82" charset="0"/>
                          <a:cs typeface="Times New Roman" panose="02020603050405020304" pitchFamily="18" charset="0"/>
                        </a:rPr>
                        <a:t>Siva Reddy Vanga</a:t>
                      </a:r>
                    </a:p>
                    <a:p>
                      <a:r>
                        <a:rPr lang="en-IN" sz="3200" dirty="0">
                          <a:latin typeface="Imprint MT Shadow" panose="04020605060303030202" pitchFamily="82" charset="0"/>
                          <a:cs typeface="Times New Roman" panose="02020603050405020304" pitchFamily="18" charset="0"/>
                        </a:rPr>
                        <a:t>[2023]</a:t>
                      </a:r>
                    </a:p>
                  </a:txBody>
                  <a:tcPr/>
                </a:tc>
                <a:tc>
                  <a:txBody>
                    <a:bodyPr/>
                    <a:lstStyle/>
                    <a:p>
                      <a:r>
                        <a:rPr lang="en-US" sz="3200" b="0" i="0" dirty="0">
                          <a:solidFill>
                            <a:schemeClr val="dk1"/>
                          </a:solidFill>
                          <a:effectLst/>
                          <a:latin typeface="Imprint MT Shadow" panose="04020605060303030202" pitchFamily="82" charset="0"/>
                          <a:ea typeface="+mn-ea"/>
                          <a:cs typeface="+mn-cs"/>
                        </a:rPr>
                        <a:t>Automatic Pothole and Humps on Roads Detection and Notification Alert</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Ultrasonic sensor (HC-SR04) + GPS + GSM for depth/height measurement and SMS alerts</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Low-cost prototype; real-time GPS location sharing; reduces manual inspection costs</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Noise/weather interference; limited range accuracy </a:t>
                      </a:r>
                      <a:endParaRPr lang="en-IN" sz="3200" dirty="0">
                        <a:latin typeface="Imprint MT Shadow" panose="04020605060303030202" pitchFamily="82" charset="0"/>
                      </a:endParaRPr>
                    </a:p>
                  </a:txBody>
                  <a:tcPr/>
                </a:tc>
                <a:extLst>
                  <a:ext uri="{0D108BD9-81ED-4DB2-BD59-A6C34878D82A}">
                    <a16:rowId xmlns:a16="http://schemas.microsoft.com/office/drawing/2014/main" val="225319920"/>
                  </a:ext>
                </a:extLst>
              </a:tr>
              <a:tr h="1705056">
                <a:tc>
                  <a:txBody>
                    <a:bodyPr/>
                    <a:lstStyle/>
                    <a:p>
                      <a:pPr algn="ctr"/>
                      <a:r>
                        <a:rPr lang="en-US" sz="3200" dirty="0">
                          <a:latin typeface="Imprint MT Shadow" panose="04020605060303030202" pitchFamily="82" charset="0"/>
                        </a:rPr>
                        <a:t>02</a:t>
                      </a:r>
                      <a:endParaRPr lang="en-IN" sz="3200" dirty="0">
                        <a:latin typeface="Imprint MT Shadow" panose="04020605060303030202" pitchFamily="82" charset="0"/>
                      </a:endParaRPr>
                    </a:p>
                  </a:txBody>
                  <a:tcPr/>
                </a:tc>
                <a:tc>
                  <a:txBody>
                    <a:bodyPr/>
                    <a:lstStyle/>
                    <a:p>
                      <a:r>
                        <a:rPr lang="en-IN" sz="3200" dirty="0">
                          <a:latin typeface="Imprint MT Shadow" panose="04020605060303030202" pitchFamily="82" charset="0"/>
                          <a:cs typeface="Times New Roman" panose="02020603050405020304" pitchFamily="18" charset="0"/>
                        </a:rPr>
                        <a:t>Ranjitha R, Archana K, Sankalp, Sandesh B K, Shashank</a:t>
                      </a:r>
                    </a:p>
                    <a:p>
                      <a:r>
                        <a:rPr lang="en-IN" sz="3200" dirty="0">
                          <a:latin typeface="Imprint MT Shadow" panose="04020605060303030202" pitchFamily="82" charset="0"/>
                          <a:cs typeface="Times New Roman" panose="02020603050405020304" pitchFamily="18" charset="0"/>
                        </a:rPr>
                        <a:t>[2024]</a:t>
                      </a:r>
                    </a:p>
                  </a:txBody>
                  <a:tcPr/>
                </a:tc>
                <a:tc>
                  <a:txBody>
                    <a:bodyPr/>
                    <a:lstStyle/>
                    <a:p>
                      <a:r>
                        <a:rPr lang="en-US" sz="3200" b="0" i="0" dirty="0">
                          <a:solidFill>
                            <a:schemeClr val="dk1"/>
                          </a:solidFill>
                          <a:effectLst/>
                          <a:latin typeface="Imprint MT Shadow" panose="04020605060303030202" pitchFamily="82" charset="0"/>
                          <a:ea typeface="+mn-ea"/>
                          <a:cs typeface="+mn-cs"/>
                        </a:rPr>
                        <a:t>Detection of Real Time Pothole System using Edge Detection</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Canny edge + morphological ops on Pi camera; ultrasonic depth; 98% accuracy</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High accuracy (98%); edge device deployable (RPi); live video support</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Lighting/angle sensitivity; dataset dependency; manhole confusion</a:t>
                      </a:r>
                      <a:endParaRPr lang="en-IN" sz="3200" dirty="0">
                        <a:latin typeface="Imprint MT Shadow" panose="04020605060303030202" pitchFamily="82" charset="0"/>
                      </a:endParaRPr>
                    </a:p>
                  </a:txBody>
                  <a:tcPr/>
                </a:tc>
                <a:extLst>
                  <a:ext uri="{0D108BD9-81ED-4DB2-BD59-A6C34878D82A}">
                    <a16:rowId xmlns:a16="http://schemas.microsoft.com/office/drawing/2014/main" val="1232927726"/>
                  </a:ext>
                </a:extLst>
              </a:tr>
              <a:tr h="3029228">
                <a:tc>
                  <a:txBody>
                    <a:bodyPr/>
                    <a:lstStyle/>
                    <a:p>
                      <a:pPr algn="ctr"/>
                      <a:r>
                        <a:rPr lang="en-US" sz="3200" dirty="0">
                          <a:latin typeface="Imprint MT Shadow" panose="04020605060303030202" pitchFamily="82" charset="0"/>
                          <a:cs typeface="Times New Roman" panose="02020603050405020304" pitchFamily="18" charset="0"/>
                        </a:rPr>
                        <a:t>03</a:t>
                      </a:r>
                      <a:endParaRPr lang="en-IN" sz="3200" dirty="0">
                        <a:latin typeface="Imprint MT Shadow" panose="04020605060303030202" pitchFamily="82" charset="0"/>
                        <a:cs typeface="Times New Roman" panose="02020603050405020304" pitchFamily="18" charset="0"/>
                      </a:endParaRPr>
                    </a:p>
                  </a:txBody>
                  <a:tcPr/>
                </a:tc>
                <a:tc>
                  <a:txBody>
                    <a:bodyPr/>
                    <a:lstStyle/>
                    <a:p>
                      <a:r>
                        <a:rPr lang="en-IN" sz="3200" dirty="0" err="1">
                          <a:latin typeface="Imprint MT Shadow" panose="04020605060303030202" pitchFamily="82" charset="0"/>
                          <a:cs typeface="Times New Roman" panose="02020603050405020304" pitchFamily="18" charset="0"/>
                        </a:rPr>
                        <a:t>Hongxu</a:t>
                      </a:r>
                      <a:r>
                        <a:rPr lang="en-IN" sz="3200" dirty="0">
                          <a:latin typeface="Imprint MT Shadow" panose="04020605060303030202" pitchFamily="82" charset="0"/>
                          <a:cs typeface="Times New Roman" panose="02020603050405020304" pitchFamily="18" charset="0"/>
                        </a:rPr>
                        <a:t> Chai, Shilong Zeng, Cheng Zhang</a:t>
                      </a:r>
                    </a:p>
                    <a:p>
                      <a:r>
                        <a:rPr lang="en-IN" sz="3200" dirty="0">
                          <a:latin typeface="Imprint MT Shadow" panose="04020605060303030202" pitchFamily="82" charset="0"/>
                          <a:cs typeface="Times New Roman" panose="02020603050405020304" pitchFamily="18" charset="0"/>
                        </a:rPr>
                        <a:t>[2024]</a:t>
                      </a:r>
                    </a:p>
                  </a:txBody>
                  <a:tcPr/>
                </a:tc>
                <a:tc>
                  <a:txBody>
                    <a:bodyPr/>
                    <a:lstStyle/>
                    <a:p>
                      <a:r>
                        <a:rPr lang="en-US" sz="3200" b="0" i="0" dirty="0">
                          <a:solidFill>
                            <a:schemeClr val="dk1"/>
                          </a:solidFill>
                          <a:effectLst/>
                          <a:latin typeface="Imprint MT Shadow" panose="04020605060303030202" pitchFamily="82" charset="0"/>
                          <a:ea typeface="+mn-ea"/>
                          <a:cs typeface="+mn-cs"/>
                        </a:rPr>
                        <a:t>Enhanced Real-time Pavement Damage Analysis Integrating CNN Edge Detection with YOLO</a:t>
                      </a:r>
                      <a:endParaRPr lang="en-IN" sz="3200" dirty="0">
                        <a:latin typeface="Imprint MT Shadow" panose="04020605060303030202" pitchFamily="82" charset="0"/>
                      </a:endParaRPr>
                    </a:p>
                  </a:txBody>
                  <a:tcPr/>
                </a:tc>
                <a:tc>
                  <a:txBody>
                    <a:bodyPr/>
                    <a:lstStyle/>
                    <a:p>
                      <a:r>
                        <a:rPr lang="en-IN" sz="3200" b="0" i="0" dirty="0">
                          <a:solidFill>
                            <a:schemeClr val="dk1"/>
                          </a:solidFill>
                          <a:effectLst/>
                          <a:latin typeface="Imprint MT Shadow" panose="04020605060303030202" pitchFamily="82" charset="0"/>
                          <a:ea typeface="+mn-ea"/>
                          <a:cs typeface="+mn-cs"/>
                        </a:rPr>
                        <a:t>CNN-YOLO + Laplacian edge + min-filter; &gt;90% </a:t>
                      </a:r>
                      <a:r>
                        <a:rPr lang="en-IN" sz="3200" b="0" i="0" dirty="0" err="1">
                          <a:solidFill>
                            <a:schemeClr val="dk1"/>
                          </a:solidFill>
                          <a:effectLst/>
                          <a:latin typeface="Imprint MT Shadow" panose="04020605060303030202" pitchFamily="82" charset="0"/>
                          <a:ea typeface="+mn-ea"/>
                          <a:cs typeface="+mn-cs"/>
                        </a:rPr>
                        <a:t>acc</a:t>
                      </a:r>
                      <a:r>
                        <a:rPr lang="en-IN" sz="3200" b="0" i="0" dirty="0">
                          <a:solidFill>
                            <a:schemeClr val="dk1"/>
                          </a:solidFill>
                          <a:effectLst/>
                          <a:latin typeface="Imprint MT Shadow" panose="04020605060303030202" pitchFamily="82" charset="0"/>
                          <a:ea typeface="+mn-ea"/>
                          <a:cs typeface="+mn-cs"/>
                        </a:rPr>
                        <a:t> on RDD2020</a:t>
                      </a:r>
                      <a:endParaRPr lang="en-IN" sz="3200" dirty="0">
                        <a:latin typeface="Imprint MT Shadow" panose="04020605060303030202" pitchFamily="82" charset="0"/>
                      </a:endParaRPr>
                    </a:p>
                  </a:txBody>
                  <a:tcPr/>
                </a:tc>
                <a:tc>
                  <a:txBody>
                    <a:bodyPr/>
                    <a:lstStyle/>
                    <a:p>
                      <a:r>
                        <a:rPr lang="en-IN" sz="3200" b="0" i="0" dirty="0">
                          <a:solidFill>
                            <a:schemeClr val="dk1"/>
                          </a:solidFill>
                          <a:effectLst/>
                          <a:latin typeface="Imprint MT Shadow" panose="04020605060303030202" pitchFamily="82" charset="0"/>
                          <a:ea typeface="+mn-ea"/>
                          <a:cs typeface="+mn-cs"/>
                        </a:rPr>
                        <a:t>Multi-damage classification (cracks/potholes); fast FPS; high P-SNR (50dB)</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Compute-intensive edges; poor original size estimation; mobility limits</a:t>
                      </a:r>
                      <a:endParaRPr lang="en-IN" sz="3200" dirty="0">
                        <a:latin typeface="Imprint MT Shadow" panose="04020605060303030202" pitchFamily="82" charset="0"/>
                      </a:endParaRPr>
                    </a:p>
                  </a:txBody>
                  <a:tcPr/>
                </a:tc>
                <a:extLst>
                  <a:ext uri="{0D108BD9-81ED-4DB2-BD59-A6C34878D82A}">
                    <a16:rowId xmlns:a16="http://schemas.microsoft.com/office/drawing/2014/main" val="2065176540"/>
                  </a:ext>
                </a:extLst>
              </a:tr>
            </a:tbl>
          </a:graphicData>
        </a:graphic>
      </p:graphicFrame>
    </p:spTree>
    <p:extLst>
      <p:ext uri="{BB962C8B-B14F-4D97-AF65-F5344CB8AC3E}">
        <p14:creationId xmlns:p14="http://schemas.microsoft.com/office/powerpoint/2010/main" val="1843406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5">
            <a:extLst>
              <a:ext uri="{FF2B5EF4-FFF2-40B4-BE49-F238E27FC236}">
                <a16:creationId xmlns:a16="http://schemas.microsoft.com/office/drawing/2014/main" id="{B0776565-8D34-30B9-446F-0716FE7D965F}"/>
              </a:ext>
            </a:extLst>
          </p:cNvPr>
          <p:cNvSpPr/>
          <p:nvPr/>
        </p:nvSpPr>
        <p:spPr>
          <a:xfrm>
            <a:off x="0" y="8981497"/>
            <a:ext cx="20104099" cy="2327853"/>
          </a:xfrm>
          <a:prstGeom prst="rect">
            <a:avLst/>
          </a:prstGeom>
          <a:blipFill>
            <a:blip r:embed="rId2" cstate="print"/>
            <a:stretch>
              <a:fillRect/>
            </a:stretch>
          </a:blipFill>
        </p:spPr>
        <p:txBody>
          <a:bodyPr wrap="square" lIns="0" tIns="0" rIns="0" bIns="0" rtlCol="0"/>
          <a:lstStyle/>
          <a:p>
            <a:endParaRPr/>
          </a:p>
        </p:txBody>
      </p:sp>
      <p:graphicFrame>
        <p:nvGraphicFramePr>
          <p:cNvPr id="2" name="Table 1">
            <a:extLst>
              <a:ext uri="{FF2B5EF4-FFF2-40B4-BE49-F238E27FC236}">
                <a16:creationId xmlns:a16="http://schemas.microsoft.com/office/drawing/2014/main" id="{27C82E43-962A-CB85-F229-7D5674DEB855}"/>
              </a:ext>
            </a:extLst>
          </p:cNvPr>
          <p:cNvGraphicFramePr>
            <a:graphicFrameLocks noGrp="1"/>
          </p:cNvGraphicFramePr>
          <p:nvPr>
            <p:extLst>
              <p:ext uri="{D42A27DB-BD31-4B8C-83A1-F6EECF244321}">
                <p14:modId xmlns:p14="http://schemas.microsoft.com/office/powerpoint/2010/main" val="2899335326"/>
              </p:ext>
            </p:extLst>
          </p:nvPr>
        </p:nvGraphicFramePr>
        <p:xfrm>
          <a:off x="946149" y="1387475"/>
          <a:ext cx="18211800" cy="71628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344795192"/>
                    </a:ext>
                  </a:extLst>
                </a:gridCol>
                <a:gridCol w="4533901">
                  <a:extLst>
                    <a:ext uri="{9D8B030D-6E8A-4147-A177-3AD203B41FA5}">
                      <a16:colId xmlns:a16="http://schemas.microsoft.com/office/drawing/2014/main" val="637306048"/>
                    </a:ext>
                  </a:extLst>
                </a:gridCol>
                <a:gridCol w="3352800">
                  <a:extLst>
                    <a:ext uri="{9D8B030D-6E8A-4147-A177-3AD203B41FA5}">
                      <a16:colId xmlns:a16="http://schemas.microsoft.com/office/drawing/2014/main" val="3439266973"/>
                    </a:ext>
                  </a:extLst>
                </a:gridCol>
                <a:gridCol w="3111499">
                  <a:extLst>
                    <a:ext uri="{9D8B030D-6E8A-4147-A177-3AD203B41FA5}">
                      <a16:colId xmlns:a16="http://schemas.microsoft.com/office/drawing/2014/main" val="1759610593"/>
                    </a:ext>
                  </a:extLst>
                </a:gridCol>
                <a:gridCol w="3035300">
                  <a:extLst>
                    <a:ext uri="{9D8B030D-6E8A-4147-A177-3AD203B41FA5}">
                      <a16:colId xmlns:a16="http://schemas.microsoft.com/office/drawing/2014/main" val="3422921252"/>
                    </a:ext>
                  </a:extLst>
                </a:gridCol>
                <a:gridCol w="3035300">
                  <a:extLst>
                    <a:ext uri="{9D8B030D-6E8A-4147-A177-3AD203B41FA5}">
                      <a16:colId xmlns:a16="http://schemas.microsoft.com/office/drawing/2014/main" val="1679328950"/>
                    </a:ext>
                  </a:extLst>
                </a:gridCol>
              </a:tblGrid>
              <a:tr h="3581400">
                <a:tc>
                  <a:txBody>
                    <a:bodyPr/>
                    <a:lstStyle/>
                    <a:p>
                      <a:pPr algn="ctr"/>
                      <a:r>
                        <a:rPr lang="en-US" sz="3200" b="0" dirty="0">
                          <a:solidFill>
                            <a:schemeClr val="tx1"/>
                          </a:solidFill>
                          <a:latin typeface="Imprint MT Shadow" panose="04020605060303030202" pitchFamily="82" charset="0"/>
                        </a:rPr>
                        <a:t>04</a:t>
                      </a:r>
                      <a:endParaRPr lang="en-IN" sz="3200" b="0" dirty="0">
                        <a:solidFill>
                          <a:schemeClr val="tx1"/>
                        </a:solidFill>
                        <a:latin typeface="Imprint MT Shadow" panose="04020605060303030202" pitchFamily="82" charset="0"/>
                      </a:endParaRPr>
                    </a:p>
                  </a:txBody>
                  <a:tcPr>
                    <a:solidFill>
                      <a:schemeClr val="tx2">
                        <a:lumMod val="20000"/>
                        <a:lumOff val="80000"/>
                      </a:schemeClr>
                    </a:solidFill>
                  </a:tcPr>
                </a:tc>
                <a:tc>
                  <a:txBody>
                    <a:bodyPr/>
                    <a:lstStyle/>
                    <a:p>
                      <a:r>
                        <a:rPr lang="en-IN" sz="3200" b="0" dirty="0">
                          <a:solidFill>
                            <a:schemeClr val="tx1"/>
                          </a:solidFill>
                          <a:latin typeface="Imprint MT Shadow" panose="04020605060303030202" pitchFamily="82" charset="0"/>
                          <a:cs typeface="Times New Roman" panose="02020603050405020304" pitchFamily="18" charset="0"/>
                        </a:rPr>
                        <a:t>Naeem Raza, Ahmad Razzaq, Wahab Noman, Abdul Rehman , </a:t>
                      </a:r>
                      <a:r>
                        <a:rPr lang="en-IN" sz="3200" b="0" dirty="0" err="1">
                          <a:solidFill>
                            <a:schemeClr val="tx1"/>
                          </a:solidFill>
                          <a:latin typeface="Imprint MT Shadow" panose="04020605060303030202" pitchFamily="82" charset="0"/>
                          <a:cs typeface="Times New Roman" panose="02020603050405020304" pitchFamily="18" charset="0"/>
                        </a:rPr>
                        <a:t>Aized</a:t>
                      </a:r>
                      <a:r>
                        <a:rPr lang="en-IN" sz="3200" b="0" dirty="0">
                          <a:solidFill>
                            <a:schemeClr val="tx1"/>
                          </a:solidFill>
                          <a:latin typeface="Imprint MT Shadow" panose="04020605060303030202" pitchFamily="82" charset="0"/>
                          <a:cs typeface="Times New Roman" panose="02020603050405020304" pitchFamily="18" charset="0"/>
                        </a:rPr>
                        <a:t> Amin Soofi</a:t>
                      </a:r>
                    </a:p>
                    <a:p>
                      <a:r>
                        <a:rPr lang="en-IN" sz="3200" b="0" dirty="0">
                          <a:solidFill>
                            <a:schemeClr val="tx1"/>
                          </a:solidFill>
                          <a:latin typeface="Imprint MT Shadow" panose="04020605060303030202" pitchFamily="82" charset="0"/>
                          <a:cs typeface="Times New Roman" panose="02020603050405020304" pitchFamily="18" charset="0"/>
                        </a:rPr>
                        <a:t>[2025]</a:t>
                      </a:r>
                    </a:p>
                  </a:txBody>
                  <a:tcPr>
                    <a:solidFill>
                      <a:schemeClr val="tx2">
                        <a:lumMod val="20000"/>
                        <a:lumOff val="80000"/>
                      </a:schemeClr>
                    </a:solidFill>
                  </a:tcPr>
                </a:tc>
                <a:tc>
                  <a:txBody>
                    <a:bodyPr/>
                    <a:lstStyle/>
                    <a:p>
                      <a:r>
                        <a:rPr lang="en-US" sz="3200" b="0" i="0" dirty="0">
                          <a:solidFill>
                            <a:schemeClr val="tx1"/>
                          </a:solidFill>
                          <a:effectLst/>
                          <a:latin typeface="Imprint MT Shadow" panose="04020605060303030202" pitchFamily="82" charset="0"/>
                          <a:ea typeface="+mn-ea"/>
                          <a:cs typeface="+mn-cs"/>
                        </a:rPr>
                        <a:t>A Deep Learning Based Real-Time Vehicle Detection... for Foggy Environment</a:t>
                      </a:r>
                      <a:endParaRPr lang="en-IN" sz="3200" dirty="0">
                        <a:solidFill>
                          <a:schemeClr val="tx1"/>
                        </a:solidFill>
                        <a:latin typeface="Imprint MT Shadow" panose="04020605060303030202" pitchFamily="82" charset="0"/>
                      </a:endParaRPr>
                    </a:p>
                  </a:txBody>
                  <a:tcPr>
                    <a:solidFill>
                      <a:schemeClr val="tx2">
                        <a:lumMod val="20000"/>
                        <a:lumOff val="80000"/>
                      </a:schemeClr>
                    </a:solidFill>
                  </a:tcPr>
                </a:tc>
                <a:tc>
                  <a:txBody>
                    <a:bodyPr/>
                    <a:lstStyle/>
                    <a:p>
                      <a:r>
                        <a:rPr lang="en-IN" sz="3200" b="0" i="0" dirty="0">
                          <a:solidFill>
                            <a:schemeClr val="tx1"/>
                          </a:solidFill>
                          <a:effectLst/>
                          <a:latin typeface="Imprint MT Shadow" panose="04020605060303030202" pitchFamily="82" charset="0"/>
                          <a:ea typeface="+mn-ea"/>
                          <a:cs typeface="+mn-cs"/>
                        </a:rPr>
                        <a:t>YOLOv8n/s (mAP50 85%); </a:t>
                      </a:r>
                      <a:r>
                        <a:rPr lang="en-IN" sz="3200" b="0" i="0" dirty="0" err="1">
                          <a:solidFill>
                            <a:schemeClr val="tx1"/>
                          </a:solidFill>
                          <a:effectLst/>
                          <a:latin typeface="Imprint MT Shadow" panose="04020605060303030202" pitchFamily="82" charset="0"/>
                          <a:ea typeface="+mn-ea"/>
                          <a:cs typeface="+mn-cs"/>
                        </a:rPr>
                        <a:t>TFLite</a:t>
                      </a:r>
                      <a:r>
                        <a:rPr lang="en-IN" sz="3200" b="0" i="0" dirty="0">
                          <a:solidFill>
                            <a:schemeClr val="tx1"/>
                          </a:solidFill>
                          <a:effectLst/>
                          <a:latin typeface="Imprint MT Shadow" panose="04020605060303030202" pitchFamily="82" charset="0"/>
                          <a:ea typeface="+mn-ea"/>
                          <a:cs typeface="+mn-cs"/>
                        </a:rPr>
                        <a:t> Android collision avoidance</a:t>
                      </a:r>
                      <a:endParaRPr lang="en-IN" sz="3200" dirty="0">
                        <a:solidFill>
                          <a:schemeClr val="tx1"/>
                        </a:solidFill>
                        <a:latin typeface="Imprint MT Shadow" panose="04020605060303030202" pitchFamily="82" charset="0"/>
                      </a:endParaRPr>
                    </a:p>
                  </a:txBody>
                  <a:tcPr>
                    <a:solidFill>
                      <a:schemeClr val="tx2">
                        <a:lumMod val="20000"/>
                        <a:lumOff val="80000"/>
                      </a:schemeClr>
                    </a:solidFill>
                  </a:tcPr>
                </a:tc>
                <a:tc>
                  <a:txBody>
                    <a:bodyPr/>
                    <a:lstStyle/>
                    <a:p>
                      <a:r>
                        <a:rPr lang="en-IN" sz="3200" b="0" i="0" dirty="0">
                          <a:solidFill>
                            <a:schemeClr val="tx1"/>
                          </a:solidFill>
                          <a:effectLst/>
                          <a:latin typeface="Imprint MT Shadow" panose="04020605060303030202" pitchFamily="82" charset="0"/>
                          <a:ea typeface="+mn-ea"/>
                          <a:cs typeface="+mn-cs"/>
                        </a:rPr>
                        <a:t>Fog-robust (106 FPS); mobile deployment; multi-vehicle classes</a:t>
                      </a:r>
                      <a:endParaRPr lang="en-IN" sz="3200" dirty="0">
                        <a:solidFill>
                          <a:schemeClr val="tx1"/>
                        </a:solidFill>
                        <a:latin typeface="Imprint MT Shadow" panose="04020605060303030202" pitchFamily="82" charset="0"/>
                      </a:endParaRPr>
                    </a:p>
                  </a:txBody>
                  <a:tcPr>
                    <a:solidFill>
                      <a:schemeClr val="tx2">
                        <a:lumMod val="20000"/>
                        <a:lumOff val="80000"/>
                      </a:schemeClr>
                    </a:solidFill>
                  </a:tcPr>
                </a:tc>
                <a:tc>
                  <a:txBody>
                    <a:bodyPr/>
                    <a:lstStyle/>
                    <a:p>
                      <a:r>
                        <a:rPr lang="en-US" sz="3200" b="0" i="0" dirty="0">
                          <a:solidFill>
                            <a:schemeClr val="tx1"/>
                          </a:solidFill>
                          <a:effectLst/>
                          <a:latin typeface="Imprint MT Shadow" panose="04020605060303030202" pitchFamily="82" charset="0"/>
                          <a:ea typeface="+mn-ea"/>
                          <a:cs typeface="+mn-cs"/>
                        </a:rPr>
                        <a:t>Overfits small datasets; distant/occluded objects weak​</a:t>
                      </a:r>
                      <a:endParaRPr lang="en-IN" sz="3200" dirty="0">
                        <a:solidFill>
                          <a:schemeClr val="tx1"/>
                        </a:solidFill>
                        <a:latin typeface="Imprint MT Shadow" panose="04020605060303030202" pitchFamily="82" charset="0"/>
                      </a:endParaRPr>
                    </a:p>
                  </a:txBody>
                  <a:tcPr>
                    <a:solidFill>
                      <a:schemeClr val="tx2">
                        <a:lumMod val="20000"/>
                        <a:lumOff val="80000"/>
                      </a:schemeClr>
                    </a:solidFill>
                  </a:tcPr>
                </a:tc>
                <a:extLst>
                  <a:ext uri="{0D108BD9-81ED-4DB2-BD59-A6C34878D82A}">
                    <a16:rowId xmlns:a16="http://schemas.microsoft.com/office/drawing/2014/main" val="758143130"/>
                  </a:ext>
                </a:extLst>
              </a:tr>
              <a:tr h="3581400">
                <a:tc>
                  <a:txBody>
                    <a:bodyPr/>
                    <a:lstStyle/>
                    <a:p>
                      <a:pPr algn="ctr"/>
                      <a:r>
                        <a:rPr lang="en-US" sz="3200" dirty="0">
                          <a:latin typeface="Imprint MT Shadow" panose="04020605060303030202" pitchFamily="82" charset="0"/>
                          <a:cs typeface="Times New Roman" panose="02020603050405020304" pitchFamily="18" charset="0"/>
                        </a:rPr>
                        <a:t>05</a:t>
                      </a:r>
                      <a:endParaRPr lang="en-IN" sz="3200" dirty="0">
                        <a:latin typeface="Imprint MT Shadow" panose="04020605060303030202" pitchFamily="82" charset="0"/>
                        <a:cs typeface="Times New Roman" panose="02020603050405020304" pitchFamily="18" charset="0"/>
                      </a:endParaRPr>
                    </a:p>
                  </a:txBody>
                  <a:tcPr/>
                </a:tc>
                <a:tc>
                  <a:txBody>
                    <a:bodyPr/>
                    <a:lstStyle/>
                    <a:p>
                      <a:r>
                        <a:rPr lang="en-IN" sz="3200" dirty="0" err="1">
                          <a:latin typeface="Imprint MT Shadow" panose="04020605060303030202" pitchFamily="82" charset="0"/>
                          <a:cs typeface="Times New Roman" panose="02020603050405020304" pitchFamily="18" charset="0"/>
                        </a:rPr>
                        <a:t>Mingyang</a:t>
                      </a:r>
                      <a:r>
                        <a:rPr lang="en-IN" sz="3200" dirty="0">
                          <a:latin typeface="Imprint MT Shadow" panose="04020605060303030202" pitchFamily="82" charset="0"/>
                          <a:cs typeface="Times New Roman" panose="02020603050405020304" pitchFamily="18" charset="0"/>
                        </a:rPr>
                        <a:t> Xu, Chen Xu, </a:t>
                      </a:r>
                      <a:r>
                        <a:rPr lang="en-IN" sz="3200" dirty="0" err="1">
                          <a:latin typeface="Imprint MT Shadow" panose="04020605060303030202" pitchFamily="82" charset="0"/>
                          <a:cs typeface="Times New Roman" panose="02020603050405020304" pitchFamily="18" charset="0"/>
                        </a:rPr>
                        <a:t>Gengxin</a:t>
                      </a:r>
                      <a:r>
                        <a:rPr lang="en-IN" sz="3200" dirty="0">
                          <a:latin typeface="Imprint MT Shadow" panose="04020605060303030202" pitchFamily="82" charset="0"/>
                          <a:cs typeface="Times New Roman" panose="02020603050405020304" pitchFamily="18" charset="0"/>
                        </a:rPr>
                        <a:t> Qi, Ming Yue, </a:t>
                      </a:r>
                      <a:r>
                        <a:rPr lang="en-IN" sz="3200" dirty="0" err="1">
                          <a:latin typeface="Imprint MT Shadow" panose="04020605060303030202" pitchFamily="82" charset="0"/>
                          <a:cs typeface="Times New Roman" panose="02020603050405020304" pitchFamily="18" charset="0"/>
                        </a:rPr>
                        <a:t>Xudong</a:t>
                      </a:r>
                      <a:r>
                        <a:rPr lang="en-IN" sz="3200" dirty="0">
                          <a:latin typeface="Imprint MT Shadow" panose="04020605060303030202" pitchFamily="82" charset="0"/>
                          <a:cs typeface="Times New Roman" panose="02020603050405020304" pitchFamily="18" charset="0"/>
                        </a:rPr>
                        <a:t> Zhao</a:t>
                      </a:r>
                    </a:p>
                    <a:p>
                      <a:r>
                        <a:rPr lang="en-IN" sz="3200" dirty="0">
                          <a:latin typeface="Imprint MT Shadow" panose="04020605060303030202" pitchFamily="82" charset="0"/>
                          <a:cs typeface="Times New Roman" panose="02020603050405020304" pitchFamily="18" charset="0"/>
                        </a:rPr>
                        <a:t>[2023]</a:t>
                      </a:r>
                    </a:p>
                  </a:txBody>
                  <a:tcPr/>
                </a:tc>
                <a:tc>
                  <a:txBody>
                    <a:bodyPr/>
                    <a:lstStyle/>
                    <a:p>
                      <a:r>
                        <a:rPr lang="en-IN" sz="3200" b="0" i="0" dirty="0">
                          <a:solidFill>
                            <a:schemeClr val="dk1"/>
                          </a:solidFill>
                          <a:effectLst/>
                          <a:latin typeface="Imprint MT Shadow" panose="04020605060303030202" pitchFamily="82" charset="0"/>
                          <a:ea typeface="+mn-ea"/>
                          <a:cs typeface="+mn-cs"/>
                        </a:rPr>
                        <a:t>Dynamic Obstacle Avoidance... Via Improved Artificial Potential Field</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APF road/obstacle fields + MPC tracking</a:t>
                      </a: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Adapts dynamic speeds; vehicle stability constraints; smooth paths</a:t>
                      </a:r>
                      <a:br>
                        <a:rPr lang="en-US" sz="3200" dirty="0">
                          <a:latin typeface="Imprint MT Shadow" panose="04020605060303030202" pitchFamily="82" charset="0"/>
                        </a:rPr>
                      </a:br>
                      <a:endParaRPr lang="en-IN" sz="3200" dirty="0">
                        <a:latin typeface="Imprint MT Shadow" panose="04020605060303030202" pitchFamily="82" charset="0"/>
                      </a:endParaRPr>
                    </a:p>
                  </a:txBody>
                  <a:tcPr/>
                </a:tc>
                <a:tc>
                  <a:txBody>
                    <a:bodyPr/>
                    <a:lstStyle/>
                    <a:p>
                      <a:r>
                        <a:rPr lang="en-US" sz="3200" b="0" i="0" dirty="0">
                          <a:solidFill>
                            <a:schemeClr val="dk1"/>
                          </a:solidFill>
                          <a:effectLst/>
                          <a:latin typeface="Imprint MT Shadow" panose="04020605060303030202" pitchFamily="82" charset="0"/>
                          <a:ea typeface="+mn-ea"/>
                          <a:cs typeface="+mn-cs"/>
                        </a:rPr>
                        <a:t>Needs precise env modeling; high-speed yaw limits</a:t>
                      </a:r>
                      <a:endParaRPr lang="en-IN" sz="3200" dirty="0">
                        <a:latin typeface="Imprint MT Shadow" panose="04020605060303030202" pitchFamily="82" charset="0"/>
                      </a:endParaRPr>
                    </a:p>
                  </a:txBody>
                  <a:tcPr/>
                </a:tc>
                <a:extLst>
                  <a:ext uri="{0D108BD9-81ED-4DB2-BD59-A6C34878D82A}">
                    <a16:rowId xmlns:a16="http://schemas.microsoft.com/office/drawing/2014/main" val="1818211504"/>
                  </a:ext>
                </a:extLst>
              </a:tr>
            </a:tbl>
          </a:graphicData>
        </a:graphic>
      </p:graphicFrame>
      <p:graphicFrame>
        <p:nvGraphicFramePr>
          <p:cNvPr id="4" name="Table 3">
            <a:extLst>
              <a:ext uri="{FF2B5EF4-FFF2-40B4-BE49-F238E27FC236}">
                <a16:creationId xmlns:a16="http://schemas.microsoft.com/office/drawing/2014/main" id="{A533B011-D6B2-FEE4-7442-86BBD50B80A7}"/>
              </a:ext>
            </a:extLst>
          </p:cNvPr>
          <p:cNvGraphicFramePr>
            <a:graphicFrameLocks noGrp="1"/>
          </p:cNvGraphicFramePr>
          <p:nvPr>
            <p:extLst>
              <p:ext uri="{D42A27DB-BD31-4B8C-83A1-F6EECF244321}">
                <p14:modId xmlns:p14="http://schemas.microsoft.com/office/powerpoint/2010/main" val="315548807"/>
              </p:ext>
            </p:extLst>
          </p:nvPr>
        </p:nvGraphicFramePr>
        <p:xfrm>
          <a:off x="938411" y="570160"/>
          <a:ext cx="18211800" cy="853440"/>
        </p:xfrm>
        <a:graphic>
          <a:graphicData uri="http://schemas.openxmlformats.org/drawingml/2006/table">
            <a:tbl>
              <a:tblPr firstRow="1" bandRow="1">
                <a:tableStyleId>{5C22544A-7EE6-4342-B048-85BDC9FD1C3A}</a:tableStyleId>
              </a:tblPr>
              <a:tblGrid>
                <a:gridCol w="1181102">
                  <a:extLst>
                    <a:ext uri="{9D8B030D-6E8A-4147-A177-3AD203B41FA5}">
                      <a16:colId xmlns:a16="http://schemas.microsoft.com/office/drawing/2014/main" val="1191496098"/>
                    </a:ext>
                  </a:extLst>
                </a:gridCol>
                <a:gridCol w="4495800">
                  <a:extLst>
                    <a:ext uri="{9D8B030D-6E8A-4147-A177-3AD203B41FA5}">
                      <a16:colId xmlns:a16="http://schemas.microsoft.com/office/drawing/2014/main" val="3831632806"/>
                    </a:ext>
                  </a:extLst>
                </a:gridCol>
                <a:gridCol w="3352802">
                  <a:extLst>
                    <a:ext uri="{9D8B030D-6E8A-4147-A177-3AD203B41FA5}">
                      <a16:colId xmlns:a16="http://schemas.microsoft.com/office/drawing/2014/main" val="3002568965"/>
                    </a:ext>
                  </a:extLst>
                </a:gridCol>
                <a:gridCol w="3111496">
                  <a:extLst>
                    <a:ext uri="{9D8B030D-6E8A-4147-A177-3AD203B41FA5}">
                      <a16:colId xmlns:a16="http://schemas.microsoft.com/office/drawing/2014/main" val="1510284300"/>
                    </a:ext>
                  </a:extLst>
                </a:gridCol>
                <a:gridCol w="3035300">
                  <a:extLst>
                    <a:ext uri="{9D8B030D-6E8A-4147-A177-3AD203B41FA5}">
                      <a16:colId xmlns:a16="http://schemas.microsoft.com/office/drawing/2014/main" val="2308846390"/>
                    </a:ext>
                  </a:extLst>
                </a:gridCol>
                <a:gridCol w="3035300">
                  <a:extLst>
                    <a:ext uri="{9D8B030D-6E8A-4147-A177-3AD203B41FA5}">
                      <a16:colId xmlns:a16="http://schemas.microsoft.com/office/drawing/2014/main" val="3990744111"/>
                    </a:ext>
                  </a:extLst>
                </a:gridCol>
              </a:tblGrid>
              <a:tr h="830997">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3200" b="1" dirty="0">
                          <a:effectLst/>
                          <a:latin typeface="Imprint MT Shadow" panose="04020605060303030202" pitchFamily="82" charset="0"/>
                        </a:rPr>
                        <a:t>    </a:t>
                      </a:r>
                    </a:p>
                    <a:p>
                      <a:endParaRPr lang="en-IN" dirty="0"/>
                    </a:p>
                  </a:txBody>
                  <a:tcPr/>
                </a:tc>
                <a:tc>
                  <a:txBody>
                    <a:bodyPr/>
                    <a:lstStyle/>
                    <a:p>
                      <a:endParaRPr lang="en-IN" sz="4000" dirty="0"/>
                    </a:p>
                  </a:txBody>
                  <a:tcPr/>
                </a:tc>
                <a:tc>
                  <a:txBody>
                    <a:bodyPr/>
                    <a:lstStyle/>
                    <a:p>
                      <a:endParaRPr lang="en-IN"/>
                    </a:p>
                  </a:txBody>
                  <a:tcPr/>
                </a:tc>
                <a:tc>
                  <a:txBody>
                    <a:bodyPr/>
                    <a:lstStyle/>
                    <a:p>
                      <a:endParaRPr lang="en-IN" dirty="0"/>
                    </a:p>
                  </a:txBody>
                  <a:tcPr/>
                </a:tc>
                <a:tc>
                  <a:txBody>
                    <a:bodyPr/>
                    <a:lstStyle/>
                    <a:p>
                      <a:endParaRPr lang="en-IN" dirty="0"/>
                    </a:p>
                  </a:txBody>
                  <a:tcPr/>
                </a:tc>
                <a:tc>
                  <a:txBody>
                    <a:bodyPr/>
                    <a:lstStyle/>
                    <a:p>
                      <a:endParaRPr lang="en-IN" dirty="0"/>
                    </a:p>
                  </a:txBody>
                  <a:tcPr/>
                </a:tc>
                <a:extLst>
                  <a:ext uri="{0D108BD9-81ED-4DB2-BD59-A6C34878D82A}">
                    <a16:rowId xmlns:a16="http://schemas.microsoft.com/office/drawing/2014/main" val="3288539668"/>
                  </a:ext>
                </a:extLst>
              </a:tr>
            </a:tbl>
          </a:graphicData>
        </a:graphic>
      </p:graphicFrame>
      <p:sp>
        <p:nvSpPr>
          <p:cNvPr id="6" name="TextBox 5">
            <a:extLst>
              <a:ext uri="{FF2B5EF4-FFF2-40B4-BE49-F238E27FC236}">
                <a16:creationId xmlns:a16="http://schemas.microsoft.com/office/drawing/2014/main" id="{9EAC231A-4E8A-2CD3-5F2F-33E7C7297AF9}"/>
              </a:ext>
            </a:extLst>
          </p:cNvPr>
          <p:cNvSpPr txBox="1"/>
          <p:nvPr/>
        </p:nvSpPr>
        <p:spPr>
          <a:xfrm>
            <a:off x="946146" y="949370"/>
            <a:ext cx="1181103" cy="830997"/>
          </a:xfrm>
          <a:prstGeom prst="rect">
            <a:avLst/>
          </a:prstGeom>
          <a:noFill/>
        </p:spPr>
        <p:txBody>
          <a:bodyPr wrap="square" rtlCol="0">
            <a:spAutoFit/>
          </a:bodyPr>
          <a:lstStyle/>
          <a:p>
            <a:r>
              <a:rPr lang="en-IN" sz="3000" b="1" dirty="0">
                <a:solidFill>
                  <a:schemeClr val="bg1"/>
                </a:solidFill>
                <a:latin typeface="Imprint MT Shadow" panose="04020605060303030202" pitchFamily="82" charset="0"/>
              </a:rPr>
              <a:t>Sl.no    </a:t>
            </a:r>
          </a:p>
          <a:p>
            <a:endParaRPr lang="en-IN" dirty="0"/>
          </a:p>
        </p:txBody>
      </p:sp>
      <p:sp>
        <p:nvSpPr>
          <p:cNvPr id="7" name="TextBox 6">
            <a:extLst>
              <a:ext uri="{FF2B5EF4-FFF2-40B4-BE49-F238E27FC236}">
                <a16:creationId xmlns:a16="http://schemas.microsoft.com/office/drawing/2014/main" id="{DE0AF7A2-6F0B-5C75-2085-75D3977F7A1D}"/>
              </a:ext>
            </a:extLst>
          </p:cNvPr>
          <p:cNvSpPr txBox="1"/>
          <p:nvPr/>
        </p:nvSpPr>
        <p:spPr>
          <a:xfrm>
            <a:off x="3194050" y="817678"/>
            <a:ext cx="3352800" cy="584775"/>
          </a:xfrm>
          <a:prstGeom prst="rect">
            <a:avLst/>
          </a:prstGeom>
          <a:noFill/>
        </p:spPr>
        <p:txBody>
          <a:bodyPr wrap="square" rtlCol="0">
            <a:spAutoFit/>
          </a:bodyPr>
          <a:lstStyle/>
          <a:p>
            <a:r>
              <a:rPr lang="en-IN" sz="3200" b="1" dirty="0">
                <a:solidFill>
                  <a:schemeClr val="bg1"/>
                </a:solidFill>
                <a:latin typeface="Imprint MT Shadow" panose="04020605060303030202" pitchFamily="82" charset="0"/>
              </a:rPr>
              <a:t>Author</a:t>
            </a:r>
            <a:endParaRPr lang="en-IN" sz="3200" dirty="0">
              <a:solidFill>
                <a:schemeClr val="bg1"/>
              </a:solidFill>
            </a:endParaRPr>
          </a:p>
        </p:txBody>
      </p:sp>
      <p:sp>
        <p:nvSpPr>
          <p:cNvPr id="8" name="TextBox 7">
            <a:extLst>
              <a:ext uri="{FF2B5EF4-FFF2-40B4-BE49-F238E27FC236}">
                <a16:creationId xmlns:a16="http://schemas.microsoft.com/office/drawing/2014/main" id="{3C325DED-A21E-7532-F982-B1B0B21EEE86}"/>
              </a:ext>
            </a:extLst>
          </p:cNvPr>
          <p:cNvSpPr txBox="1"/>
          <p:nvPr/>
        </p:nvSpPr>
        <p:spPr>
          <a:xfrm>
            <a:off x="7589290" y="816966"/>
            <a:ext cx="1562102" cy="584775"/>
          </a:xfrm>
          <a:prstGeom prst="rect">
            <a:avLst/>
          </a:prstGeom>
          <a:noFill/>
        </p:spPr>
        <p:txBody>
          <a:bodyPr wrap="square" rtlCol="0">
            <a:spAutoFit/>
          </a:bodyPr>
          <a:lstStyle/>
          <a:p>
            <a:r>
              <a:rPr lang="en-IN" sz="3200" b="1" dirty="0">
                <a:solidFill>
                  <a:schemeClr val="bg1"/>
                </a:solidFill>
                <a:latin typeface="Imprint MT Shadow" panose="04020605060303030202" pitchFamily="82" charset="0"/>
              </a:rPr>
              <a:t>Title</a:t>
            </a:r>
            <a:endParaRPr lang="en-IN" sz="3200" dirty="0">
              <a:solidFill>
                <a:schemeClr val="bg1"/>
              </a:solidFill>
            </a:endParaRPr>
          </a:p>
        </p:txBody>
      </p:sp>
      <p:sp>
        <p:nvSpPr>
          <p:cNvPr id="9" name="TextBox 8">
            <a:extLst>
              <a:ext uri="{FF2B5EF4-FFF2-40B4-BE49-F238E27FC236}">
                <a16:creationId xmlns:a16="http://schemas.microsoft.com/office/drawing/2014/main" id="{8507493C-D8BB-33DE-BB1F-735CDDD8FC50}"/>
              </a:ext>
            </a:extLst>
          </p:cNvPr>
          <p:cNvSpPr txBox="1"/>
          <p:nvPr/>
        </p:nvSpPr>
        <p:spPr>
          <a:xfrm>
            <a:off x="9790487" y="786054"/>
            <a:ext cx="4952998" cy="584775"/>
          </a:xfrm>
          <a:prstGeom prst="rect">
            <a:avLst/>
          </a:prstGeom>
          <a:noFill/>
        </p:spPr>
        <p:txBody>
          <a:bodyPr wrap="square" rtlCol="0">
            <a:spAutoFit/>
          </a:bodyPr>
          <a:lstStyle/>
          <a:p>
            <a:r>
              <a:rPr lang="en-IN" sz="3200" b="1" dirty="0">
                <a:solidFill>
                  <a:schemeClr val="bg1"/>
                </a:solidFill>
                <a:latin typeface="Imprint MT Shadow" panose="04020605060303030202" pitchFamily="82" charset="0"/>
              </a:rPr>
              <a:t> Proposed Method</a:t>
            </a:r>
            <a:endParaRPr lang="en-IN" sz="3200" dirty="0">
              <a:solidFill>
                <a:schemeClr val="bg1"/>
              </a:solidFill>
            </a:endParaRPr>
          </a:p>
        </p:txBody>
      </p:sp>
      <p:sp>
        <p:nvSpPr>
          <p:cNvPr id="10" name="TextBox 9">
            <a:extLst>
              <a:ext uri="{FF2B5EF4-FFF2-40B4-BE49-F238E27FC236}">
                <a16:creationId xmlns:a16="http://schemas.microsoft.com/office/drawing/2014/main" id="{1BCF9A77-1224-D4CD-3FEB-D88C1EB248E5}"/>
              </a:ext>
            </a:extLst>
          </p:cNvPr>
          <p:cNvSpPr txBox="1"/>
          <p:nvPr/>
        </p:nvSpPr>
        <p:spPr>
          <a:xfrm>
            <a:off x="14000534" y="855471"/>
            <a:ext cx="1600200" cy="584775"/>
          </a:xfrm>
          <a:prstGeom prst="rect">
            <a:avLst/>
          </a:prstGeom>
          <a:noFill/>
        </p:spPr>
        <p:txBody>
          <a:bodyPr wrap="square" rtlCol="0">
            <a:spAutoFit/>
          </a:bodyPr>
          <a:lstStyle/>
          <a:p>
            <a:r>
              <a:rPr lang="en-IN" sz="3200" b="1" dirty="0">
                <a:solidFill>
                  <a:schemeClr val="bg1"/>
                </a:solidFill>
                <a:latin typeface="Imprint MT Shadow" panose="04020605060303030202" pitchFamily="82" charset="0"/>
              </a:rPr>
              <a:t>Pros</a:t>
            </a:r>
            <a:endParaRPr lang="en-IN" sz="3200" dirty="0">
              <a:solidFill>
                <a:schemeClr val="bg1"/>
              </a:solidFill>
            </a:endParaRPr>
          </a:p>
        </p:txBody>
      </p:sp>
      <p:sp>
        <p:nvSpPr>
          <p:cNvPr id="11" name="TextBox 10">
            <a:extLst>
              <a:ext uri="{FF2B5EF4-FFF2-40B4-BE49-F238E27FC236}">
                <a16:creationId xmlns:a16="http://schemas.microsoft.com/office/drawing/2014/main" id="{635C7C24-2E6E-C5DF-4FCA-BC897C6BB359}"/>
              </a:ext>
            </a:extLst>
          </p:cNvPr>
          <p:cNvSpPr txBox="1"/>
          <p:nvPr/>
        </p:nvSpPr>
        <p:spPr>
          <a:xfrm>
            <a:off x="16497698" y="855470"/>
            <a:ext cx="2438400" cy="584775"/>
          </a:xfrm>
          <a:prstGeom prst="rect">
            <a:avLst/>
          </a:prstGeom>
          <a:noFill/>
        </p:spPr>
        <p:txBody>
          <a:bodyPr wrap="square" rtlCol="0">
            <a:spAutoFit/>
          </a:bodyPr>
          <a:lstStyle/>
          <a:p>
            <a:r>
              <a:rPr lang="en-IN" sz="3200" b="1" dirty="0">
                <a:solidFill>
                  <a:schemeClr val="bg1"/>
                </a:solidFill>
                <a:latin typeface="Imprint MT Shadow" panose="04020605060303030202" pitchFamily="82" charset="0"/>
              </a:rPr>
              <a:t>Drawbacks</a:t>
            </a:r>
            <a:endParaRPr lang="en-IN" sz="3200" dirty="0">
              <a:solidFill>
                <a:schemeClr val="bg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flipH="1" flipV="1">
            <a:off x="1" y="0"/>
            <a:ext cx="20104099" cy="5426075"/>
          </a:xfrm>
          <a:prstGeom prst="rect">
            <a:avLst/>
          </a:prstGeom>
          <a:blipFill>
            <a:blip r:embed="rId2" cstate="print"/>
            <a:stretch>
              <a:fillRect/>
            </a:stretch>
          </a:blipFill>
        </p:spPr>
        <p:txBody>
          <a:bodyPr wrap="square" lIns="0" tIns="0" rIns="0" bIns="0" rtlCol="0"/>
          <a:lstStyle/>
          <a:p>
            <a:endParaRPr/>
          </a:p>
        </p:txBody>
      </p:sp>
      <p:sp>
        <p:nvSpPr>
          <p:cNvPr id="4" name="TextBox 3">
            <a:extLst>
              <a:ext uri="{FF2B5EF4-FFF2-40B4-BE49-F238E27FC236}">
                <a16:creationId xmlns:a16="http://schemas.microsoft.com/office/drawing/2014/main" id="{EC577DD7-213B-C9DD-EE2C-8ADE08B100F2}"/>
              </a:ext>
            </a:extLst>
          </p:cNvPr>
          <p:cNvSpPr txBox="1"/>
          <p:nvPr/>
        </p:nvSpPr>
        <p:spPr>
          <a:xfrm>
            <a:off x="450850" y="45613"/>
            <a:ext cx="10050086" cy="1015663"/>
          </a:xfrm>
          <a:prstGeom prst="rect">
            <a:avLst/>
          </a:prstGeom>
          <a:noFill/>
        </p:spPr>
        <p:txBody>
          <a:bodyPr wrap="square">
            <a:spAutoFit/>
          </a:bodyPr>
          <a:lstStyle/>
          <a:p>
            <a:r>
              <a:rPr lang="en-US" sz="6000" b="1" dirty="0">
                <a:solidFill>
                  <a:schemeClr val="bg1"/>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rPr>
              <a:t>MOTIVATION</a:t>
            </a:r>
            <a:endParaRPr lang="en-IN" sz="6000" b="1" dirty="0">
              <a:solidFill>
                <a:schemeClr val="bg1"/>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endParaRPr>
          </a:p>
        </p:txBody>
      </p:sp>
      <p:sp>
        <p:nvSpPr>
          <p:cNvPr id="8" name="TextBox 7">
            <a:extLst>
              <a:ext uri="{FF2B5EF4-FFF2-40B4-BE49-F238E27FC236}">
                <a16:creationId xmlns:a16="http://schemas.microsoft.com/office/drawing/2014/main" id="{DC8CCD62-0640-C71C-91FC-8669A55A55E2}"/>
              </a:ext>
            </a:extLst>
          </p:cNvPr>
          <p:cNvSpPr txBox="1"/>
          <p:nvPr/>
        </p:nvSpPr>
        <p:spPr>
          <a:xfrm>
            <a:off x="1822450" y="3138214"/>
            <a:ext cx="12649200" cy="2062103"/>
          </a:xfrm>
          <a:prstGeom prst="rect">
            <a:avLst/>
          </a:prstGeom>
          <a:noFill/>
        </p:spPr>
        <p:txBody>
          <a:bodyPr wrap="square">
            <a:spAutoFit/>
          </a:bodyPr>
          <a:lstStyle/>
          <a:p>
            <a:pPr marL="457200" indent="-457200" algn="just">
              <a:buFont typeface="Arial" panose="020B0604020202020204" pitchFamily="34" charset="0"/>
              <a:buChar char="•"/>
            </a:pPr>
            <a:r>
              <a:rPr lang="en-US" sz="3200" dirty="0">
                <a:latin typeface="Imprint MT Shadow" panose="04020605060303030202" pitchFamily="82" charset="0"/>
                <a:cs typeface="Times New Roman Medium" panose="020B0604020202020204" charset="0"/>
              </a:rPr>
              <a:t>A recent accident in Hassan district claimed the life of </a:t>
            </a:r>
            <a:r>
              <a:rPr lang="en-US" sz="3200" b="1" dirty="0">
                <a:latin typeface="Imprint MT Shadow" panose="04020605060303030202" pitchFamily="82" charset="0"/>
                <a:cs typeface="Times New Roman Medium" panose="020B0604020202020204" charset="0"/>
              </a:rPr>
              <a:t>Priya</a:t>
            </a:r>
            <a:r>
              <a:rPr lang="en-US" sz="3200" dirty="0">
                <a:latin typeface="Imprint MT Shadow" panose="04020605060303030202" pitchFamily="82" charset="0"/>
                <a:cs typeface="Times New Roman Medium" panose="020B0604020202020204" charset="0"/>
              </a:rPr>
              <a:t>, an MCA final-year student, after a vehicle lost control on a speed breaker, highlighting the need for real-time road hazard detection and warning systems.</a:t>
            </a:r>
            <a:endParaRPr lang="en-IN" sz="3200" dirty="0">
              <a:latin typeface="Imprint MT Shadow" panose="04020605060303030202" pitchFamily="82" charset="0"/>
              <a:cs typeface="Times New Roman Medium" panose="020B0604020202020204" charset="0"/>
            </a:endParaRPr>
          </a:p>
        </p:txBody>
      </p:sp>
      <p:sp>
        <p:nvSpPr>
          <p:cNvPr id="11" name="TextBox 10">
            <a:extLst>
              <a:ext uri="{FF2B5EF4-FFF2-40B4-BE49-F238E27FC236}">
                <a16:creationId xmlns:a16="http://schemas.microsoft.com/office/drawing/2014/main" id="{EAE43D75-1870-0E00-5678-D68E0E9E4940}"/>
              </a:ext>
            </a:extLst>
          </p:cNvPr>
          <p:cNvSpPr txBox="1"/>
          <p:nvPr/>
        </p:nvSpPr>
        <p:spPr>
          <a:xfrm>
            <a:off x="3651249" y="5772800"/>
            <a:ext cx="11110191" cy="523220"/>
          </a:xfrm>
          <a:prstGeom prst="rect">
            <a:avLst/>
          </a:prstGeom>
          <a:noFill/>
        </p:spPr>
        <p:txBody>
          <a:bodyPr wrap="square" rtlCol="0">
            <a:spAutoFit/>
          </a:bodyPr>
          <a:lstStyle/>
          <a:p>
            <a:r>
              <a:rPr lang="en-IN" sz="2800" b="1" dirty="0">
                <a:solidFill>
                  <a:srgbClr val="00B0F0"/>
                </a:solidFill>
                <a:latin typeface="Imprint MT Shadow" panose="04020605060303030202" pitchFamily="82" charset="0"/>
                <a:cs typeface="Times New Roman Medium" panose="020B0604020202020204" charset="0"/>
                <a:hlinkClick r:id="rId3">
                  <a:extLst>
                    <a:ext uri="{A12FA001-AC4F-418D-AE19-62706E023703}">
                      <ahyp:hlinkClr xmlns:ahyp="http://schemas.microsoft.com/office/drawing/2018/hyperlinkcolor" val="tx"/>
                    </a:ext>
                  </a:extLst>
                </a:hlinkClick>
              </a:rPr>
              <a:t>https://youtu.be/mUyTmW7NMQo?si=XwVH2Kquthbyb149</a:t>
            </a:r>
            <a:endParaRPr lang="en-IN" sz="2800" b="1" dirty="0">
              <a:solidFill>
                <a:srgbClr val="00B0F0"/>
              </a:solidFill>
              <a:latin typeface="Imprint MT Shadow" panose="04020605060303030202" pitchFamily="82" charset="0"/>
              <a:cs typeface="Times New Roman Medium" panose="020B0604020202020204" charset="0"/>
            </a:endParaRPr>
          </a:p>
        </p:txBody>
      </p:sp>
      <p:sp>
        <p:nvSpPr>
          <p:cNvPr id="13" name="TextBox 12">
            <a:extLst>
              <a:ext uri="{FF2B5EF4-FFF2-40B4-BE49-F238E27FC236}">
                <a16:creationId xmlns:a16="http://schemas.microsoft.com/office/drawing/2014/main" id="{D60EA1F6-1B6F-D974-A7E2-50170EAD28FF}"/>
              </a:ext>
            </a:extLst>
          </p:cNvPr>
          <p:cNvSpPr txBox="1"/>
          <p:nvPr/>
        </p:nvSpPr>
        <p:spPr>
          <a:xfrm>
            <a:off x="1825798" y="6484850"/>
            <a:ext cx="13411200" cy="1569660"/>
          </a:xfrm>
          <a:prstGeom prst="rect">
            <a:avLst/>
          </a:prstGeom>
          <a:noFill/>
        </p:spPr>
        <p:txBody>
          <a:bodyPr wrap="square">
            <a:spAutoFit/>
          </a:bodyPr>
          <a:lstStyle/>
          <a:p>
            <a:pPr marL="457200" indent="-457200" algn="just">
              <a:buFont typeface="Arial" panose="020B0604020202020204" pitchFamily="34" charset="0"/>
              <a:buChar char="•"/>
            </a:pPr>
            <a:r>
              <a:rPr lang="en-US" sz="3200" dirty="0">
                <a:latin typeface="Imprint MT Shadow" panose="04020605060303030202" pitchFamily="82" charset="0"/>
                <a:cs typeface="Times New Roman Medium" panose="020B0604020202020204" charset="0"/>
              </a:rPr>
              <a:t>Modern vehicles are becoming smarter, but many affordable cars still lack advanced driver assistance features, creating a gap in safety technology for everyday users.</a:t>
            </a:r>
            <a:endParaRPr lang="en-IN" sz="3200" dirty="0">
              <a:latin typeface="Imprint MT Shadow" panose="04020605060303030202" pitchFamily="82" charset="0"/>
              <a:cs typeface="Times New Roman Medium" panose="020B0604020202020204" charset="0"/>
            </a:endParaRPr>
          </a:p>
        </p:txBody>
      </p:sp>
      <p:sp>
        <p:nvSpPr>
          <p:cNvPr id="15" name="TextBox 14">
            <a:extLst>
              <a:ext uri="{FF2B5EF4-FFF2-40B4-BE49-F238E27FC236}">
                <a16:creationId xmlns:a16="http://schemas.microsoft.com/office/drawing/2014/main" id="{32BC414E-DF1D-61B0-9C52-9846A63B7EAA}"/>
              </a:ext>
            </a:extLst>
          </p:cNvPr>
          <p:cNvSpPr txBox="1"/>
          <p:nvPr/>
        </p:nvSpPr>
        <p:spPr>
          <a:xfrm>
            <a:off x="1822450" y="8663885"/>
            <a:ext cx="13182600" cy="1077218"/>
          </a:xfrm>
          <a:prstGeom prst="rect">
            <a:avLst/>
          </a:prstGeom>
          <a:noFill/>
        </p:spPr>
        <p:txBody>
          <a:bodyPr wrap="square">
            <a:spAutoFit/>
          </a:bodyPr>
          <a:lstStyle/>
          <a:p>
            <a:pPr marL="457200" indent="-457200" algn="just">
              <a:buFont typeface="Arial" panose="020B0604020202020204" pitchFamily="34" charset="0"/>
              <a:buChar char="•"/>
            </a:pPr>
            <a:r>
              <a:rPr lang="en-US" sz="3200" dirty="0">
                <a:latin typeface="Imprint MT Shadow" panose="04020605060303030202" pitchFamily="82" charset="0"/>
                <a:cs typeface="Times New Roman Medium" panose="020B0604020202020204" charset="0"/>
              </a:rPr>
              <a:t>Driver fatigue or distraction during long drives reduces attention, increasing the need for intelligent real-time alert systems.</a:t>
            </a:r>
            <a:endParaRPr lang="en-IN" sz="3200" dirty="0">
              <a:latin typeface="Imprint MT Shadow" panose="04020605060303030202" pitchFamily="82" charset="0"/>
              <a:cs typeface="Times New Roman Medium" panose="020B0604020202020204" charset="0"/>
            </a:endParaRPr>
          </a:p>
        </p:txBody>
      </p:sp>
      <p:pic>
        <p:nvPicPr>
          <p:cNvPr id="5" name="Picture 4">
            <a:extLst>
              <a:ext uri="{FF2B5EF4-FFF2-40B4-BE49-F238E27FC236}">
                <a16:creationId xmlns:a16="http://schemas.microsoft.com/office/drawing/2014/main" id="{E56E5B54-B882-B43B-317F-26DEA77142D3}"/>
              </a:ext>
            </a:extLst>
          </p:cNvPr>
          <p:cNvPicPr>
            <a:picLocks noChangeAspect="1"/>
          </p:cNvPicPr>
          <p:nvPr/>
        </p:nvPicPr>
        <p:blipFill>
          <a:blip r:embed="rId4">
            <a:extLst>
              <a:ext uri="{28A0092B-C50C-407E-A947-70E740481C1C}">
                <a14:useLocalDpi xmlns:a14="http://schemas.microsoft.com/office/drawing/2010/main" val="0"/>
              </a:ext>
            </a:extLst>
          </a:blip>
          <a:srcRect l="43333" t="16667" r="34167" b="12596"/>
          <a:stretch>
            <a:fillRect/>
          </a:stretch>
        </p:blipFill>
        <p:spPr>
          <a:xfrm>
            <a:off x="15375370" y="2911475"/>
            <a:ext cx="4114800" cy="7276692"/>
          </a:xfrm>
          <a:prstGeom prst="rect">
            <a:avLst/>
          </a:prstGeom>
        </p:spPr>
      </p:pic>
      <p:sp>
        <p:nvSpPr>
          <p:cNvPr id="3" name="TextBox 2">
            <a:extLst>
              <a:ext uri="{FF2B5EF4-FFF2-40B4-BE49-F238E27FC236}">
                <a16:creationId xmlns:a16="http://schemas.microsoft.com/office/drawing/2014/main" id="{B520D759-A8C3-24BB-4C48-9DFED7574BD4}"/>
              </a:ext>
            </a:extLst>
          </p:cNvPr>
          <p:cNvSpPr txBox="1"/>
          <p:nvPr/>
        </p:nvSpPr>
        <p:spPr>
          <a:xfrm>
            <a:off x="2279650" y="5309346"/>
            <a:ext cx="3429000" cy="584775"/>
          </a:xfrm>
          <a:prstGeom prst="rect">
            <a:avLst/>
          </a:prstGeom>
          <a:noFill/>
        </p:spPr>
        <p:txBody>
          <a:bodyPr wrap="square" rtlCol="0">
            <a:spAutoFit/>
          </a:bodyPr>
          <a:lstStyle/>
          <a:p>
            <a:r>
              <a:rPr lang="en-US" sz="3200" b="1" dirty="0">
                <a:latin typeface="Imprint MT Shadow" panose="04020605060303030202" pitchFamily="82" charset="0"/>
              </a:rPr>
              <a:t>Reference link:</a:t>
            </a:r>
            <a:endParaRPr lang="en-IN" sz="3200" b="1" dirty="0">
              <a:latin typeface="Imprint MT Shadow" panose="04020605060303030202" pitchFamily="82"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 name="Группа 7"/>
          <p:cNvGrpSpPr/>
          <p:nvPr/>
        </p:nvGrpSpPr>
        <p:grpSpPr>
          <a:xfrm>
            <a:off x="707103" y="700522"/>
            <a:ext cx="1264285" cy="1264285"/>
            <a:chOff x="707103" y="700522"/>
            <a:chExt cx="1264285" cy="1264285"/>
          </a:xfrm>
        </p:grpSpPr>
        <p:sp>
          <p:nvSpPr>
            <p:cNvPr id="3" name="object 3"/>
            <p:cNvSpPr/>
            <p:nvPr/>
          </p:nvSpPr>
          <p:spPr>
            <a:xfrm>
              <a:off x="1157212" y="919049"/>
              <a:ext cx="358140" cy="660400"/>
            </a:xfrm>
            <a:custGeom>
              <a:avLst/>
              <a:gdLst/>
              <a:ahLst/>
              <a:cxnLst/>
              <a:rect l="l" t="t" r="r" b="b"/>
              <a:pathLst>
                <a:path w="358140" h="660400">
                  <a:moveTo>
                    <a:pt x="179052" y="0"/>
                  </a:moveTo>
                  <a:lnTo>
                    <a:pt x="131453" y="6395"/>
                  </a:lnTo>
                  <a:lnTo>
                    <a:pt x="88681" y="24446"/>
                  </a:lnTo>
                  <a:lnTo>
                    <a:pt x="52443" y="52443"/>
                  </a:lnTo>
                  <a:lnTo>
                    <a:pt x="24446" y="88681"/>
                  </a:lnTo>
                  <a:lnTo>
                    <a:pt x="6395" y="131453"/>
                  </a:lnTo>
                  <a:lnTo>
                    <a:pt x="0" y="179052"/>
                  </a:lnTo>
                  <a:lnTo>
                    <a:pt x="0" y="481074"/>
                  </a:lnTo>
                  <a:lnTo>
                    <a:pt x="6395" y="528673"/>
                  </a:lnTo>
                  <a:lnTo>
                    <a:pt x="24446" y="571445"/>
                  </a:lnTo>
                  <a:lnTo>
                    <a:pt x="52443" y="607683"/>
                  </a:lnTo>
                  <a:lnTo>
                    <a:pt x="88681" y="635680"/>
                  </a:lnTo>
                  <a:lnTo>
                    <a:pt x="131453" y="653730"/>
                  </a:lnTo>
                  <a:lnTo>
                    <a:pt x="179052" y="660126"/>
                  </a:lnTo>
                  <a:lnTo>
                    <a:pt x="226651" y="653730"/>
                  </a:lnTo>
                  <a:lnTo>
                    <a:pt x="269422" y="635680"/>
                  </a:lnTo>
                  <a:lnTo>
                    <a:pt x="305660" y="607683"/>
                  </a:lnTo>
                  <a:lnTo>
                    <a:pt x="333658" y="571445"/>
                  </a:lnTo>
                  <a:lnTo>
                    <a:pt x="351708" y="528673"/>
                  </a:lnTo>
                  <a:lnTo>
                    <a:pt x="358104" y="481074"/>
                  </a:lnTo>
                  <a:lnTo>
                    <a:pt x="358104" y="179052"/>
                  </a:lnTo>
                  <a:lnTo>
                    <a:pt x="351708" y="131453"/>
                  </a:lnTo>
                  <a:lnTo>
                    <a:pt x="333658" y="88681"/>
                  </a:lnTo>
                  <a:lnTo>
                    <a:pt x="305660" y="52443"/>
                  </a:lnTo>
                  <a:lnTo>
                    <a:pt x="269422" y="24446"/>
                  </a:lnTo>
                  <a:lnTo>
                    <a:pt x="226651" y="6395"/>
                  </a:lnTo>
                  <a:lnTo>
                    <a:pt x="179052" y="0"/>
                  </a:lnTo>
                  <a:close/>
                </a:path>
              </a:pathLst>
            </a:custGeom>
            <a:solidFill>
              <a:srgbClr val="FFFFFF"/>
            </a:solidFill>
          </p:spPr>
          <p:txBody>
            <a:bodyPr wrap="square" lIns="0" tIns="0" rIns="0" bIns="0" rtlCol="0"/>
            <a:lstStyle/>
            <a:p>
              <a:endParaRPr/>
            </a:p>
          </p:txBody>
        </p:sp>
        <p:sp>
          <p:nvSpPr>
            <p:cNvPr id="4" name="object 4"/>
            <p:cNvSpPr/>
            <p:nvPr/>
          </p:nvSpPr>
          <p:spPr>
            <a:xfrm>
              <a:off x="707103" y="700522"/>
              <a:ext cx="1264285" cy="1264285"/>
            </a:xfrm>
            <a:custGeom>
              <a:avLst/>
              <a:gdLst/>
              <a:ahLst/>
              <a:cxnLst/>
              <a:rect l="l" t="t" r="r" b="b"/>
              <a:pathLst>
                <a:path w="1264285" h="1264285">
                  <a:moveTo>
                    <a:pt x="632064" y="0"/>
                  </a:moveTo>
                  <a:lnTo>
                    <a:pt x="584961" y="1737"/>
                  </a:lnTo>
                  <a:lnTo>
                    <a:pt x="538788" y="6865"/>
                  </a:lnTo>
                  <a:lnTo>
                    <a:pt x="493666" y="15263"/>
                  </a:lnTo>
                  <a:lnTo>
                    <a:pt x="449719" y="26806"/>
                  </a:lnTo>
                  <a:lnTo>
                    <a:pt x="407070" y="41372"/>
                  </a:lnTo>
                  <a:lnTo>
                    <a:pt x="365842" y="58837"/>
                  </a:lnTo>
                  <a:lnTo>
                    <a:pt x="326159" y="79078"/>
                  </a:lnTo>
                  <a:lnTo>
                    <a:pt x="288144" y="101972"/>
                  </a:lnTo>
                  <a:lnTo>
                    <a:pt x="251919" y="127396"/>
                  </a:lnTo>
                  <a:lnTo>
                    <a:pt x="217609" y="155226"/>
                  </a:lnTo>
                  <a:lnTo>
                    <a:pt x="185335" y="185339"/>
                  </a:lnTo>
                  <a:lnTo>
                    <a:pt x="155222" y="217613"/>
                  </a:lnTo>
                  <a:lnTo>
                    <a:pt x="127393" y="251924"/>
                  </a:lnTo>
                  <a:lnTo>
                    <a:pt x="101969" y="288149"/>
                  </a:lnTo>
                  <a:lnTo>
                    <a:pt x="79076" y="326164"/>
                  </a:lnTo>
                  <a:lnTo>
                    <a:pt x="58835" y="365847"/>
                  </a:lnTo>
                  <a:lnTo>
                    <a:pt x="41371" y="407074"/>
                  </a:lnTo>
                  <a:lnTo>
                    <a:pt x="26806" y="449722"/>
                  </a:lnTo>
                  <a:lnTo>
                    <a:pt x="15263" y="493669"/>
                  </a:lnTo>
                  <a:lnTo>
                    <a:pt x="6865" y="538790"/>
                  </a:lnTo>
                  <a:lnTo>
                    <a:pt x="1736" y="584963"/>
                  </a:lnTo>
                  <a:lnTo>
                    <a:pt x="0" y="632064"/>
                  </a:lnTo>
                  <a:lnTo>
                    <a:pt x="1736" y="679167"/>
                  </a:lnTo>
                  <a:lnTo>
                    <a:pt x="6865" y="725341"/>
                  </a:lnTo>
                  <a:lnTo>
                    <a:pt x="15263" y="770463"/>
                  </a:lnTo>
                  <a:lnTo>
                    <a:pt x="26806" y="814410"/>
                  </a:lnTo>
                  <a:lnTo>
                    <a:pt x="41371" y="857058"/>
                  </a:lnTo>
                  <a:lnTo>
                    <a:pt x="58835" y="898286"/>
                  </a:lnTo>
                  <a:lnTo>
                    <a:pt x="79076" y="937969"/>
                  </a:lnTo>
                  <a:lnTo>
                    <a:pt x="101969" y="975984"/>
                  </a:lnTo>
                  <a:lnTo>
                    <a:pt x="127393" y="1012209"/>
                  </a:lnTo>
                  <a:lnTo>
                    <a:pt x="155222" y="1046519"/>
                  </a:lnTo>
                  <a:lnTo>
                    <a:pt x="185335" y="1078793"/>
                  </a:lnTo>
                  <a:lnTo>
                    <a:pt x="217609" y="1108906"/>
                  </a:lnTo>
                  <a:lnTo>
                    <a:pt x="251919" y="1136735"/>
                  </a:lnTo>
                  <a:lnTo>
                    <a:pt x="288144" y="1162159"/>
                  </a:lnTo>
                  <a:lnTo>
                    <a:pt x="326159" y="1185052"/>
                  </a:lnTo>
                  <a:lnTo>
                    <a:pt x="365842" y="1205293"/>
                  </a:lnTo>
                  <a:lnTo>
                    <a:pt x="407070" y="1222757"/>
                  </a:lnTo>
                  <a:lnTo>
                    <a:pt x="449719" y="1237322"/>
                  </a:lnTo>
                  <a:lnTo>
                    <a:pt x="493666" y="1248865"/>
                  </a:lnTo>
                  <a:lnTo>
                    <a:pt x="538788" y="1257263"/>
                  </a:lnTo>
                  <a:lnTo>
                    <a:pt x="584961" y="1262392"/>
                  </a:lnTo>
                  <a:lnTo>
                    <a:pt x="632064" y="1264129"/>
                  </a:lnTo>
                  <a:lnTo>
                    <a:pt x="679165" y="1262392"/>
                  </a:lnTo>
                  <a:lnTo>
                    <a:pt x="725338" y="1257263"/>
                  </a:lnTo>
                  <a:lnTo>
                    <a:pt x="770459" y="1248865"/>
                  </a:lnTo>
                  <a:lnTo>
                    <a:pt x="814405" y="1237322"/>
                  </a:lnTo>
                  <a:lnTo>
                    <a:pt x="857053" y="1222757"/>
                  </a:lnTo>
                  <a:lnTo>
                    <a:pt x="898279" y="1205293"/>
                  </a:lnTo>
                  <a:lnTo>
                    <a:pt x="919896" y="1194267"/>
                  </a:lnTo>
                  <a:lnTo>
                    <a:pt x="662241" y="1194267"/>
                  </a:lnTo>
                  <a:lnTo>
                    <a:pt x="662241" y="1193607"/>
                  </a:lnTo>
                  <a:lnTo>
                    <a:pt x="593207" y="1193607"/>
                  </a:lnTo>
                  <a:lnTo>
                    <a:pt x="545067" y="1188221"/>
                  </a:lnTo>
                  <a:lnTo>
                    <a:pt x="498226" y="1178862"/>
                  </a:lnTo>
                  <a:lnTo>
                    <a:pt x="452859" y="1165704"/>
                  </a:lnTo>
                  <a:lnTo>
                    <a:pt x="409142" y="1148924"/>
                  </a:lnTo>
                  <a:lnTo>
                    <a:pt x="367252" y="1128697"/>
                  </a:lnTo>
                  <a:lnTo>
                    <a:pt x="327364" y="1105200"/>
                  </a:lnTo>
                  <a:lnTo>
                    <a:pt x="289655" y="1078607"/>
                  </a:lnTo>
                  <a:lnTo>
                    <a:pt x="254301" y="1049095"/>
                  </a:lnTo>
                  <a:lnTo>
                    <a:pt x="221478" y="1016839"/>
                  </a:lnTo>
                  <a:lnTo>
                    <a:pt x="191363" y="982015"/>
                  </a:lnTo>
                  <a:lnTo>
                    <a:pt x="164130" y="944799"/>
                  </a:lnTo>
                  <a:lnTo>
                    <a:pt x="139958" y="905366"/>
                  </a:lnTo>
                  <a:lnTo>
                    <a:pt x="119020" y="863893"/>
                  </a:lnTo>
                  <a:lnTo>
                    <a:pt x="101495" y="820554"/>
                  </a:lnTo>
                  <a:lnTo>
                    <a:pt x="87558" y="775526"/>
                  </a:lnTo>
                  <a:lnTo>
                    <a:pt x="77384" y="728985"/>
                  </a:lnTo>
                  <a:lnTo>
                    <a:pt x="71151" y="681105"/>
                  </a:lnTo>
                  <a:lnTo>
                    <a:pt x="69034" y="632064"/>
                  </a:lnTo>
                  <a:lnTo>
                    <a:pt x="71105" y="583555"/>
                  </a:lnTo>
                  <a:lnTo>
                    <a:pt x="77203" y="536178"/>
                  </a:lnTo>
                  <a:lnTo>
                    <a:pt x="87158" y="490103"/>
                  </a:lnTo>
                  <a:lnTo>
                    <a:pt x="100800" y="445501"/>
                  </a:lnTo>
                  <a:lnTo>
                    <a:pt x="117959" y="402543"/>
                  </a:lnTo>
                  <a:lnTo>
                    <a:pt x="138464" y="361398"/>
                  </a:lnTo>
                  <a:lnTo>
                    <a:pt x="162145" y="322236"/>
                  </a:lnTo>
                  <a:lnTo>
                    <a:pt x="188832" y="285229"/>
                  </a:lnTo>
                  <a:lnTo>
                    <a:pt x="218355" y="250546"/>
                  </a:lnTo>
                  <a:lnTo>
                    <a:pt x="250542" y="218358"/>
                  </a:lnTo>
                  <a:lnTo>
                    <a:pt x="285225" y="188835"/>
                  </a:lnTo>
                  <a:lnTo>
                    <a:pt x="322232" y="162148"/>
                  </a:lnTo>
                  <a:lnTo>
                    <a:pt x="361393" y="138466"/>
                  </a:lnTo>
                  <a:lnTo>
                    <a:pt x="402538" y="117960"/>
                  </a:lnTo>
                  <a:lnTo>
                    <a:pt x="445497" y="100801"/>
                  </a:lnTo>
                  <a:lnTo>
                    <a:pt x="490100" y="87159"/>
                  </a:lnTo>
                  <a:lnTo>
                    <a:pt x="536175" y="77203"/>
                  </a:lnTo>
                  <a:lnTo>
                    <a:pt x="583553" y="71105"/>
                  </a:lnTo>
                  <a:lnTo>
                    <a:pt x="632064" y="69034"/>
                  </a:lnTo>
                  <a:lnTo>
                    <a:pt x="918270" y="69034"/>
                  </a:lnTo>
                  <a:lnTo>
                    <a:pt x="898279" y="58837"/>
                  </a:lnTo>
                  <a:lnTo>
                    <a:pt x="857053" y="41372"/>
                  </a:lnTo>
                  <a:lnTo>
                    <a:pt x="814405" y="26806"/>
                  </a:lnTo>
                  <a:lnTo>
                    <a:pt x="770459" y="15263"/>
                  </a:lnTo>
                  <a:lnTo>
                    <a:pt x="725338" y="6865"/>
                  </a:lnTo>
                  <a:lnTo>
                    <a:pt x="679165" y="1737"/>
                  </a:lnTo>
                  <a:lnTo>
                    <a:pt x="632064" y="0"/>
                  </a:lnTo>
                  <a:close/>
                </a:path>
                <a:path w="1264285" h="1264285">
                  <a:moveTo>
                    <a:pt x="918270" y="69034"/>
                  </a:moveTo>
                  <a:lnTo>
                    <a:pt x="632064" y="69034"/>
                  </a:lnTo>
                  <a:lnTo>
                    <a:pt x="680573" y="71105"/>
                  </a:lnTo>
                  <a:lnTo>
                    <a:pt x="727950" y="77203"/>
                  </a:lnTo>
                  <a:lnTo>
                    <a:pt x="774025" y="87159"/>
                  </a:lnTo>
                  <a:lnTo>
                    <a:pt x="818627" y="100801"/>
                  </a:lnTo>
                  <a:lnTo>
                    <a:pt x="861585" y="117960"/>
                  </a:lnTo>
                  <a:lnTo>
                    <a:pt x="902731" y="138466"/>
                  </a:lnTo>
                  <a:lnTo>
                    <a:pt x="941892" y="162148"/>
                  </a:lnTo>
                  <a:lnTo>
                    <a:pt x="978899" y="188835"/>
                  </a:lnTo>
                  <a:lnTo>
                    <a:pt x="1013582" y="218358"/>
                  </a:lnTo>
                  <a:lnTo>
                    <a:pt x="1045770" y="250546"/>
                  </a:lnTo>
                  <a:lnTo>
                    <a:pt x="1075293" y="285229"/>
                  </a:lnTo>
                  <a:lnTo>
                    <a:pt x="1101980" y="322236"/>
                  </a:lnTo>
                  <a:lnTo>
                    <a:pt x="1125662" y="361398"/>
                  </a:lnTo>
                  <a:lnTo>
                    <a:pt x="1146168" y="402543"/>
                  </a:lnTo>
                  <a:lnTo>
                    <a:pt x="1163327" y="445501"/>
                  </a:lnTo>
                  <a:lnTo>
                    <a:pt x="1176970" y="490103"/>
                  </a:lnTo>
                  <a:lnTo>
                    <a:pt x="1186925" y="536178"/>
                  </a:lnTo>
                  <a:lnTo>
                    <a:pt x="1193023" y="583555"/>
                  </a:lnTo>
                  <a:lnTo>
                    <a:pt x="1195094" y="632064"/>
                  </a:lnTo>
                  <a:lnTo>
                    <a:pt x="1192936" y="681588"/>
                  </a:lnTo>
                  <a:lnTo>
                    <a:pt x="1186581" y="729927"/>
                  </a:lnTo>
                  <a:lnTo>
                    <a:pt x="1176212" y="776899"/>
                  </a:lnTo>
                  <a:lnTo>
                    <a:pt x="1162009" y="822324"/>
                  </a:lnTo>
                  <a:lnTo>
                    <a:pt x="1144155" y="866020"/>
                  </a:lnTo>
                  <a:lnTo>
                    <a:pt x="1122830" y="907806"/>
                  </a:lnTo>
                  <a:lnTo>
                    <a:pt x="1098216" y="947500"/>
                  </a:lnTo>
                  <a:lnTo>
                    <a:pt x="1070493" y="984922"/>
                  </a:lnTo>
                  <a:lnTo>
                    <a:pt x="1039845" y="1019890"/>
                  </a:lnTo>
                  <a:lnTo>
                    <a:pt x="1006451" y="1052223"/>
                  </a:lnTo>
                  <a:lnTo>
                    <a:pt x="970494" y="1081739"/>
                  </a:lnTo>
                  <a:lnTo>
                    <a:pt x="932154" y="1108257"/>
                  </a:lnTo>
                  <a:lnTo>
                    <a:pt x="891613" y="1131597"/>
                  </a:lnTo>
                  <a:lnTo>
                    <a:pt x="849052" y="1151576"/>
                  </a:lnTo>
                  <a:lnTo>
                    <a:pt x="804654" y="1168014"/>
                  </a:lnTo>
                  <a:lnTo>
                    <a:pt x="758598" y="1180730"/>
                  </a:lnTo>
                  <a:lnTo>
                    <a:pt x="711067" y="1189541"/>
                  </a:lnTo>
                  <a:lnTo>
                    <a:pt x="662241" y="1194267"/>
                  </a:lnTo>
                  <a:lnTo>
                    <a:pt x="919896" y="1194267"/>
                  </a:lnTo>
                  <a:lnTo>
                    <a:pt x="975976" y="1162159"/>
                  </a:lnTo>
                  <a:lnTo>
                    <a:pt x="1012200" y="1136735"/>
                  </a:lnTo>
                  <a:lnTo>
                    <a:pt x="1046510" y="1108906"/>
                  </a:lnTo>
                  <a:lnTo>
                    <a:pt x="1078783" y="1078793"/>
                  </a:lnTo>
                  <a:lnTo>
                    <a:pt x="1108896" y="1046519"/>
                  </a:lnTo>
                  <a:lnTo>
                    <a:pt x="1136726" y="1012209"/>
                  </a:lnTo>
                  <a:lnTo>
                    <a:pt x="1162149" y="975984"/>
                  </a:lnTo>
                  <a:lnTo>
                    <a:pt x="1185042" y="937969"/>
                  </a:lnTo>
                  <a:lnTo>
                    <a:pt x="1205282" y="898286"/>
                  </a:lnTo>
                  <a:lnTo>
                    <a:pt x="1222747" y="857058"/>
                  </a:lnTo>
                  <a:lnTo>
                    <a:pt x="1237312" y="814410"/>
                  </a:lnTo>
                  <a:lnTo>
                    <a:pt x="1248855" y="770463"/>
                  </a:lnTo>
                  <a:lnTo>
                    <a:pt x="1257252" y="725341"/>
                  </a:lnTo>
                  <a:lnTo>
                    <a:pt x="1262381" y="679167"/>
                  </a:lnTo>
                  <a:lnTo>
                    <a:pt x="1264118" y="632064"/>
                  </a:lnTo>
                  <a:lnTo>
                    <a:pt x="1262381" y="584963"/>
                  </a:lnTo>
                  <a:lnTo>
                    <a:pt x="1257252" y="538790"/>
                  </a:lnTo>
                  <a:lnTo>
                    <a:pt x="1248855" y="493669"/>
                  </a:lnTo>
                  <a:lnTo>
                    <a:pt x="1237312" y="449722"/>
                  </a:lnTo>
                  <a:lnTo>
                    <a:pt x="1222747" y="407074"/>
                  </a:lnTo>
                  <a:lnTo>
                    <a:pt x="1205282" y="365847"/>
                  </a:lnTo>
                  <a:lnTo>
                    <a:pt x="1185042" y="326164"/>
                  </a:lnTo>
                  <a:lnTo>
                    <a:pt x="1162149" y="288149"/>
                  </a:lnTo>
                  <a:lnTo>
                    <a:pt x="1136726" y="251924"/>
                  </a:lnTo>
                  <a:lnTo>
                    <a:pt x="1108896" y="217613"/>
                  </a:lnTo>
                  <a:lnTo>
                    <a:pt x="1078783" y="185339"/>
                  </a:lnTo>
                  <a:lnTo>
                    <a:pt x="1046510" y="155226"/>
                  </a:lnTo>
                  <a:lnTo>
                    <a:pt x="1012200" y="127396"/>
                  </a:lnTo>
                  <a:lnTo>
                    <a:pt x="975976" y="101972"/>
                  </a:lnTo>
                  <a:lnTo>
                    <a:pt x="937962" y="79078"/>
                  </a:lnTo>
                  <a:lnTo>
                    <a:pt x="918270" y="69034"/>
                  </a:lnTo>
                  <a:close/>
                </a:path>
                <a:path w="1264285" h="1264285">
                  <a:moveTo>
                    <a:pt x="327864" y="606211"/>
                  </a:moveTo>
                  <a:lnTo>
                    <a:pt x="314427" y="608923"/>
                  </a:lnTo>
                  <a:lnTo>
                    <a:pt x="303458" y="616317"/>
                  </a:lnTo>
                  <a:lnTo>
                    <a:pt x="296063" y="627287"/>
                  </a:lnTo>
                  <a:lnTo>
                    <a:pt x="293352" y="640723"/>
                  </a:lnTo>
                  <a:lnTo>
                    <a:pt x="296375" y="695183"/>
                  </a:lnTo>
                  <a:lnTo>
                    <a:pt x="305227" y="746657"/>
                  </a:lnTo>
                  <a:lnTo>
                    <a:pt x="319581" y="794780"/>
                  </a:lnTo>
                  <a:lnTo>
                    <a:pt x="339109" y="839183"/>
                  </a:lnTo>
                  <a:lnTo>
                    <a:pt x="363484" y="879500"/>
                  </a:lnTo>
                  <a:lnTo>
                    <a:pt x="392379" y="915361"/>
                  </a:lnTo>
                  <a:lnTo>
                    <a:pt x="425468" y="946400"/>
                  </a:lnTo>
                  <a:lnTo>
                    <a:pt x="462422" y="972250"/>
                  </a:lnTo>
                  <a:lnTo>
                    <a:pt x="502914" y="992542"/>
                  </a:lnTo>
                  <a:lnTo>
                    <a:pt x="546618" y="1006909"/>
                  </a:lnTo>
                  <a:lnTo>
                    <a:pt x="593207" y="1014984"/>
                  </a:lnTo>
                  <a:lnTo>
                    <a:pt x="593207" y="1193607"/>
                  </a:lnTo>
                  <a:lnTo>
                    <a:pt x="662241" y="1193607"/>
                  </a:lnTo>
                  <a:lnTo>
                    <a:pt x="662241" y="1014984"/>
                  </a:lnTo>
                  <a:lnTo>
                    <a:pt x="708830" y="1006909"/>
                  </a:lnTo>
                  <a:lnTo>
                    <a:pt x="752534" y="992542"/>
                  </a:lnTo>
                  <a:lnTo>
                    <a:pt x="793028" y="972250"/>
                  </a:lnTo>
                  <a:lnTo>
                    <a:pt x="828142" y="947688"/>
                  </a:lnTo>
                  <a:lnTo>
                    <a:pt x="627729" y="947688"/>
                  </a:lnTo>
                  <a:lnTo>
                    <a:pt x="582937" y="943895"/>
                  </a:lnTo>
                  <a:lnTo>
                    <a:pt x="541091" y="932839"/>
                  </a:lnTo>
                  <a:lnTo>
                    <a:pt x="502607" y="915001"/>
                  </a:lnTo>
                  <a:lnTo>
                    <a:pt x="467903" y="890863"/>
                  </a:lnTo>
                  <a:lnTo>
                    <a:pt x="437395" y="860907"/>
                  </a:lnTo>
                  <a:lnTo>
                    <a:pt x="411499" y="825614"/>
                  </a:lnTo>
                  <a:lnTo>
                    <a:pt x="390633" y="785468"/>
                  </a:lnTo>
                  <a:lnTo>
                    <a:pt x="375212" y="740949"/>
                  </a:lnTo>
                  <a:lnTo>
                    <a:pt x="365654" y="692541"/>
                  </a:lnTo>
                  <a:lnTo>
                    <a:pt x="362376" y="640723"/>
                  </a:lnTo>
                  <a:lnTo>
                    <a:pt x="359665" y="627287"/>
                  </a:lnTo>
                  <a:lnTo>
                    <a:pt x="352270" y="616317"/>
                  </a:lnTo>
                  <a:lnTo>
                    <a:pt x="341300" y="608923"/>
                  </a:lnTo>
                  <a:lnTo>
                    <a:pt x="327864" y="606211"/>
                  </a:lnTo>
                  <a:close/>
                </a:path>
                <a:path w="1264285" h="1264285">
                  <a:moveTo>
                    <a:pt x="927584" y="606211"/>
                  </a:moveTo>
                  <a:lnTo>
                    <a:pt x="895784" y="627287"/>
                  </a:lnTo>
                  <a:lnTo>
                    <a:pt x="889793" y="692541"/>
                  </a:lnTo>
                  <a:lnTo>
                    <a:pt x="880236" y="740949"/>
                  </a:lnTo>
                  <a:lnTo>
                    <a:pt x="864815" y="785468"/>
                  </a:lnTo>
                  <a:lnTo>
                    <a:pt x="843949" y="825614"/>
                  </a:lnTo>
                  <a:lnTo>
                    <a:pt x="818054" y="860907"/>
                  </a:lnTo>
                  <a:lnTo>
                    <a:pt x="787547" y="890863"/>
                  </a:lnTo>
                  <a:lnTo>
                    <a:pt x="752844" y="915001"/>
                  </a:lnTo>
                  <a:lnTo>
                    <a:pt x="714362" y="932839"/>
                  </a:lnTo>
                  <a:lnTo>
                    <a:pt x="672518" y="943895"/>
                  </a:lnTo>
                  <a:lnTo>
                    <a:pt x="627729" y="947688"/>
                  </a:lnTo>
                  <a:lnTo>
                    <a:pt x="828142" y="947688"/>
                  </a:lnTo>
                  <a:lnTo>
                    <a:pt x="863073" y="915361"/>
                  </a:lnTo>
                  <a:lnTo>
                    <a:pt x="891969" y="879500"/>
                  </a:lnTo>
                  <a:lnTo>
                    <a:pt x="916346" y="839183"/>
                  </a:lnTo>
                  <a:lnTo>
                    <a:pt x="935875" y="794780"/>
                  </a:lnTo>
                  <a:lnTo>
                    <a:pt x="950230" y="746657"/>
                  </a:lnTo>
                  <a:lnTo>
                    <a:pt x="959083" y="695183"/>
                  </a:lnTo>
                  <a:lnTo>
                    <a:pt x="962106" y="640723"/>
                  </a:lnTo>
                  <a:lnTo>
                    <a:pt x="959394" y="627287"/>
                  </a:lnTo>
                  <a:lnTo>
                    <a:pt x="951995" y="616317"/>
                  </a:lnTo>
                  <a:lnTo>
                    <a:pt x="941022" y="608923"/>
                  </a:lnTo>
                  <a:lnTo>
                    <a:pt x="927584" y="606211"/>
                  </a:lnTo>
                  <a:close/>
                </a:path>
              </a:pathLst>
            </a:custGeom>
            <a:solidFill>
              <a:srgbClr val="FFFFFF"/>
            </a:solidFill>
          </p:spPr>
          <p:txBody>
            <a:bodyPr wrap="square" lIns="0" tIns="0" rIns="0" bIns="0" rtlCol="0"/>
            <a:lstStyle/>
            <a:p>
              <a:endParaRPr/>
            </a:p>
          </p:txBody>
        </p:sp>
      </p:grpSp>
      <p:sp>
        <p:nvSpPr>
          <p:cNvPr id="10" name="object 3"/>
          <p:cNvSpPr txBox="1"/>
          <p:nvPr/>
        </p:nvSpPr>
        <p:spPr>
          <a:xfrm>
            <a:off x="2138575" y="625475"/>
            <a:ext cx="1242060" cy="1385636"/>
          </a:xfrm>
          <a:prstGeom prst="rect">
            <a:avLst/>
          </a:prstGeom>
        </p:spPr>
        <p:txBody>
          <a:bodyPr vert="horz" wrap="square" lIns="0" tIns="36830" rIns="0" bIns="0" rtlCol="0">
            <a:spAutoFit/>
          </a:bodyPr>
          <a:lstStyle/>
          <a:p>
            <a:pPr marL="12700" marR="5080">
              <a:lnSpc>
                <a:spcPts val="3290"/>
              </a:lnSpc>
              <a:spcBef>
                <a:spcPts val="290"/>
              </a:spcBef>
            </a:pPr>
            <a:r>
              <a:rPr lang="en-IN" sz="2800" b="1" dirty="0">
                <a:solidFill>
                  <a:schemeClr val="bg1"/>
                </a:solidFill>
                <a:latin typeface="Rajdhani"/>
                <a:cs typeface="Rajdhani"/>
              </a:rPr>
              <a:t>The </a:t>
            </a:r>
          </a:p>
          <a:p>
            <a:pPr marL="12700" marR="5080">
              <a:lnSpc>
                <a:spcPts val="3290"/>
              </a:lnSpc>
              <a:spcBef>
                <a:spcPts val="290"/>
              </a:spcBef>
            </a:pPr>
            <a:r>
              <a:rPr lang="en-IN" sz="2800" b="1" dirty="0">
                <a:solidFill>
                  <a:schemeClr val="bg1"/>
                </a:solidFill>
                <a:latin typeface="Rajdhani"/>
                <a:cs typeface="Rajdhani"/>
              </a:rPr>
              <a:t>Speaker </a:t>
            </a:r>
          </a:p>
          <a:p>
            <a:pPr marL="12700" marR="5080">
              <a:lnSpc>
                <a:spcPts val="3290"/>
              </a:lnSpc>
              <a:spcBef>
                <a:spcPts val="290"/>
              </a:spcBef>
            </a:pPr>
            <a:r>
              <a:rPr lang="en-IN" sz="2800" b="1" dirty="0">
                <a:solidFill>
                  <a:schemeClr val="bg1"/>
                </a:solidFill>
                <a:latin typeface="Rajdhani"/>
                <a:cs typeface="Rajdhani"/>
              </a:rPr>
              <a:t>Circle</a:t>
            </a:r>
            <a:endParaRPr sz="2800" dirty="0">
              <a:solidFill>
                <a:schemeClr val="bg1"/>
              </a:solidFill>
              <a:latin typeface="Rajdhani"/>
              <a:cs typeface="Rajdhani"/>
            </a:endParaRPr>
          </a:p>
        </p:txBody>
      </p:sp>
      <p:sp>
        <p:nvSpPr>
          <p:cNvPr id="2" name="object 5">
            <a:extLst>
              <a:ext uri="{FF2B5EF4-FFF2-40B4-BE49-F238E27FC236}">
                <a16:creationId xmlns:a16="http://schemas.microsoft.com/office/drawing/2014/main" id="{587AB85D-A75F-3D72-ABD3-95C9DBDF4027}"/>
              </a:ext>
            </a:extLst>
          </p:cNvPr>
          <p:cNvSpPr/>
          <p:nvPr/>
        </p:nvSpPr>
        <p:spPr>
          <a:xfrm>
            <a:off x="0" y="8980702"/>
            <a:ext cx="20104099" cy="2327853"/>
          </a:xfrm>
          <a:prstGeom prst="rect">
            <a:avLst/>
          </a:prstGeom>
          <a:blipFill>
            <a:blip r:embed="rId2" cstate="print"/>
            <a:stretch>
              <a:fillRect/>
            </a:stretch>
          </a:blipFill>
        </p:spPr>
        <p:txBody>
          <a:bodyPr wrap="square" lIns="0" tIns="0" rIns="0" bIns="0" rtlCol="0"/>
          <a:lstStyle/>
          <a:p>
            <a:endParaRPr/>
          </a:p>
        </p:txBody>
      </p:sp>
      <p:sp>
        <p:nvSpPr>
          <p:cNvPr id="6" name="TextBox 5">
            <a:extLst>
              <a:ext uri="{FF2B5EF4-FFF2-40B4-BE49-F238E27FC236}">
                <a16:creationId xmlns:a16="http://schemas.microsoft.com/office/drawing/2014/main" id="{DBF44AB6-0FA7-ACD0-7A4F-C8876114FABB}"/>
              </a:ext>
            </a:extLst>
          </p:cNvPr>
          <p:cNvSpPr txBox="1"/>
          <p:nvPr/>
        </p:nvSpPr>
        <p:spPr>
          <a:xfrm>
            <a:off x="527050" y="533691"/>
            <a:ext cx="9144000" cy="954107"/>
          </a:xfrm>
          <a:prstGeom prst="rect">
            <a:avLst/>
          </a:prstGeom>
          <a:noFill/>
        </p:spPr>
        <p:txBody>
          <a:bodyPr wrap="square">
            <a:spAutoFit/>
          </a:bodyPr>
          <a:lstStyle/>
          <a:p>
            <a:r>
              <a:rPr lang="en-US" sz="5600" b="1" dirty="0">
                <a:solidFill>
                  <a:srgbClr val="0070C0"/>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Times New Roman" panose="02020603050405020304" pitchFamily="18" charset="0"/>
                <a:sym typeface="Dynamo Medium"/>
              </a:rPr>
              <a:t>PROBLEM STATEMENT</a:t>
            </a:r>
          </a:p>
        </p:txBody>
      </p:sp>
      <p:sp>
        <p:nvSpPr>
          <p:cNvPr id="11" name="TextBox 10">
            <a:extLst>
              <a:ext uri="{FF2B5EF4-FFF2-40B4-BE49-F238E27FC236}">
                <a16:creationId xmlns:a16="http://schemas.microsoft.com/office/drawing/2014/main" id="{A667640B-7EC3-330F-8FD3-7013D722437E}"/>
              </a:ext>
            </a:extLst>
          </p:cNvPr>
          <p:cNvSpPr txBox="1"/>
          <p:nvPr/>
        </p:nvSpPr>
        <p:spPr>
          <a:xfrm>
            <a:off x="707102" y="2001464"/>
            <a:ext cx="18565147" cy="1569660"/>
          </a:xfrm>
          <a:prstGeom prst="rect">
            <a:avLst/>
          </a:prstGeom>
          <a:noFill/>
        </p:spPr>
        <p:txBody>
          <a:bodyPr wrap="square">
            <a:spAutoFit/>
          </a:bodyPr>
          <a:lstStyle/>
          <a:p>
            <a:r>
              <a:rPr lang="en-US" sz="3200" dirty="0">
                <a:latin typeface="Imprint MT Shadow" panose="04020605060303030202" pitchFamily="82" charset="0"/>
                <a:cs typeface="Times New Roman Medium" panose="020B0604020202020204" charset="0"/>
              </a:rPr>
              <a:t>“To design an AI-based real-time road hazard detection and emergency braking alert system using computer vision and deep learning to detect potholes, speed breakers, pedestrians, animals, and vehicles and provide timely warning alerts for safer driving.”</a:t>
            </a:r>
            <a:endParaRPr lang="en-IN" sz="3200" dirty="0">
              <a:latin typeface="Imprint MT Shadow" panose="04020605060303030202" pitchFamily="82" charset="0"/>
              <a:cs typeface="Times New Roman Medium" panose="020B0604020202020204" charset="0"/>
            </a:endParaRPr>
          </a:p>
        </p:txBody>
      </p:sp>
      <p:sp>
        <p:nvSpPr>
          <p:cNvPr id="13" name="TextBox 12">
            <a:extLst>
              <a:ext uri="{FF2B5EF4-FFF2-40B4-BE49-F238E27FC236}">
                <a16:creationId xmlns:a16="http://schemas.microsoft.com/office/drawing/2014/main" id="{1BA02D55-815F-668A-FBEF-7C606CF9F564}"/>
              </a:ext>
            </a:extLst>
          </p:cNvPr>
          <p:cNvSpPr txBox="1"/>
          <p:nvPr/>
        </p:nvSpPr>
        <p:spPr>
          <a:xfrm>
            <a:off x="707102" y="4132724"/>
            <a:ext cx="16355348" cy="1138773"/>
          </a:xfrm>
          <a:prstGeom prst="rect">
            <a:avLst/>
          </a:prstGeom>
          <a:noFill/>
        </p:spPr>
        <p:txBody>
          <a:bodyPr wrap="square">
            <a:spAutoFit/>
          </a:bodyPr>
          <a:lstStyle/>
          <a:p>
            <a:r>
              <a:rPr lang="en-IN" sz="3600" b="1" dirty="0">
                <a:latin typeface="Imprint MT Shadow" panose="04020605060303030202" pitchFamily="82" charset="0"/>
                <a:cs typeface="Times New Roman Medium" panose="020B0604020202020204" charset="0"/>
              </a:rPr>
              <a:t>Input:</a:t>
            </a:r>
          </a:p>
          <a:p>
            <a:r>
              <a:rPr lang="en-IN" sz="3200" dirty="0">
                <a:latin typeface="Imprint MT Shadow" panose="04020605060303030202" pitchFamily="82" charset="0"/>
                <a:cs typeface="Times New Roman Medium" panose="020B0604020202020204" charset="0"/>
              </a:rPr>
              <a:t>Real-time video frames from camera</a:t>
            </a:r>
          </a:p>
        </p:txBody>
      </p:sp>
      <p:sp>
        <p:nvSpPr>
          <p:cNvPr id="15" name="TextBox 14">
            <a:extLst>
              <a:ext uri="{FF2B5EF4-FFF2-40B4-BE49-F238E27FC236}">
                <a16:creationId xmlns:a16="http://schemas.microsoft.com/office/drawing/2014/main" id="{E5AE7388-AB09-CA19-A79A-D383099710B2}"/>
              </a:ext>
            </a:extLst>
          </p:cNvPr>
          <p:cNvSpPr txBox="1"/>
          <p:nvPr/>
        </p:nvSpPr>
        <p:spPr>
          <a:xfrm>
            <a:off x="714606" y="5638665"/>
            <a:ext cx="17871844" cy="3170099"/>
          </a:xfrm>
          <a:prstGeom prst="rect">
            <a:avLst/>
          </a:prstGeom>
          <a:noFill/>
        </p:spPr>
        <p:txBody>
          <a:bodyPr wrap="square">
            <a:spAutoFit/>
          </a:bodyPr>
          <a:lstStyle/>
          <a:p>
            <a:r>
              <a:rPr lang="en-IN" sz="3600" b="1" dirty="0">
                <a:latin typeface="Imprint MT Shadow" panose="04020605060303030202" pitchFamily="82" charset="0"/>
                <a:cs typeface="Times New Roman Medium" panose="020B0604020202020204" charset="0"/>
              </a:rPr>
              <a:t>Processing:</a:t>
            </a:r>
          </a:p>
          <a:p>
            <a:endParaRPr lang="en-IN" sz="3600" b="1" dirty="0">
              <a:latin typeface="Imprint MT Shadow" panose="04020605060303030202" pitchFamily="82" charset="0"/>
              <a:cs typeface="Times New Roman Medium" panose="020B0604020202020204" charset="0"/>
            </a:endParaRPr>
          </a:p>
          <a:p>
            <a:r>
              <a:rPr lang="en-IN" sz="3200" dirty="0">
                <a:latin typeface="Imprint MT Shadow" panose="04020605060303030202" pitchFamily="82" charset="0"/>
                <a:cs typeface="Times New Roman Medium" panose="020B0604020202020204" charset="0"/>
              </a:rPr>
              <a:t>★ </a:t>
            </a:r>
            <a:r>
              <a:rPr lang="en-IN" sz="3200" b="1" dirty="0">
                <a:latin typeface="Imprint MT Shadow" panose="04020605060303030202" pitchFamily="82" charset="0"/>
                <a:cs typeface="Times New Roman Medium" panose="020B0604020202020204" charset="0"/>
              </a:rPr>
              <a:t>Image Pre-processing:</a:t>
            </a:r>
          </a:p>
          <a:p>
            <a:pPr marL="914400" lvl="1" indent="-457200">
              <a:buFont typeface="Arial" panose="020B0604020202020204" pitchFamily="34" charset="0"/>
              <a:buChar char="•"/>
            </a:pPr>
            <a:r>
              <a:rPr lang="en-US" sz="3200" dirty="0">
                <a:latin typeface="Imprint MT Shadow" panose="04020605060303030202" pitchFamily="82" charset="0"/>
                <a:cs typeface="Times New Roman Medium" panose="020B0604020202020204" charset="0"/>
              </a:rPr>
              <a:t>Capture video frames and resize them using OpenCV image resizing techniques.</a:t>
            </a:r>
          </a:p>
          <a:p>
            <a:pPr marL="914400" lvl="1" indent="-457200">
              <a:buFont typeface="Arial" panose="020B0604020202020204" pitchFamily="34" charset="0"/>
              <a:buChar char="•"/>
            </a:pPr>
            <a:r>
              <a:rPr lang="en-US" sz="3200" dirty="0">
                <a:latin typeface="Imprint MT Shadow" panose="04020605060303030202" pitchFamily="82" charset="0"/>
                <a:cs typeface="Times New Roman Medium" panose="020B0604020202020204" charset="0"/>
              </a:rPr>
              <a:t>Apply image normalization and histogram equalization to enhance image quality and improve detection accuracy.</a:t>
            </a:r>
            <a:endParaRPr lang="en-IN" sz="3200" dirty="0">
              <a:latin typeface="Imprint MT Shadow" panose="04020605060303030202" pitchFamily="82" charset="0"/>
              <a:cs typeface="Times New Roman Medium" panose="020B0604020202020204" charset="0"/>
            </a:endParaRPr>
          </a:p>
        </p:txBody>
      </p:sp>
      <p:sp>
        <p:nvSpPr>
          <p:cNvPr id="17" name="TextBox 16">
            <a:extLst>
              <a:ext uri="{FF2B5EF4-FFF2-40B4-BE49-F238E27FC236}">
                <a16:creationId xmlns:a16="http://schemas.microsoft.com/office/drawing/2014/main" id="{62552EC1-9E51-0069-F1BC-43F177EEFA0B}"/>
              </a:ext>
            </a:extLst>
          </p:cNvPr>
          <p:cNvSpPr txBox="1"/>
          <p:nvPr/>
        </p:nvSpPr>
        <p:spPr>
          <a:xfrm>
            <a:off x="714606" y="9015172"/>
            <a:ext cx="15064845" cy="1569660"/>
          </a:xfrm>
          <a:prstGeom prst="rect">
            <a:avLst/>
          </a:prstGeom>
          <a:noFill/>
        </p:spPr>
        <p:txBody>
          <a:bodyPr wrap="square">
            <a:spAutoFit/>
          </a:bodyPr>
          <a:lstStyle/>
          <a:p>
            <a:r>
              <a:rPr lang="en-IN" sz="3200" b="1" dirty="0">
                <a:latin typeface="Imprint MT Shadow" panose="04020605060303030202" pitchFamily="82" charset="0"/>
                <a:cs typeface="Times New Roman Medium" panose="020B0604020202020204" charset="0"/>
              </a:rPr>
              <a:t>★ Edge Detection:</a:t>
            </a:r>
          </a:p>
          <a:p>
            <a:pPr marL="914400" lvl="1" indent="-457200">
              <a:buFont typeface="Arial" panose="020B0604020202020204" pitchFamily="34" charset="0"/>
              <a:buChar char="•"/>
            </a:pPr>
            <a:r>
              <a:rPr lang="en-IN" sz="3200" dirty="0">
                <a:latin typeface="Imprint MT Shadow" panose="04020605060303030202" pitchFamily="82" charset="0"/>
                <a:cs typeface="Times New Roman Medium" panose="020B0604020202020204" charset="0"/>
              </a:rPr>
              <a:t>Apply Canny Edge Detection to highlight road boundaries and surface irregularities.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5">
            <a:extLst>
              <a:ext uri="{FF2B5EF4-FFF2-40B4-BE49-F238E27FC236}">
                <a16:creationId xmlns:a16="http://schemas.microsoft.com/office/drawing/2014/main" id="{D36521EB-D507-7EEB-635A-476B8461A6C1}"/>
              </a:ext>
            </a:extLst>
          </p:cNvPr>
          <p:cNvSpPr/>
          <p:nvPr/>
        </p:nvSpPr>
        <p:spPr>
          <a:xfrm rot="5400000" flipV="1">
            <a:off x="13294879" y="4481368"/>
            <a:ext cx="11290589" cy="2327853"/>
          </a:xfrm>
          <a:prstGeom prst="rect">
            <a:avLst/>
          </a:prstGeom>
          <a:blipFill>
            <a:blip r:embed="rId3" cstate="print"/>
            <a:stretch>
              <a:fillRect/>
            </a:stretch>
          </a:blipFill>
        </p:spPr>
        <p:txBody>
          <a:bodyPr wrap="square" lIns="0" tIns="0" rIns="0" bIns="0" rtlCol="0"/>
          <a:lstStyle/>
          <a:p>
            <a:endParaRPr dirty="0"/>
          </a:p>
        </p:txBody>
      </p:sp>
      <p:sp>
        <p:nvSpPr>
          <p:cNvPr id="4" name="TextBox 3">
            <a:extLst>
              <a:ext uri="{FF2B5EF4-FFF2-40B4-BE49-F238E27FC236}">
                <a16:creationId xmlns:a16="http://schemas.microsoft.com/office/drawing/2014/main" id="{877D5BEA-1025-B335-CBAC-F3565229E087}"/>
              </a:ext>
            </a:extLst>
          </p:cNvPr>
          <p:cNvSpPr txBox="1"/>
          <p:nvPr/>
        </p:nvSpPr>
        <p:spPr>
          <a:xfrm>
            <a:off x="793750" y="1463675"/>
            <a:ext cx="18516600" cy="7786747"/>
          </a:xfrm>
          <a:prstGeom prst="rect">
            <a:avLst/>
          </a:prstGeom>
          <a:noFill/>
        </p:spPr>
        <p:txBody>
          <a:bodyPr wrap="square">
            <a:spAutoFit/>
          </a:bodyPr>
          <a:lstStyle/>
          <a:p>
            <a:r>
              <a:rPr lang="en-IN" sz="3600" b="1" dirty="0">
                <a:latin typeface="Imprint MT Shadow" panose="04020605060303030202" pitchFamily="82" charset="0"/>
                <a:cs typeface="Times New Roman Medium" panose="020B0604020202020204" charset="0"/>
              </a:rPr>
              <a:t>★ Hazard Detection:</a:t>
            </a:r>
          </a:p>
          <a:p>
            <a:pPr marL="742950" lvl="1" indent="-285750">
              <a:buFont typeface="Arial" panose="020B0604020202020204" pitchFamily="34" charset="0"/>
              <a:buChar char="•"/>
            </a:pPr>
            <a:r>
              <a:rPr lang="en-IN" sz="3200" dirty="0">
                <a:latin typeface="Imprint MT Shadow" panose="04020605060303030202" pitchFamily="82" charset="0"/>
                <a:cs typeface="Times New Roman Medium" panose="020B0604020202020204" charset="0"/>
              </a:rPr>
              <a:t>Use YOLOv8 model to detect road hazards such as potholes, speed breakers, pedestrians, animals, and vehicles.</a:t>
            </a:r>
          </a:p>
          <a:p>
            <a:pPr marL="285750" indent="-285750">
              <a:buFont typeface="Arial" panose="020B0604020202020204" pitchFamily="34" charset="0"/>
              <a:buChar char="•"/>
            </a:pPr>
            <a:endParaRPr lang="en-IN" sz="3200" dirty="0">
              <a:latin typeface="Imprint MT Shadow" panose="04020605060303030202" pitchFamily="82" charset="0"/>
              <a:cs typeface="Times New Roman Medium" panose="020B0604020202020204" charset="0"/>
            </a:endParaRPr>
          </a:p>
          <a:p>
            <a:r>
              <a:rPr lang="en-IN" sz="3600" b="1" dirty="0">
                <a:latin typeface="Imprint MT Shadow" panose="04020605060303030202" pitchFamily="82" charset="0"/>
                <a:cs typeface="Times New Roman Medium" panose="020B0604020202020204" charset="0"/>
              </a:rPr>
              <a:t>★ Distance Estimation:</a:t>
            </a:r>
          </a:p>
          <a:p>
            <a:pPr marL="914400" lvl="1" indent="-457200">
              <a:buFont typeface="Arial" panose="020B0604020202020204" pitchFamily="34" charset="0"/>
              <a:buChar char="•"/>
            </a:pPr>
            <a:r>
              <a:rPr lang="en-IN" sz="3200" dirty="0">
                <a:latin typeface="Imprint MT Shadow" panose="04020605060303030202" pitchFamily="82" charset="0"/>
                <a:cs typeface="Times New Roman Medium" panose="020B0604020202020204" charset="0"/>
              </a:rPr>
              <a:t> Calculate approximate distance using bounding box size and object scaling.</a:t>
            </a:r>
          </a:p>
          <a:p>
            <a:pPr marL="457200" indent="-457200">
              <a:buFont typeface="Arial" panose="020B0604020202020204" pitchFamily="34" charset="0"/>
              <a:buChar char="•"/>
            </a:pPr>
            <a:endParaRPr lang="en-IN" sz="3600" b="1" dirty="0">
              <a:latin typeface="Imprint MT Shadow" panose="04020605060303030202" pitchFamily="82" charset="0"/>
              <a:cs typeface="Times New Roman Medium" panose="020B0604020202020204" charset="0"/>
            </a:endParaRPr>
          </a:p>
          <a:p>
            <a:r>
              <a:rPr lang="en-IN" sz="3600" b="1" dirty="0">
                <a:latin typeface="Imprint MT Shadow" panose="04020605060303030202" pitchFamily="82" charset="0"/>
                <a:cs typeface="Times New Roman Medium" panose="020B0604020202020204" charset="0"/>
              </a:rPr>
              <a:t>★ Collision Risk Analysis:</a:t>
            </a:r>
          </a:p>
          <a:p>
            <a:pPr marL="742950" lvl="1" indent="-285750">
              <a:buFont typeface="Arial" panose="020B0604020202020204" pitchFamily="34" charset="0"/>
              <a:buChar char="•"/>
            </a:pPr>
            <a:r>
              <a:rPr lang="en-IN" sz="3200" dirty="0">
                <a:latin typeface="Imprint MT Shadow" panose="04020605060303030202" pitchFamily="82" charset="0"/>
                <a:cs typeface="Times New Roman Medium" panose="020B0604020202020204" charset="0"/>
              </a:rPr>
              <a:t>If distance &gt; 4 m → Safe</a:t>
            </a:r>
          </a:p>
          <a:p>
            <a:pPr marL="742950" lvl="1" indent="-285750">
              <a:buFont typeface="Arial" panose="020B0604020202020204" pitchFamily="34" charset="0"/>
              <a:buChar char="•"/>
            </a:pPr>
            <a:r>
              <a:rPr lang="en-IN" sz="3200" dirty="0">
                <a:latin typeface="Imprint MT Shadow" panose="04020605060303030202" pitchFamily="82" charset="0"/>
                <a:cs typeface="Times New Roman Medium" panose="020B0604020202020204" charset="0"/>
              </a:rPr>
              <a:t>If distance 2–4 m → Warning alert</a:t>
            </a:r>
          </a:p>
          <a:p>
            <a:pPr marL="742950" lvl="1" indent="-285750">
              <a:buFont typeface="Arial" panose="020B0604020202020204" pitchFamily="34" charset="0"/>
              <a:buChar char="•"/>
            </a:pPr>
            <a:r>
              <a:rPr lang="en-IN" sz="3200" dirty="0">
                <a:latin typeface="Imprint MT Shadow" panose="04020605060303030202" pitchFamily="82" charset="0"/>
                <a:cs typeface="Times New Roman Medium" panose="020B0604020202020204" charset="0"/>
              </a:rPr>
              <a:t>If distance &lt; 2 m → Emergency brake alert (simulation)</a:t>
            </a:r>
          </a:p>
          <a:p>
            <a:endParaRPr lang="en-IN" sz="3200" dirty="0">
              <a:latin typeface="Imprint MT Shadow" panose="04020605060303030202" pitchFamily="82" charset="0"/>
              <a:cs typeface="Times New Roman Medium" panose="020B0604020202020204" charset="0"/>
            </a:endParaRPr>
          </a:p>
          <a:p>
            <a:r>
              <a:rPr lang="en-IN" sz="3600" b="1" dirty="0">
                <a:latin typeface="Imprint MT Shadow" panose="04020605060303030202" pitchFamily="82" charset="0"/>
                <a:cs typeface="Times New Roman Medium" panose="020B0604020202020204" charset="0"/>
              </a:rPr>
              <a:t>Output:</a:t>
            </a:r>
          </a:p>
          <a:p>
            <a:r>
              <a:rPr lang="en-IN" sz="3200" dirty="0">
                <a:latin typeface="Imprint MT Shadow" panose="04020605060303030202" pitchFamily="82" charset="0"/>
                <a:cs typeface="Times New Roman Medium" panose="020B0604020202020204" charset="0"/>
              </a:rPr>
              <a:t>Displays detected hazard, distance, and alert status on a live dashboard </a:t>
            </a:r>
          </a:p>
          <a:p>
            <a:endParaRPr lang="en-IN" sz="3200" dirty="0">
              <a:latin typeface="Times New Roman Medium" panose="020B0604020202020204" charset="0"/>
              <a:cs typeface="Times New Roman Medium" panose="020B0604020202020204" charset="0"/>
            </a:endParaRPr>
          </a:p>
        </p:txBody>
      </p:sp>
    </p:spTree>
    <p:extLst>
      <p:ext uri="{BB962C8B-B14F-4D97-AF65-F5344CB8AC3E}">
        <p14:creationId xmlns:p14="http://schemas.microsoft.com/office/powerpoint/2010/main" val="41418077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bk object 16">
            <a:extLst>
              <a:ext uri="{FF2B5EF4-FFF2-40B4-BE49-F238E27FC236}">
                <a16:creationId xmlns:a16="http://schemas.microsoft.com/office/drawing/2014/main" id="{E40D2121-669A-A640-6511-E8F81F0AAB7C}"/>
              </a:ext>
            </a:extLst>
          </p:cNvPr>
          <p:cNvSpPr/>
          <p:nvPr/>
        </p:nvSpPr>
        <p:spPr>
          <a:xfrm>
            <a:off x="17533363" y="8655750"/>
            <a:ext cx="2570737" cy="2653600"/>
          </a:xfrm>
          <a:prstGeom prst="rect">
            <a:avLst/>
          </a:prstGeom>
          <a:blipFill>
            <a:blip r:embed="rId2" cstate="print"/>
            <a:stretch>
              <a:fillRect/>
            </a:stretch>
          </a:blipFill>
        </p:spPr>
        <p:txBody>
          <a:bodyPr wrap="square" lIns="0" tIns="0" rIns="0" bIns="0" rtlCol="0"/>
          <a:lstStyle/>
          <a:p>
            <a:endParaRPr/>
          </a:p>
        </p:txBody>
      </p:sp>
      <p:sp>
        <p:nvSpPr>
          <p:cNvPr id="7" name="TextBox 6">
            <a:extLst>
              <a:ext uri="{FF2B5EF4-FFF2-40B4-BE49-F238E27FC236}">
                <a16:creationId xmlns:a16="http://schemas.microsoft.com/office/drawing/2014/main" id="{347D34BE-697C-09B7-EEB6-C19D9D0A7162}"/>
              </a:ext>
            </a:extLst>
          </p:cNvPr>
          <p:cNvSpPr txBox="1"/>
          <p:nvPr/>
        </p:nvSpPr>
        <p:spPr>
          <a:xfrm>
            <a:off x="4184650" y="473075"/>
            <a:ext cx="10050086" cy="1364669"/>
          </a:xfrm>
          <a:prstGeom prst="rect">
            <a:avLst/>
          </a:prstGeom>
          <a:noFill/>
        </p:spPr>
        <p:txBody>
          <a:bodyPr wrap="square">
            <a:spAutoFit/>
          </a:bodyPr>
          <a:lstStyle/>
          <a:p>
            <a:pPr algn="ctr">
              <a:lnSpc>
                <a:spcPts val="11200"/>
              </a:lnSpc>
            </a:pPr>
            <a:r>
              <a:rPr lang="en-US" sz="6000" b="1" dirty="0">
                <a:solidFill>
                  <a:srgbClr val="0070C0"/>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Dubai Medium" panose="020B0603030403030204" pitchFamily="34" charset="-78"/>
                <a:sym typeface="Dynamo Medium"/>
              </a:rPr>
              <a:t>OBJECTIVES</a:t>
            </a:r>
          </a:p>
        </p:txBody>
      </p:sp>
      <p:sp>
        <p:nvSpPr>
          <p:cNvPr id="9" name="TextBox 8">
            <a:extLst>
              <a:ext uri="{FF2B5EF4-FFF2-40B4-BE49-F238E27FC236}">
                <a16:creationId xmlns:a16="http://schemas.microsoft.com/office/drawing/2014/main" id="{3F2A3EC2-A2BB-7724-A8C0-228BB0686AE8}"/>
              </a:ext>
            </a:extLst>
          </p:cNvPr>
          <p:cNvSpPr txBox="1"/>
          <p:nvPr/>
        </p:nvSpPr>
        <p:spPr>
          <a:xfrm>
            <a:off x="1822450" y="2606675"/>
            <a:ext cx="17716850" cy="5632311"/>
          </a:xfrm>
          <a:prstGeom prst="rect">
            <a:avLst/>
          </a:prstGeom>
          <a:noFill/>
        </p:spPr>
        <p:txBody>
          <a:bodyPr wrap="square">
            <a:spAutoFit/>
          </a:bodyPr>
          <a:lstStyle/>
          <a:p>
            <a:pPr marL="571500" indent="-571500">
              <a:buFont typeface="Arial" panose="020B0604020202020204" pitchFamily="34" charset="0"/>
              <a:buChar char="•"/>
            </a:pPr>
            <a:r>
              <a:rPr lang="en-US" sz="3600" dirty="0">
                <a:latin typeface="Imprint MT Shadow" panose="04020605060303030202" pitchFamily="82" charset="0"/>
                <a:cs typeface="Times New Roman Medium" panose="020B0604020202020204" charset="0"/>
              </a:rPr>
              <a:t>To collect and prepare a dataset of road hazards such as potholes, speed breakers, pedestrians, animals, and vehicles.</a:t>
            </a:r>
          </a:p>
          <a:p>
            <a:pPr marL="571500" indent="-571500">
              <a:buFont typeface="Arial" panose="020B0604020202020204" pitchFamily="34" charset="0"/>
              <a:buChar char="•"/>
            </a:pPr>
            <a:endParaRPr lang="en-US" sz="3600" dirty="0">
              <a:latin typeface="Imprint MT Shadow" panose="04020605060303030202" pitchFamily="82" charset="0"/>
              <a:cs typeface="Times New Roman Medium" panose="020B0604020202020204" charset="0"/>
            </a:endParaRPr>
          </a:p>
          <a:p>
            <a:pPr marL="571500" indent="-571500">
              <a:buFont typeface="Arial" panose="020B0604020202020204" pitchFamily="34" charset="0"/>
              <a:buChar char="•"/>
            </a:pPr>
            <a:r>
              <a:rPr lang="en-US" sz="3600" dirty="0">
                <a:latin typeface="Imprint MT Shadow" panose="04020605060303030202" pitchFamily="82" charset="0"/>
                <a:cs typeface="Times New Roman Medium" panose="020B0604020202020204" charset="0"/>
              </a:rPr>
              <a:t>To detect road hazards using computer vision and deep learning techniques.</a:t>
            </a:r>
          </a:p>
          <a:p>
            <a:pPr marL="571500" indent="-571500">
              <a:buFont typeface="Arial" panose="020B0604020202020204" pitchFamily="34" charset="0"/>
              <a:buChar char="•"/>
            </a:pPr>
            <a:endParaRPr lang="en-US" sz="3600" dirty="0">
              <a:latin typeface="Imprint MT Shadow" panose="04020605060303030202" pitchFamily="82" charset="0"/>
              <a:cs typeface="Times New Roman Medium" panose="020B0604020202020204" charset="0"/>
            </a:endParaRPr>
          </a:p>
          <a:p>
            <a:pPr marL="571500" indent="-571500">
              <a:buFont typeface="Arial" panose="020B0604020202020204" pitchFamily="34" charset="0"/>
              <a:buChar char="•"/>
            </a:pPr>
            <a:r>
              <a:rPr lang="en-US" sz="3600" dirty="0">
                <a:latin typeface="Imprint MT Shadow" panose="04020605060303030202" pitchFamily="82" charset="0"/>
                <a:cs typeface="Times New Roman Medium" panose="020B0604020202020204" charset="0"/>
              </a:rPr>
              <a:t>To estimate the distance between the vehicle and detected hazards and analyze collision risk in real time.</a:t>
            </a:r>
          </a:p>
          <a:p>
            <a:pPr marL="571500" indent="-571500">
              <a:buFont typeface="Arial" panose="020B0604020202020204" pitchFamily="34" charset="0"/>
              <a:buChar char="•"/>
            </a:pPr>
            <a:endParaRPr lang="en-US" sz="3600" dirty="0">
              <a:latin typeface="Imprint MT Shadow" panose="04020605060303030202" pitchFamily="82" charset="0"/>
              <a:cs typeface="Times New Roman Medium" panose="020B0604020202020204" charset="0"/>
            </a:endParaRPr>
          </a:p>
          <a:p>
            <a:pPr marL="571500" indent="-571500">
              <a:buFont typeface="Arial" panose="020B0604020202020204" pitchFamily="34" charset="0"/>
              <a:buChar char="•"/>
            </a:pPr>
            <a:r>
              <a:rPr lang="en-US" sz="3600" dirty="0">
                <a:latin typeface="Imprint MT Shadow" panose="04020605060303030202" pitchFamily="82" charset="0"/>
                <a:cs typeface="Times New Roman Medium" panose="020B0604020202020204" charset="0"/>
              </a:rPr>
              <a:t>To generate warning or emergency brake alerts and display hazard detection information on a live dashboard</a:t>
            </a:r>
            <a:endParaRPr lang="en-IN" sz="3600" dirty="0">
              <a:latin typeface="Imprint MT Shadow" panose="04020605060303030202" pitchFamily="82" charset="0"/>
              <a:cs typeface="Times New Roman Medium" panose="020B0604020202020204" charset="0"/>
            </a:endParaRPr>
          </a:p>
        </p:txBody>
      </p:sp>
      <p:sp>
        <p:nvSpPr>
          <p:cNvPr id="2" name="object 7">
            <a:extLst>
              <a:ext uri="{FF2B5EF4-FFF2-40B4-BE49-F238E27FC236}">
                <a16:creationId xmlns:a16="http://schemas.microsoft.com/office/drawing/2014/main" id="{43C1A7BC-2D65-45E3-04D3-38BB997E55FF}"/>
              </a:ext>
            </a:extLst>
          </p:cNvPr>
          <p:cNvSpPr/>
          <p:nvPr/>
        </p:nvSpPr>
        <p:spPr>
          <a:xfrm flipH="1">
            <a:off x="-1" y="0"/>
            <a:ext cx="2154095" cy="11279505"/>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2780880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bk object 16">
            <a:extLst>
              <a:ext uri="{FF2B5EF4-FFF2-40B4-BE49-F238E27FC236}">
                <a16:creationId xmlns:a16="http://schemas.microsoft.com/office/drawing/2014/main" id="{F234A298-2C98-5245-B7FD-94CE7DBB3571}"/>
              </a:ext>
            </a:extLst>
          </p:cNvPr>
          <p:cNvSpPr/>
          <p:nvPr/>
        </p:nvSpPr>
        <p:spPr>
          <a:xfrm rot="5400000" flipH="1" flipV="1">
            <a:off x="17990027" y="-13177"/>
            <a:ext cx="2100897" cy="2127250"/>
          </a:xfrm>
          <a:prstGeom prst="rect">
            <a:avLst/>
          </a:prstGeom>
          <a:blipFill>
            <a:blip r:embed="rId2" cstate="print"/>
            <a:stretch>
              <a:fillRect/>
            </a:stretch>
          </a:blipFill>
        </p:spPr>
        <p:txBody>
          <a:bodyPr wrap="square" lIns="0" tIns="0" rIns="0" bIns="0" rtlCol="0"/>
          <a:lstStyle/>
          <a:p>
            <a:endParaRPr/>
          </a:p>
        </p:txBody>
      </p:sp>
      <p:sp>
        <p:nvSpPr>
          <p:cNvPr id="5" name="TextBox 4">
            <a:extLst>
              <a:ext uri="{FF2B5EF4-FFF2-40B4-BE49-F238E27FC236}">
                <a16:creationId xmlns:a16="http://schemas.microsoft.com/office/drawing/2014/main" id="{0231B271-B650-F037-D98E-CD570B64A3F2}"/>
              </a:ext>
            </a:extLst>
          </p:cNvPr>
          <p:cNvSpPr txBox="1"/>
          <p:nvPr/>
        </p:nvSpPr>
        <p:spPr>
          <a:xfrm>
            <a:off x="5027007" y="763030"/>
            <a:ext cx="10050086" cy="1364669"/>
          </a:xfrm>
          <a:prstGeom prst="rect">
            <a:avLst/>
          </a:prstGeom>
          <a:noFill/>
        </p:spPr>
        <p:txBody>
          <a:bodyPr wrap="square">
            <a:spAutoFit/>
          </a:bodyPr>
          <a:lstStyle/>
          <a:p>
            <a:pPr>
              <a:lnSpc>
                <a:spcPts val="11200"/>
              </a:lnSpc>
            </a:pPr>
            <a:r>
              <a:rPr lang="en-US" sz="6000" b="1" dirty="0">
                <a:solidFill>
                  <a:srgbClr val="0070C0"/>
                </a:solidFill>
                <a:effectLst>
                  <a:reflection blurRad="6350" stA="55000" endA="300" endPos="45500" dir="5400000" sy="-100000" algn="bl" rotWithShape="0"/>
                </a:effectLst>
                <a:latin typeface="Imprint MT Shadow" panose="04020605060303030202" pitchFamily="82" charset="0"/>
                <a:ea typeface="Source Sans Pro" panose="020B0503030403020204" pitchFamily="34" charset="0"/>
                <a:cs typeface="Times New Roman" panose="02020603050405020304" pitchFamily="18" charset="0"/>
                <a:sym typeface="Dynamo Medium"/>
              </a:rPr>
              <a:t>SCOPE OF THE PROJECT</a:t>
            </a:r>
          </a:p>
        </p:txBody>
      </p:sp>
      <p:sp>
        <p:nvSpPr>
          <p:cNvPr id="6" name="Oval 5">
            <a:extLst>
              <a:ext uri="{FF2B5EF4-FFF2-40B4-BE49-F238E27FC236}">
                <a16:creationId xmlns:a16="http://schemas.microsoft.com/office/drawing/2014/main" id="{986D098B-D59B-37EB-11C1-607454A38C01}"/>
              </a:ext>
            </a:extLst>
          </p:cNvPr>
          <p:cNvSpPr/>
          <p:nvPr/>
        </p:nvSpPr>
        <p:spPr>
          <a:xfrm>
            <a:off x="1136651" y="3134122"/>
            <a:ext cx="4648200" cy="4267200"/>
          </a:xfrm>
          <a:prstGeom prst="ellipse">
            <a:avLst/>
          </a:prstGeom>
          <a:blipFill>
            <a:blip r:embed="rId3"/>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a:extLst>
              <a:ext uri="{FF2B5EF4-FFF2-40B4-BE49-F238E27FC236}">
                <a16:creationId xmlns:a16="http://schemas.microsoft.com/office/drawing/2014/main" id="{DFF84BB4-317F-9B94-BE15-61C0C3C6655F}"/>
              </a:ext>
            </a:extLst>
          </p:cNvPr>
          <p:cNvSpPr/>
          <p:nvPr/>
        </p:nvSpPr>
        <p:spPr>
          <a:xfrm>
            <a:off x="7727950" y="3133755"/>
            <a:ext cx="4648200" cy="4267200"/>
          </a:xfrm>
          <a:prstGeom prst="ellipse">
            <a:avLst/>
          </a:prstGeom>
          <a:blipFill>
            <a:blip r:embed="rId4"/>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Oval 8">
            <a:extLst>
              <a:ext uri="{FF2B5EF4-FFF2-40B4-BE49-F238E27FC236}">
                <a16:creationId xmlns:a16="http://schemas.microsoft.com/office/drawing/2014/main" id="{4B34E08D-FC92-F04D-7DB1-6DC5D089B6FD}"/>
              </a:ext>
            </a:extLst>
          </p:cNvPr>
          <p:cNvSpPr/>
          <p:nvPr/>
        </p:nvSpPr>
        <p:spPr>
          <a:xfrm>
            <a:off x="14351694" y="3133755"/>
            <a:ext cx="4648201" cy="4267200"/>
          </a:xfrm>
          <a:prstGeom prst="ellipse">
            <a:avLst/>
          </a:prstGeom>
          <a:blipFill>
            <a:blip r:embed="rId5"/>
            <a:stretch>
              <a:fillRect/>
            </a:stretch>
          </a:bli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TextBox 10">
            <a:extLst>
              <a:ext uri="{FF2B5EF4-FFF2-40B4-BE49-F238E27FC236}">
                <a16:creationId xmlns:a16="http://schemas.microsoft.com/office/drawing/2014/main" id="{A5621CB8-AD45-8059-C043-87FCA737B5B5}"/>
              </a:ext>
            </a:extLst>
          </p:cNvPr>
          <p:cNvSpPr txBox="1"/>
          <p:nvPr/>
        </p:nvSpPr>
        <p:spPr>
          <a:xfrm>
            <a:off x="1136650" y="7653672"/>
            <a:ext cx="4732713" cy="1446550"/>
          </a:xfrm>
          <a:prstGeom prst="rect">
            <a:avLst/>
          </a:prstGeom>
          <a:noFill/>
        </p:spPr>
        <p:txBody>
          <a:bodyPr wrap="square">
            <a:spAutoFit/>
          </a:bodyPr>
          <a:lstStyle/>
          <a:p>
            <a:pPr algn="just"/>
            <a:r>
              <a:rPr lang="en-IN" sz="4400" b="1" dirty="0">
                <a:solidFill>
                  <a:schemeClr val="accent1">
                    <a:lumMod val="75000"/>
                  </a:schemeClr>
                </a:solidFill>
                <a:latin typeface="Imprint MT Shadow" panose="04020605060303030202" pitchFamily="82" charset="0"/>
                <a:cs typeface="Times New Roman" panose="02020603050405020304" pitchFamily="18" charset="0"/>
              </a:rPr>
              <a:t>Real-Time Hazard Detection</a:t>
            </a:r>
          </a:p>
        </p:txBody>
      </p:sp>
      <p:sp>
        <p:nvSpPr>
          <p:cNvPr id="13" name="TextBox 12">
            <a:extLst>
              <a:ext uri="{FF2B5EF4-FFF2-40B4-BE49-F238E27FC236}">
                <a16:creationId xmlns:a16="http://schemas.microsoft.com/office/drawing/2014/main" id="{24957004-86B4-FEF6-821E-0421668FA369}"/>
              </a:ext>
            </a:extLst>
          </p:cNvPr>
          <p:cNvSpPr txBox="1"/>
          <p:nvPr/>
        </p:nvSpPr>
        <p:spPr>
          <a:xfrm>
            <a:off x="6623050" y="7653672"/>
            <a:ext cx="7239000" cy="1446550"/>
          </a:xfrm>
          <a:prstGeom prst="rect">
            <a:avLst/>
          </a:prstGeom>
          <a:noFill/>
        </p:spPr>
        <p:txBody>
          <a:bodyPr wrap="square">
            <a:spAutoFit/>
          </a:bodyPr>
          <a:lstStyle/>
          <a:p>
            <a:r>
              <a:rPr lang="en-IN" sz="4400" b="1" dirty="0">
                <a:solidFill>
                  <a:schemeClr val="accent1">
                    <a:lumMod val="75000"/>
                  </a:schemeClr>
                </a:solidFill>
                <a:latin typeface="Imprint MT Shadow" panose="04020605060303030202" pitchFamily="82" charset="0"/>
                <a:cs typeface="Times New Roman" panose="02020603050405020304" pitchFamily="18" charset="0"/>
              </a:rPr>
              <a:t>Advanced Driver Assistance Systems (ADAS) Integration</a:t>
            </a:r>
          </a:p>
        </p:txBody>
      </p:sp>
      <p:sp>
        <p:nvSpPr>
          <p:cNvPr id="15" name="TextBox 14">
            <a:extLst>
              <a:ext uri="{FF2B5EF4-FFF2-40B4-BE49-F238E27FC236}">
                <a16:creationId xmlns:a16="http://schemas.microsoft.com/office/drawing/2014/main" id="{D3F1A9BE-D5CC-7FF6-A0BC-860C1F2B9A55}"/>
              </a:ext>
            </a:extLst>
          </p:cNvPr>
          <p:cNvSpPr txBox="1"/>
          <p:nvPr/>
        </p:nvSpPr>
        <p:spPr>
          <a:xfrm>
            <a:off x="14615736" y="7653672"/>
            <a:ext cx="5028624" cy="1446550"/>
          </a:xfrm>
          <a:prstGeom prst="rect">
            <a:avLst/>
          </a:prstGeom>
          <a:noFill/>
        </p:spPr>
        <p:txBody>
          <a:bodyPr wrap="square">
            <a:spAutoFit/>
          </a:bodyPr>
          <a:lstStyle/>
          <a:p>
            <a:r>
              <a:rPr lang="en-IN" sz="4400" b="1" dirty="0">
                <a:solidFill>
                  <a:schemeClr val="accent1">
                    <a:lumMod val="75000"/>
                  </a:schemeClr>
                </a:solidFill>
                <a:latin typeface="Imprint MT Shadow" panose="04020605060303030202" pitchFamily="82" charset="0"/>
                <a:cs typeface="Times New Roman" panose="02020603050405020304" pitchFamily="18" charset="0"/>
              </a:rPr>
              <a:t>Highway &amp; Urban Traffic Monitoring </a:t>
            </a:r>
          </a:p>
        </p:txBody>
      </p:sp>
    </p:spTree>
    <p:extLst>
      <p:ext uri="{BB962C8B-B14F-4D97-AF65-F5344CB8AC3E}">
        <p14:creationId xmlns:p14="http://schemas.microsoft.com/office/powerpoint/2010/main" val="1740246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37BCA46-6E94-6088-0742-D0BC5C370601}"/>
              </a:ext>
            </a:extLst>
          </p:cNvPr>
          <p:cNvSpPr txBox="1"/>
          <p:nvPr/>
        </p:nvSpPr>
        <p:spPr>
          <a:xfrm>
            <a:off x="1670050" y="344751"/>
            <a:ext cx="17297516" cy="1345176"/>
          </a:xfrm>
          <a:prstGeom prst="rect">
            <a:avLst/>
          </a:prstGeom>
          <a:noFill/>
        </p:spPr>
        <p:txBody>
          <a:bodyPr wrap="square">
            <a:spAutoFit/>
          </a:bodyPr>
          <a:lstStyle/>
          <a:p>
            <a:pPr algn="l">
              <a:lnSpc>
                <a:spcPts val="11200"/>
              </a:lnSpc>
            </a:pPr>
            <a:r>
              <a:rPr lang="en-US" sz="5400" b="1" dirty="0">
                <a:solidFill>
                  <a:srgbClr val="0070C0"/>
                </a:solidFill>
                <a:effectLst>
                  <a:reflection blurRad="6350" stA="55000" endA="300" endPos="45500" dir="5400000" sy="-100000" algn="bl" rotWithShape="0"/>
                </a:effectLst>
                <a:latin typeface="Imprint MT Shadow" panose="04020605060303030202" pitchFamily="82" charset="0"/>
                <a:ea typeface="Dynamo Medium"/>
                <a:cs typeface="Dynamo Medium"/>
                <a:sym typeface="Dynamo Medium"/>
              </a:rPr>
              <a:t>HARDWARE AND SOFTWARE REQUIREMENTS</a:t>
            </a:r>
          </a:p>
        </p:txBody>
      </p:sp>
      <p:sp>
        <p:nvSpPr>
          <p:cNvPr id="5" name="TextBox 4">
            <a:extLst>
              <a:ext uri="{FF2B5EF4-FFF2-40B4-BE49-F238E27FC236}">
                <a16:creationId xmlns:a16="http://schemas.microsoft.com/office/drawing/2014/main" id="{B0EB5FC3-6052-38B5-802D-591A65DEBB89}"/>
              </a:ext>
            </a:extLst>
          </p:cNvPr>
          <p:cNvSpPr txBox="1"/>
          <p:nvPr/>
        </p:nvSpPr>
        <p:spPr>
          <a:xfrm>
            <a:off x="946150" y="1866309"/>
            <a:ext cx="5410200" cy="646331"/>
          </a:xfrm>
          <a:prstGeom prst="rect">
            <a:avLst/>
          </a:prstGeom>
          <a:noFill/>
        </p:spPr>
        <p:txBody>
          <a:bodyPr wrap="square">
            <a:spAutoFit/>
          </a:bodyPr>
          <a:lstStyle/>
          <a:p>
            <a:r>
              <a:rPr lang="en-IN" sz="3600" b="1" dirty="0">
                <a:solidFill>
                  <a:srgbClr val="1317C7"/>
                </a:solidFill>
                <a:latin typeface="Imprint MT Shadow" panose="04020605060303030202" pitchFamily="82" charset="0"/>
                <a:cs typeface="Times New Roman" panose="02020603050405020304" pitchFamily="18" charset="0"/>
              </a:rPr>
              <a:t>Hardware Requirements</a:t>
            </a:r>
          </a:p>
        </p:txBody>
      </p:sp>
      <p:graphicFrame>
        <p:nvGraphicFramePr>
          <p:cNvPr id="8" name="Table 7">
            <a:extLst>
              <a:ext uri="{FF2B5EF4-FFF2-40B4-BE49-F238E27FC236}">
                <a16:creationId xmlns:a16="http://schemas.microsoft.com/office/drawing/2014/main" id="{7B453840-FDD3-DBA5-9BB4-630FF63AE803}"/>
              </a:ext>
            </a:extLst>
          </p:cNvPr>
          <p:cNvGraphicFramePr>
            <a:graphicFrameLocks noGrp="1"/>
          </p:cNvGraphicFramePr>
          <p:nvPr>
            <p:extLst>
              <p:ext uri="{D42A27DB-BD31-4B8C-83A1-F6EECF244321}">
                <p14:modId xmlns:p14="http://schemas.microsoft.com/office/powerpoint/2010/main" val="597628642"/>
              </p:ext>
            </p:extLst>
          </p:nvPr>
        </p:nvGraphicFramePr>
        <p:xfrm>
          <a:off x="1060334" y="2711059"/>
          <a:ext cx="8382116" cy="6682800"/>
        </p:xfrm>
        <a:graphic>
          <a:graphicData uri="http://schemas.openxmlformats.org/drawingml/2006/table">
            <a:tbl>
              <a:tblPr firstRow="1" bandRow="1">
                <a:tableStyleId>{5C22544A-7EE6-4342-B048-85BDC9FD1C3A}</a:tableStyleId>
              </a:tblPr>
              <a:tblGrid>
                <a:gridCol w="3904553">
                  <a:extLst>
                    <a:ext uri="{9D8B030D-6E8A-4147-A177-3AD203B41FA5}">
                      <a16:colId xmlns:a16="http://schemas.microsoft.com/office/drawing/2014/main" val="1269587508"/>
                    </a:ext>
                  </a:extLst>
                </a:gridCol>
                <a:gridCol w="4477563">
                  <a:extLst>
                    <a:ext uri="{9D8B030D-6E8A-4147-A177-3AD203B41FA5}">
                      <a16:colId xmlns:a16="http://schemas.microsoft.com/office/drawing/2014/main" val="1670948876"/>
                    </a:ext>
                  </a:extLst>
                </a:gridCol>
              </a:tblGrid>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Processor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200" b="1" dirty="0">
                          <a:solidFill>
                            <a:schemeClr val="tx2">
                              <a:lumMod val="75000"/>
                            </a:schemeClr>
                          </a:solidFill>
                          <a:latin typeface="Imprint MT Shadow" panose="04020605060303030202" pitchFamily="82" charset="0"/>
                          <a:cs typeface="Times New Roman" panose="02020603050405020304" pitchFamily="18" charset="0"/>
                        </a:rPr>
                        <a:t>12th Gen Intel Core i5</a:t>
                      </a:r>
                      <a:endParaRPr lang="en-IN" sz="3200" b="1" dirty="0">
                        <a:solidFill>
                          <a:schemeClr val="tx2">
                            <a:lumMod val="75000"/>
                          </a:schemeClr>
                        </a:solidFill>
                        <a:latin typeface="Imprint MT Shadow" panose="04020605060303030202" pitchFamily="82" charset="0"/>
                        <a:cs typeface="Times New Roman" panose="02020603050405020304" pitchFamily="18" charset="0"/>
                      </a:endParaRPr>
                    </a:p>
                  </a:txBody>
                  <a:tcPr/>
                </a:tc>
                <a:extLst>
                  <a:ext uri="{0D108BD9-81ED-4DB2-BD59-A6C34878D82A}">
                    <a16:rowId xmlns:a16="http://schemas.microsoft.com/office/drawing/2014/main" val="4063232456"/>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Memory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200" b="1" dirty="0">
                          <a:solidFill>
                            <a:schemeClr val="tx2">
                              <a:lumMod val="75000"/>
                            </a:schemeClr>
                          </a:solidFill>
                          <a:latin typeface="Imprint MT Shadow" panose="04020605060303030202" pitchFamily="82" charset="0"/>
                          <a:cs typeface="Times New Roman" panose="02020603050405020304" pitchFamily="18" charset="0"/>
                        </a:rPr>
                        <a:t>Minimum 8GB RAM</a:t>
                      </a:r>
                    </a:p>
                  </a:txBody>
                  <a:tcPr/>
                </a:tc>
                <a:extLst>
                  <a:ext uri="{0D108BD9-81ED-4DB2-BD59-A6C34878D82A}">
                    <a16:rowId xmlns:a16="http://schemas.microsoft.com/office/drawing/2014/main" val="704503420"/>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GPU</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200" b="1" dirty="0">
                          <a:solidFill>
                            <a:schemeClr val="tx2">
                              <a:lumMod val="75000"/>
                            </a:schemeClr>
                          </a:solidFill>
                          <a:latin typeface="Imprint MT Shadow" panose="04020605060303030202" pitchFamily="82" charset="0"/>
                          <a:cs typeface="Times New Roman" panose="02020603050405020304" pitchFamily="18" charset="0"/>
                        </a:rPr>
                        <a:t>Minimum NVIDIA GTX 1050</a:t>
                      </a:r>
                    </a:p>
                  </a:txBody>
                  <a:tcPr/>
                </a:tc>
                <a:extLst>
                  <a:ext uri="{0D108BD9-81ED-4DB2-BD59-A6C34878D82A}">
                    <a16:rowId xmlns:a16="http://schemas.microsoft.com/office/drawing/2014/main" val="3880600684"/>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Storage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200" b="1" dirty="0">
                          <a:solidFill>
                            <a:schemeClr val="tx2">
                              <a:lumMod val="75000"/>
                            </a:schemeClr>
                          </a:solidFill>
                          <a:latin typeface="Imprint MT Shadow" panose="04020605060303030202" pitchFamily="82" charset="0"/>
                          <a:cs typeface="Times New Roman" panose="02020603050405020304" pitchFamily="18" charset="0"/>
                        </a:rPr>
                        <a:t>Minimum 512GB SSD</a:t>
                      </a:r>
                    </a:p>
                  </a:txBody>
                  <a:tcPr/>
                </a:tc>
                <a:extLst>
                  <a:ext uri="{0D108BD9-81ED-4DB2-BD59-A6C34878D82A}">
                    <a16:rowId xmlns:a16="http://schemas.microsoft.com/office/drawing/2014/main" val="3942422284"/>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Controller</a:t>
                      </a:r>
                    </a:p>
                  </a:txBody>
                  <a:tcPr/>
                </a:tc>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Raspberry Pi</a:t>
                      </a:r>
                    </a:p>
                  </a:txBody>
                  <a:tcPr/>
                </a:tc>
                <a:extLst>
                  <a:ext uri="{0D108BD9-81ED-4DB2-BD59-A6C34878D82A}">
                    <a16:rowId xmlns:a16="http://schemas.microsoft.com/office/drawing/2014/main" val="1492347325"/>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Camera</a:t>
                      </a:r>
                    </a:p>
                  </a:txBody>
                  <a:tcPr/>
                </a:tc>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Pi Camera Module</a:t>
                      </a:r>
                    </a:p>
                  </a:txBody>
                  <a:tcPr/>
                </a:tc>
                <a:extLst>
                  <a:ext uri="{0D108BD9-81ED-4DB2-BD59-A6C34878D82A}">
                    <a16:rowId xmlns:a16="http://schemas.microsoft.com/office/drawing/2014/main" val="1179043866"/>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Alert Device</a:t>
                      </a:r>
                    </a:p>
                  </a:txBody>
                  <a:tcPr/>
                </a:tc>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Buzzer / LED</a:t>
                      </a:r>
                    </a:p>
                  </a:txBody>
                  <a:tcPr/>
                </a:tc>
                <a:extLst>
                  <a:ext uri="{0D108BD9-81ED-4DB2-BD59-A6C34878D82A}">
                    <a16:rowId xmlns:a16="http://schemas.microsoft.com/office/drawing/2014/main" val="90951702"/>
                  </a:ext>
                </a:extLst>
              </a:tr>
            </a:tbl>
          </a:graphicData>
        </a:graphic>
      </p:graphicFrame>
      <p:sp>
        <p:nvSpPr>
          <p:cNvPr id="10" name="TextBox 9">
            <a:extLst>
              <a:ext uri="{FF2B5EF4-FFF2-40B4-BE49-F238E27FC236}">
                <a16:creationId xmlns:a16="http://schemas.microsoft.com/office/drawing/2014/main" id="{652B06A5-7CD6-1397-E770-E090B8B9CAE3}"/>
              </a:ext>
            </a:extLst>
          </p:cNvPr>
          <p:cNvSpPr txBox="1"/>
          <p:nvPr/>
        </p:nvSpPr>
        <p:spPr>
          <a:xfrm>
            <a:off x="11042652" y="1866308"/>
            <a:ext cx="5410200" cy="646331"/>
          </a:xfrm>
          <a:prstGeom prst="rect">
            <a:avLst/>
          </a:prstGeom>
          <a:noFill/>
        </p:spPr>
        <p:txBody>
          <a:bodyPr wrap="square">
            <a:spAutoFit/>
          </a:bodyPr>
          <a:lstStyle/>
          <a:p>
            <a:r>
              <a:rPr lang="en-IN" sz="3600" b="1" dirty="0">
                <a:solidFill>
                  <a:srgbClr val="1317C7"/>
                </a:solidFill>
                <a:latin typeface="Imprint MT Shadow" panose="04020605060303030202" pitchFamily="82" charset="0"/>
                <a:cs typeface="Times New Roman" panose="02020603050405020304" pitchFamily="18" charset="0"/>
              </a:rPr>
              <a:t>Software Requirements</a:t>
            </a:r>
          </a:p>
        </p:txBody>
      </p:sp>
      <p:graphicFrame>
        <p:nvGraphicFramePr>
          <p:cNvPr id="11" name="Table 10">
            <a:extLst>
              <a:ext uri="{FF2B5EF4-FFF2-40B4-BE49-F238E27FC236}">
                <a16:creationId xmlns:a16="http://schemas.microsoft.com/office/drawing/2014/main" id="{95464A9A-B7C7-115E-5FBB-DF325E56CC4E}"/>
              </a:ext>
            </a:extLst>
          </p:cNvPr>
          <p:cNvGraphicFramePr>
            <a:graphicFrameLocks noGrp="1"/>
          </p:cNvGraphicFramePr>
          <p:nvPr>
            <p:extLst>
              <p:ext uri="{D42A27DB-BD31-4B8C-83A1-F6EECF244321}">
                <p14:modId xmlns:p14="http://schemas.microsoft.com/office/powerpoint/2010/main" val="448784654"/>
              </p:ext>
            </p:extLst>
          </p:nvPr>
        </p:nvGraphicFramePr>
        <p:xfrm>
          <a:off x="11051540" y="2738018"/>
          <a:ext cx="7411605" cy="5895360"/>
        </p:xfrm>
        <a:graphic>
          <a:graphicData uri="http://schemas.openxmlformats.org/drawingml/2006/table">
            <a:tbl>
              <a:tblPr firstRow="1" bandRow="1">
                <a:tableStyleId>{5C22544A-7EE6-4342-B048-85BDC9FD1C3A}</a:tableStyleId>
              </a:tblPr>
              <a:tblGrid>
                <a:gridCol w="3449205">
                  <a:extLst>
                    <a:ext uri="{9D8B030D-6E8A-4147-A177-3AD203B41FA5}">
                      <a16:colId xmlns:a16="http://schemas.microsoft.com/office/drawing/2014/main" val="1269587508"/>
                    </a:ext>
                  </a:extLst>
                </a:gridCol>
                <a:gridCol w="3962400">
                  <a:extLst>
                    <a:ext uri="{9D8B030D-6E8A-4147-A177-3AD203B41FA5}">
                      <a16:colId xmlns:a16="http://schemas.microsoft.com/office/drawing/2014/main" val="1670948876"/>
                    </a:ext>
                  </a:extLst>
                </a:gridCol>
              </a:tblGrid>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Operating System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3200" dirty="0">
                          <a:solidFill>
                            <a:schemeClr val="tx2">
                              <a:lumMod val="75000"/>
                            </a:schemeClr>
                          </a:solidFill>
                          <a:latin typeface="Imprint MT Shadow" panose="04020605060303030202" pitchFamily="82" charset="0"/>
                        </a:rPr>
                        <a:t>Windows 11 / Ubuntu (64-bit)</a:t>
                      </a:r>
                    </a:p>
                  </a:txBody>
                  <a:tcPr/>
                </a:tc>
                <a:extLst>
                  <a:ext uri="{0D108BD9-81ED-4DB2-BD59-A6C34878D82A}">
                    <a16:rowId xmlns:a16="http://schemas.microsoft.com/office/drawing/2014/main" val="4063232456"/>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Programming Language</a:t>
                      </a:r>
                    </a:p>
                  </a:txBody>
                  <a:tcPr/>
                </a:tc>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Python</a:t>
                      </a:r>
                    </a:p>
                  </a:txBody>
                  <a:tcPr/>
                </a:tc>
                <a:extLst>
                  <a:ext uri="{0D108BD9-81ED-4DB2-BD59-A6C34878D82A}">
                    <a16:rowId xmlns:a16="http://schemas.microsoft.com/office/drawing/2014/main" val="1492347325"/>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Deep Learning</a:t>
                      </a:r>
                    </a:p>
                  </a:txBody>
                  <a:tcPr/>
                </a:tc>
                <a:tc>
                  <a:txBody>
                    <a:bodyPr/>
                    <a:lstStyle/>
                    <a:p>
                      <a:pPr marL="0" indent="0">
                        <a:buFont typeface="Arial" panose="020B0604020202020204" pitchFamily="34" charset="0"/>
                        <a:buNone/>
                      </a:pPr>
                      <a:r>
                        <a:rPr lang="en-IN" sz="2800" b="1" dirty="0">
                          <a:solidFill>
                            <a:schemeClr val="tx2">
                              <a:lumMod val="75000"/>
                            </a:schemeClr>
                          </a:solidFill>
                          <a:latin typeface="Imprint MT Shadow" panose="04020605060303030202" pitchFamily="82" charset="0"/>
                          <a:cs typeface="Times New Roman" panose="02020603050405020304" pitchFamily="18" charset="0"/>
                        </a:rPr>
                        <a:t>YOLOv8</a:t>
                      </a:r>
                    </a:p>
                  </a:txBody>
                  <a:tcPr/>
                </a:tc>
                <a:extLst>
                  <a:ext uri="{0D108BD9-81ED-4DB2-BD59-A6C34878D82A}">
                    <a16:rowId xmlns:a16="http://schemas.microsoft.com/office/drawing/2014/main" val="565303574"/>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Computer Vision</a:t>
                      </a:r>
                    </a:p>
                  </a:txBody>
                  <a:tcPr/>
                </a:tc>
                <a:tc>
                  <a:txBody>
                    <a:bodyPr/>
                    <a:lstStyle/>
                    <a:p>
                      <a:pPr marL="0" indent="0">
                        <a:buFont typeface="Arial" panose="020B0604020202020204" pitchFamily="34" charset="0"/>
                        <a:buNone/>
                      </a:pPr>
                      <a:r>
                        <a:rPr lang="en-IN" sz="2800" b="1" dirty="0">
                          <a:solidFill>
                            <a:schemeClr val="tx2">
                              <a:lumMod val="75000"/>
                            </a:schemeClr>
                          </a:solidFill>
                          <a:latin typeface="Imprint MT Shadow" panose="04020605060303030202" pitchFamily="82" charset="0"/>
                          <a:cs typeface="Times New Roman" panose="02020603050405020304" pitchFamily="18" charset="0"/>
                        </a:rPr>
                        <a:t>OpenCV</a:t>
                      </a:r>
                    </a:p>
                  </a:txBody>
                  <a:tcPr/>
                </a:tc>
                <a:extLst>
                  <a:ext uri="{0D108BD9-81ED-4DB2-BD59-A6C34878D82A}">
                    <a16:rowId xmlns:a16="http://schemas.microsoft.com/office/drawing/2014/main" val="2556343177"/>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Tools</a:t>
                      </a:r>
                    </a:p>
                  </a:txBody>
                  <a:tcPr/>
                </a:tc>
                <a:tc>
                  <a:txBody>
                    <a:bodyPr/>
                    <a:lstStyle/>
                    <a:p>
                      <a:pPr marL="0" indent="0">
                        <a:buFont typeface="Arial" panose="020B0604020202020204" pitchFamily="34" charset="0"/>
                        <a:buNone/>
                      </a:pPr>
                      <a:r>
                        <a:rPr lang="en-IN" sz="2800" b="1" dirty="0" err="1">
                          <a:solidFill>
                            <a:schemeClr val="tx2">
                              <a:lumMod val="75000"/>
                            </a:schemeClr>
                          </a:solidFill>
                          <a:latin typeface="Imprint MT Shadow" panose="04020605060303030202" pitchFamily="82" charset="0"/>
                          <a:cs typeface="Times New Roman" panose="02020603050405020304" pitchFamily="18" charset="0"/>
                        </a:rPr>
                        <a:t>PyTorch</a:t>
                      </a:r>
                      <a:r>
                        <a:rPr lang="en-IN" sz="2800" b="1" dirty="0">
                          <a:solidFill>
                            <a:schemeClr val="tx2">
                              <a:lumMod val="75000"/>
                            </a:schemeClr>
                          </a:solidFill>
                          <a:latin typeface="Imprint MT Shadow" panose="04020605060303030202" pitchFamily="82" charset="0"/>
                          <a:cs typeface="Times New Roman" panose="02020603050405020304" pitchFamily="18" charset="0"/>
                        </a:rPr>
                        <a:t>, </a:t>
                      </a:r>
                      <a:r>
                        <a:rPr lang="en-IN" sz="2800" b="1" dirty="0" err="1">
                          <a:solidFill>
                            <a:schemeClr val="tx2">
                              <a:lumMod val="75000"/>
                            </a:schemeClr>
                          </a:solidFill>
                          <a:latin typeface="Imprint MT Shadow" panose="04020605060303030202" pitchFamily="82" charset="0"/>
                          <a:cs typeface="Times New Roman" panose="02020603050405020304" pitchFamily="18" charset="0"/>
                        </a:rPr>
                        <a:t>Jupyter</a:t>
                      </a:r>
                      <a:r>
                        <a:rPr lang="en-IN" sz="2800" b="1" dirty="0">
                          <a:solidFill>
                            <a:schemeClr val="tx2">
                              <a:lumMod val="75000"/>
                            </a:schemeClr>
                          </a:solidFill>
                          <a:latin typeface="Imprint MT Shadow" panose="04020605060303030202" pitchFamily="82" charset="0"/>
                          <a:cs typeface="Times New Roman" panose="02020603050405020304" pitchFamily="18" charset="0"/>
                        </a:rPr>
                        <a:t> Notebook</a:t>
                      </a:r>
                    </a:p>
                  </a:txBody>
                  <a:tcPr/>
                </a:tc>
                <a:extLst>
                  <a:ext uri="{0D108BD9-81ED-4DB2-BD59-A6C34878D82A}">
                    <a16:rowId xmlns:a16="http://schemas.microsoft.com/office/drawing/2014/main" val="907060246"/>
                  </a:ext>
                </a:extLst>
              </a:tr>
              <a:tr h="936000">
                <a:tc>
                  <a:txBody>
                    <a:bodyPr/>
                    <a:lstStyle/>
                    <a:p>
                      <a:r>
                        <a:rPr lang="en-IN" sz="3200" b="1" dirty="0">
                          <a:solidFill>
                            <a:schemeClr val="tx2">
                              <a:lumMod val="75000"/>
                            </a:schemeClr>
                          </a:solidFill>
                          <a:latin typeface="Imprint MT Shadow" panose="04020605060303030202" pitchFamily="82" charset="0"/>
                          <a:cs typeface="Times New Roman" panose="02020603050405020304" pitchFamily="18" charset="0"/>
                        </a:rPr>
                        <a:t>Dashboard</a:t>
                      </a:r>
                    </a:p>
                  </a:txBody>
                  <a:tcPr/>
                </a:tc>
                <a:tc>
                  <a:txBody>
                    <a:bodyPr/>
                    <a:lstStyle/>
                    <a:p>
                      <a:pPr marL="0" indent="0">
                        <a:buFont typeface="Arial" panose="020B0604020202020204" pitchFamily="34" charset="0"/>
                        <a:buNone/>
                      </a:pPr>
                      <a:r>
                        <a:rPr lang="en-IN" sz="2800" b="1" dirty="0">
                          <a:solidFill>
                            <a:schemeClr val="tx2">
                              <a:lumMod val="75000"/>
                            </a:schemeClr>
                          </a:solidFill>
                          <a:latin typeface="Imprint MT Shadow" panose="04020605060303030202" pitchFamily="82" charset="0"/>
                          <a:cs typeface="Times New Roman" panose="02020603050405020304" pitchFamily="18" charset="0"/>
                        </a:rPr>
                        <a:t>Python-based monitoring system</a:t>
                      </a:r>
                    </a:p>
                  </a:txBody>
                  <a:tcPr/>
                </a:tc>
                <a:extLst>
                  <a:ext uri="{0D108BD9-81ED-4DB2-BD59-A6C34878D82A}">
                    <a16:rowId xmlns:a16="http://schemas.microsoft.com/office/drawing/2014/main" val="170941500"/>
                  </a:ext>
                </a:extLst>
              </a:tr>
            </a:tbl>
          </a:graphicData>
        </a:graphic>
      </p:graphicFrame>
    </p:spTree>
    <p:extLst>
      <p:ext uri="{BB962C8B-B14F-4D97-AF65-F5344CB8AC3E}">
        <p14:creationId xmlns:p14="http://schemas.microsoft.com/office/powerpoint/2010/main" val="11991499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198A1B7-64DE-4AC4-BB29-87579B320ED2}"/>
              </a:ext>
            </a:extLst>
          </p:cNvPr>
          <p:cNvSpPr/>
          <p:nvPr/>
        </p:nvSpPr>
        <p:spPr>
          <a:xfrm>
            <a:off x="2351104" y="1222068"/>
            <a:ext cx="4628131" cy="14030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968" dirty="0"/>
              <a:t>Real-Time Road Video Stream</a:t>
            </a:r>
            <a:br>
              <a:rPr lang="en-US" sz="2968" dirty="0"/>
            </a:br>
            <a:r>
              <a:rPr lang="en-US" sz="2968" dirty="0"/>
              <a:t>(Camera Module)</a:t>
            </a:r>
            <a:endParaRPr lang="en-IN" sz="2968" dirty="0"/>
          </a:p>
        </p:txBody>
      </p:sp>
      <p:sp>
        <p:nvSpPr>
          <p:cNvPr id="5" name="Rectangle 4">
            <a:extLst>
              <a:ext uri="{FF2B5EF4-FFF2-40B4-BE49-F238E27FC236}">
                <a16:creationId xmlns:a16="http://schemas.microsoft.com/office/drawing/2014/main" id="{0ED054A2-E6A3-4746-9996-E336F8B274C6}"/>
              </a:ext>
            </a:extLst>
          </p:cNvPr>
          <p:cNvSpPr/>
          <p:nvPr/>
        </p:nvSpPr>
        <p:spPr>
          <a:xfrm>
            <a:off x="2351103" y="3138020"/>
            <a:ext cx="4628131" cy="140309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968" b="1" dirty="0"/>
              <a:t>Image Preprocessing</a:t>
            </a:r>
            <a:br>
              <a:rPr lang="en-US" sz="2968" dirty="0"/>
            </a:br>
            <a:r>
              <a:rPr lang="en-US" sz="2968" dirty="0"/>
              <a:t>(Noise removal, resizing, frame extraction)</a:t>
            </a:r>
          </a:p>
        </p:txBody>
      </p:sp>
      <p:sp>
        <p:nvSpPr>
          <p:cNvPr id="7" name="Rectangle 6">
            <a:extLst>
              <a:ext uri="{FF2B5EF4-FFF2-40B4-BE49-F238E27FC236}">
                <a16:creationId xmlns:a16="http://schemas.microsoft.com/office/drawing/2014/main" id="{7428632C-6418-4F23-BDC1-F8AB01030573}"/>
              </a:ext>
            </a:extLst>
          </p:cNvPr>
          <p:cNvSpPr/>
          <p:nvPr/>
        </p:nvSpPr>
        <p:spPr>
          <a:xfrm>
            <a:off x="2351102" y="4871301"/>
            <a:ext cx="4628131" cy="318167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2800" b="1" dirty="0"/>
          </a:p>
          <a:p>
            <a:pPr algn="ctr"/>
            <a:r>
              <a:rPr lang="en-US" sz="2800" b="1" dirty="0"/>
              <a:t>Multi-Hazard Detection (YOLOv8)</a:t>
            </a:r>
            <a:br>
              <a:rPr lang="en-US" sz="2800" dirty="0"/>
            </a:br>
            <a:r>
              <a:rPr lang="en-US" sz="2800" dirty="0"/>
              <a:t>• Pothole</a:t>
            </a:r>
            <a:br>
              <a:rPr lang="en-US" sz="2800" dirty="0"/>
            </a:br>
            <a:r>
              <a:rPr lang="en-US" sz="2800" dirty="0"/>
              <a:t>• Speed Breaker</a:t>
            </a:r>
            <a:br>
              <a:rPr lang="en-US" sz="2800" dirty="0"/>
            </a:br>
            <a:r>
              <a:rPr lang="en-US" sz="2800" dirty="0"/>
              <a:t>• Animal intrusion</a:t>
            </a:r>
          </a:p>
          <a:p>
            <a:pPr algn="ctr"/>
            <a:r>
              <a:rPr lang="en-US" sz="2800" dirty="0"/>
              <a:t>• Edge detection</a:t>
            </a:r>
          </a:p>
          <a:p>
            <a:pPr algn="ctr"/>
            <a:r>
              <a:rPr lang="en-US" sz="2800" dirty="0"/>
              <a:t>• pedestrian detection</a:t>
            </a:r>
          </a:p>
          <a:p>
            <a:pPr algn="ctr"/>
            <a:endParaRPr lang="en-IN" sz="2968" dirty="0"/>
          </a:p>
        </p:txBody>
      </p:sp>
      <p:sp>
        <p:nvSpPr>
          <p:cNvPr id="9" name="Rectangle 8">
            <a:extLst>
              <a:ext uri="{FF2B5EF4-FFF2-40B4-BE49-F238E27FC236}">
                <a16:creationId xmlns:a16="http://schemas.microsoft.com/office/drawing/2014/main" id="{B8AFC27D-B396-4C24-9DD4-09EFB6703E78}"/>
              </a:ext>
            </a:extLst>
          </p:cNvPr>
          <p:cNvSpPr/>
          <p:nvPr/>
        </p:nvSpPr>
        <p:spPr>
          <a:xfrm>
            <a:off x="2366419" y="8419455"/>
            <a:ext cx="4628131" cy="98426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968" dirty="0"/>
              <a:t>Distance Estimation</a:t>
            </a:r>
          </a:p>
        </p:txBody>
      </p:sp>
      <p:sp>
        <p:nvSpPr>
          <p:cNvPr id="10" name="Rectangle 9">
            <a:extLst>
              <a:ext uri="{FF2B5EF4-FFF2-40B4-BE49-F238E27FC236}">
                <a16:creationId xmlns:a16="http://schemas.microsoft.com/office/drawing/2014/main" id="{97D30FD1-EAB9-4C63-AB00-BDBABF029C1C}"/>
              </a:ext>
            </a:extLst>
          </p:cNvPr>
          <p:cNvSpPr/>
          <p:nvPr/>
        </p:nvSpPr>
        <p:spPr>
          <a:xfrm>
            <a:off x="2366420" y="9693275"/>
            <a:ext cx="4628131" cy="14659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968" b="1" dirty="0"/>
              <a:t>Collision Risk Prediction</a:t>
            </a:r>
            <a:br>
              <a:rPr lang="en-US" sz="2968" dirty="0"/>
            </a:br>
            <a:r>
              <a:rPr lang="en-US" sz="2968" dirty="0"/>
              <a:t>(Safe / Warning / Critical)</a:t>
            </a:r>
            <a:endParaRPr lang="en-IN" sz="2968" dirty="0"/>
          </a:p>
        </p:txBody>
      </p:sp>
      <p:sp>
        <p:nvSpPr>
          <p:cNvPr id="11" name="Rectangle 10">
            <a:extLst>
              <a:ext uri="{FF2B5EF4-FFF2-40B4-BE49-F238E27FC236}">
                <a16:creationId xmlns:a16="http://schemas.microsoft.com/office/drawing/2014/main" id="{94F51F2C-5DB6-44A7-BDB8-A1D32B788F94}"/>
              </a:ext>
            </a:extLst>
          </p:cNvPr>
          <p:cNvSpPr/>
          <p:nvPr/>
        </p:nvSpPr>
        <p:spPr>
          <a:xfrm>
            <a:off x="8790124" y="6813136"/>
            <a:ext cx="4628131" cy="124992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968" b="1" dirty="0"/>
              <a:t>Driver Alert System</a:t>
            </a:r>
            <a:br>
              <a:rPr lang="en-IN" sz="2968" dirty="0"/>
            </a:br>
            <a:r>
              <a:rPr lang="en-IN" sz="2968" dirty="0"/>
              <a:t>(Buzzer / Display)</a:t>
            </a:r>
          </a:p>
        </p:txBody>
      </p:sp>
      <p:sp>
        <p:nvSpPr>
          <p:cNvPr id="13" name="Rectangle 12">
            <a:extLst>
              <a:ext uri="{FF2B5EF4-FFF2-40B4-BE49-F238E27FC236}">
                <a16:creationId xmlns:a16="http://schemas.microsoft.com/office/drawing/2014/main" id="{7607A6D9-48BD-4135-BF83-0C9DA383E7A1}"/>
              </a:ext>
            </a:extLst>
          </p:cNvPr>
          <p:cNvSpPr/>
          <p:nvPr/>
        </p:nvSpPr>
        <p:spPr>
          <a:xfrm>
            <a:off x="8772745" y="4649944"/>
            <a:ext cx="4628131" cy="14659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968" b="1" dirty="0"/>
              <a:t>IoT Module</a:t>
            </a:r>
            <a:br>
              <a:rPr lang="en-US" sz="2968" dirty="0"/>
            </a:br>
            <a:r>
              <a:rPr lang="en-US" sz="2968" dirty="0"/>
              <a:t>(ESP32 / Raspberry Pi)</a:t>
            </a:r>
            <a:endParaRPr lang="en-IN" sz="2968" dirty="0"/>
          </a:p>
        </p:txBody>
      </p:sp>
      <p:sp>
        <p:nvSpPr>
          <p:cNvPr id="14" name="Rectangle 13">
            <a:extLst>
              <a:ext uri="{FF2B5EF4-FFF2-40B4-BE49-F238E27FC236}">
                <a16:creationId xmlns:a16="http://schemas.microsoft.com/office/drawing/2014/main" id="{BEF75109-3652-49F5-AF99-2C0907A035E9}"/>
              </a:ext>
            </a:extLst>
          </p:cNvPr>
          <p:cNvSpPr/>
          <p:nvPr/>
        </p:nvSpPr>
        <p:spPr>
          <a:xfrm>
            <a:off x="8772746" y="2353054"/>
            <a:ext cx="4628131" cy="14659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2968" b="1" dirty="0"/>
              <a:t>Auto Brake System</a:t>
            </a:r>
            <a:br>
              <a:rPr lang="en-IN" sz="2968" dirty="0"/>
            </a:br>
            <a:r>
              <a:rPr lang="en-IN" sz="2968" dirty="0"/>
              <a:t>(Motor Control / Brake Trigger)</a:t>
            </a:r>
          </a:p>
        </p:txBody>
      </p:sp>
      <p:sp>
        <p:nvSpPr>
          <p:cNvPr id="16" name="Rectangle 15">
            <a:extLst>
              <a:ext uri="{FF2B5EF4-FFF2-40B4-BE49-F238E27FC236}">
                <a16:creationId xmlns:a16="http://schemas.microsoft.com/office/drawing/2014/main" id="{9BF46D32-5F09-4BC9-9AD4-C4A340395CEC}"/>
              </a:ext>
            </a:extLst>
          </p:cNvPr>
          <p:cNvSpPr/>
          <p:nvPr/>
        </p:nvSpPr>
        <p:spPr>
          <a:xfrm>
            <a:off x="15077413" y="2901111"/>
            <a:ext cx="4628131" cy="146592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968" b="1" dirty="0"/>
              <a:t>Output</a:t>
            </a:r>
            <a:br>
              <a:rPr lang="en-US" sz="2968" dirty="0"/>
            </a:br>
            <a:r>
              <a:rPr lang="en-US" sz="2968" dirty="0"/>
              <a:t>Display Hazard, Distance &amp; Alert Status</a:t>
            </a:r>
            <a:endParaRPr lang="en-IN" sz="2968" dirty="0"/>
          </a:p>
        </p:txBody>
      </p:sp>
      <p:cxnSp>
        <p:nvCxnSpPr>
          <p:cNvPr id="18" name="Straight Arrow Connector 17">
            <a:extLst>
              <a:ext uri="{FF2B5EF4-FFF2-40B4-BE49-F238E27FC236}">
                <a16:creationId xmlns:a16="http://schemas.microsoft.com/office/drawing/2014/main" id="{8BB672B3-E169-4AED-B43F-AC1195BA1885}"/>
              </a:ext>
            </a:extLst>
          </p:cNvPr>
          <p:cNvCxnSpPr>
            <a:cxnSpLocks/>
          </p:cNvCxnSpPr>
          <p:nvPr/>
        </p:nvCxnSpPr>
        <p:spPr>
          <a:xfrm>
            <a:off x="4680484" y="2675647"/>
            <a:ext cx="0" cy="47119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63EA40A2-1BFD-4C64-9686-19F65487FA1A}"/>
              </a:ext>
            </a:extLst>
          </p:cNvPr>
          <p:cNvCxnSpPr>
            <a:cxnSpLocks/>
            <a:stCxn id="5" idx="2"/>
            <a:endCxn id="7" idx="0"/>
          </p:cNvCxnSpPr>
          <p:nvPr/>
        </p:nvCxnSpPr>
        <p:spPr>
          <a:xfrm flipH="1">
            <a:off x="4665168" y="4541119"/>
            <a:ext cx="1" cy="33018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0EBA1FB9-C2E6-4E7C-919F-0EC49ADA762B}"/>
              </a:ext>
            </a:extLst>
          </p:cNvPr>
          <p:cNvCxnSpPr>
            <a:cxnSpLocks/>
            <a:stCxn id="7" idx="2"/>
            <a:endCxn id="9" idx="0"/>
          </p:cNvCxnSpPr>
          <p:nvPr/>
        </p:nvCxnSpPr>
        <p:spPr>
          <a:xfrm>
            <a:off x="4665168" y="8052974"/>
            <a:ext cx="15317" cy="36648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AD4E9A84-B90C-4569-A484-CA87A0F36280}"/>
              </a:ext>
            </a:extLst>
          </p:cNvPr>
          <p:cNvCxnSpPr>
            <a:stCxn id="9" idx="2"/>
            <a:endCxn id="10" idx="0"/>
          </p:cNvCxnSpPr>
          <p:nvPr/>
        </p:nvCxnSpPr>
        <p:spPr>
          <a:xfrm>
            <a:off x="4680485" y="9403718"/>
            <a:ext cx="1" cy="2895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4E9E65F4-8D98-4674-8326-5735319D5E49}"/>
              </a:ext>
            </a:extLst>
          </p:cNvPr>
          <p:cNvCxnSpPr>
            <a:stCxn id="10" idx="3"/>
          </p:cNvCxnSpPr>
          <p:nvPr/>
        </p:nvCxnSpPr>
        <p:spPr>
          <a:xfrm>
            <a:off x="6994551" y="10426237"/>
            <a:ext cx="828000" cy="0"/>
          </a:xfrm>
          <a:prstGeom prst="line">
            <a:avLst/>
          </a:prstGeom>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6504F39C-9386-4200-94DD-0AF921E095A5}"/>
              </a:ext>
            </a:extLst>
          </p:cNvPr>
          <p:cNvCxnSpPr/>
          <p:nvPr/>
        </p:nvCxnSpPr>
        <p:spPr>
          <a:xfrm flipV="1">
            <a:off x="7805235" y="2911242"/>
            <a:ext cx="0" cy="7560000"/>
          </a:xfrm>
          <a:prstGeom prst="line">
            <a:avLst/>
          </a:prstGeom>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0B6CCC47-F332-42A9-ACB9-A521FA69109A}"/>
              </a:ext>
            </a:extLst>
          </p:cNvPr>
          <p:cNvCxnSpPr>
            <a:cxnSpLocks/>
          </p:cNvCxnSpPr>
          <p:nvPr/>
        </p:nvCxnSpPr>
        <p:spPr>
          <a:xfrm>
            <a:off x="7805235" y="2901111"/>
            <a:ext cx="96751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221BEDD7-D6C5-431F-949A-1A3F518A848A}"/>
              </a:ext>
            </a:extLst>
          </p:cNvPr>
          <p:cNvCxnSpPr>
            <a:cxnSpLocks/>
          </p:cNvCxnSpPr>
          <p:nvPr/>
        </p:nvCxnSpPr>
        <p:spPr>
          <a:xfrm>
            <a:off x="11104189" y="6139429"/>
            <a:ext cx="1" cy="7006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Straight Connector 48">
            <a:extLst>
              <a:ext uri="{FF2B5EF4-FFF2-40B4-BE49-F238E27FC236}">
                <a16:creationId xmlns:a16="http://schemas.microsoft.com/office/drawing/2014/main" id="{C0082331-EA72-4AB7-8E9C-7FC09FEC4E33}"/>
              </a:ext>
            </a:extLst>
          </p:cNvPr>
          <p:cNvCxnSpPr>
            <a:cxnSpLocks/>
          </p:cNvCxnSpPr>
          <p:nvPr/>
        </p:nvCxnSpPr>
        <p:spPr>
          <a:xfrm>
            <a:off x="13382661" y="7414073"/>
            <a:ext cx="790938" cy="0"/>
          </a:xfrm>
          <a:prstGeom prst="line">
            <a:avLst/>
          </a:prstGeom>
        </p:spPr>
        <p:style>
          <a:lnRef idx="1">
            <a:schemeClr val="dk1"/>
          </a:lnRef>
          <a:fillRef idx="0">
            <a:schemeClr val="dk1"/>
          </a:fillRef>
          <a:effectRef idx="0">
            <a:schemeClr val="dk1"/>
          </a:effectRef>
          <a:fontRef idx="minor">
            <a:schemeClr val="tx1"/>
          </a:fontRef>
        </p:style>
      </p:cxnSp>
      <p:cxnSp>
        <p:nvCxnSpPr>
          <p:cNvPr id="51" name="Straight Connector 50">
            <a:extLst>
              <a:ext uri="{FF2B5EF4-FFF2-40B4-BE49-F238E27FC236}">
                <a16:creationId xmlns:a16="http://schemas.microsoft.com/office/drawing/2014/main" id="{26F039B8-2CA4-42CD-B4F1-A57F4F89B38D}"/>
              </a:ext>
            </a:extLst>
          </p:cNvPr>
          <p:cNvCxnSpPr/>
          <p:nvPr/>
        </p:nvCxnSpPr>
        <p:spPr>
          <a:xfrm flipV="1">
            <a:off x="14109905" y="3634073"/>
            <a:ext cx="0" cy="3780000"/>
          </a:xfrm>
          <a:prstGeom prst="line">
            <a:avLst/>
          </a:prstGeom>
        </p:spPr>
        <p:style>
          <a:lnRef idx="1">
            <a:schemeClr val="dk1"/>
          </a:lnRef>
          <a:fillRef idx="0">
            <a:schemeClr val="dk1"/>
          </a:fillRef>
          <a:effectRef idx="0">
            <a:schemeClr val="dk1"/>
          </a:effectRef>
          <a:fontRef idx="minor">
            <a:schemeClr val="tx1"/>
          </a:fontRef>
        </p:style>
      </p:cxnSp>
      <p:cxnSp>
        <p:nvCxnSpPr>
          <p:cNvPr id="53" name="Straight Arrow Connector 52">
            <a:extLst>
              <a:ext uri="{FF2B5EF4-FFF2-40B4-BE49-F238E27FC236}">
                <a16:creationId xmlns:a16="http://schemas.microsoft.com/office/drawing/2014/main" id="{9E12840D-4873-4E1C-881E-BF5D44B947AF}"/>
              </a:ext>
            </a:extLst>
          </p:cNvPr>
          <p:cNvCxnSpPr>
            <a:cxnSpLocks/>
          </p:cNvCxnSpPr>
          <p:nvPr/>
        </p:nvCxnSpPr>
        <p:spPr>
          <a:xfrm>
            <a:off x="14109905" y="3634073"/>
            <a:ext cx="97200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TextBox 35">
            <a:extLst>
              <a:ext uri="{FF2B5EF4-FFF2-40B4-BE49-F238E27FC236}">
                <a16:creationId xmlns:a16="http://schemas.microsoft.com/office/drawing/2014/main" id="{9823AB90-2D13-47D6-8A21-57B200D658AE}"/>
              </a:ext>
            </a:extLst>
          </p:cNvPr>
          <p:cNvSpPr txBox="1"/>
          <p:nvPr/>
        </p:nvSpPr>
        <p:spPr>
          <a:xfrm>
            <a:off x="255724" y="-357603"/>
            <a:ext cx="7467600" cy="1364669"/>
          </a:xfrm>
          <a:prstGeom prst="rect">
            <a:avLst/>
          </a:prstGeom>
          <a:noFill/>
        </p:spPr>
        <p:txBody>
          <a:bodyPr wrap="square">
            <a:spAutoFit/>
          </a:bodyPr>
          <a:lstStyle/>
          <a:p>
            <a:pPr algn="l">
              <a:lnSpc>
                <a:spcPts val="11200"/>
              </a:lnSpc>
            </a:pPr>
            <a:r>
              <a:rPr lang="en-US" sz="6000" b="1" dirty="0">
                <a:solidFill>
                  <a:srgbClr val="0070C0"/>
                </a:solidFill>
                <a:effectLst>
                  <a:reflection blurRad="6350" stA="55000" endA="300" endPos="45500" dir="5400000" sy="-100000" algn="bl" rotWithShape="0"/>
                </a:effectLst>
                <a:latin typeface="Imprint MT Shadow" panose="04020605060303030202" pitchFamily="82" charset="0"/>
                <a:ea typeface="Dynamo Medium"/>
                <a:cs typeface="Dynamo Medium"/>
                <a:sym typeface="Dynamo Medium"/>
              </a:rPr>
              <a:t>SYSTEM DESIGN</a:t>
            </a:r>
          </a:p>
        </p:txBody>
      </p:sp>
      <p:sp>
        <p:nvSpPr>
          <p:cNvPr id="3" name="TextBox 2">
            <a:extLst>
              <a:ext uri="{FF2B5EF4-FFF2-40B4-BE49-F238E27FC236}">
                <a16:creationId xmlns:a16="http://schemas.microsoft.com/office/drawing/2014/main" id="{82D85D40-88F3-5D17-D079-6A6AB03A83A9}"/>
              </a:ext>
            </a:extLst>
          </p:cNvPr>
          <p:cNvSpPr txBox="1"/>
          <p:nvPr/>
        </p:nvSpPr>
        <p:spPr>
          <a:xfrm>
            <a:off x="8055412" y="10561760"/>
            <a:ext cx="11445437" cy="584775"/>
          </a:xfrm>
          <a:prstGeom prst="rect">
            <a:avLst/>
          </a:prstGeom>
          <a:noFill/>
        </p:spPr>
        <p:txBody>
          <a:bodyPr wrap="square">
            <a:spAutoFit/>
          </a:bodyPr>
          <a:lstStyle/>
          <a:p>
            <a:r>
              <a:rPr lang="en-US" sz="3200" b="1" dirty="0">
                <a:solidFill>
                  <a:srgbClr val="002060"/>
                </a:solidFill>
                <a:latin typeface="Imprint MT Shadow" panose="04020605060303030202" pitchFamily="82" charset="0"/>
                <a:cs typeface="Times New Roman" panose="02020603050405020304" pitchFamily="18" charset="0"/>
              </a:rPr>
              <a:t>Figure 1: Block Diagram of Multi-Hazard Road Safety System</a:t>
            </a:r>
            <a:endParaRPr lang="en-IN" sz="3200" b="1" dirty="0">
              <a:solidFill>
                <a:srgbClr val="002060"/>
              </a:solidFill>
              <a:latin typeface="Imprint MT Shadow" panose="04020605060303030202" pitchFamily="82" charset="0"/>
              <a:cs typeface="Times New Roman" panose="02020603050405020304" pitchFamily="18" charset="0"/>
            </a:endParaRPr>
          </a:p>
        </p:txBody>
      </p:sp>
      <p:cxnSp>
        <p:nvCxnSpPr>
          <p:cNvPr id="31" name="Straight Arrow Connector 30">
            <a:extLst>
              <a:ext uri="{FF2B5EF4-FFF2-40B4-BE49-F238E27FC236}">
                <a16:creationId xmlns:a16="http://schemas.microsoft.com/office/drawing/2014/main" id="{3022D0FB-7DD7-4E06-9FD2-42102336E106}"/>
              </a:ext>
            </a:extLst>
          </p:cNvPr>
          <p:cNvCxnSpPr>
            <a:cxnSpLocks/>
          </p:cNvCxnSpPr>
          <p:nvPr/>
        </p:nvCxnSpPr>
        <p:spPr>
          <a:xfrm>
            <a:off x="11086810" y="3818978"/>
            <a:ext cx="0" cy="7560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50862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E4FF-99D7-4596-A162-4BE06C1962A5}"/>
              </a:ext>
            </a:extLst>
          </p:cNvPr>
          <p:cNvSpPr>
            <a:spLocks noGrp="1"/>
          </p:cNvSpPr>
          <p:nvPr>
            <p:ph type="title"/>
          </p:nvPr>
        </p:nvSpPr>
        <p:spPr>
          <a:xfrm>
            <a:off x="374650" y="1483438"/>
            <a:ext cx="17339786" cy="815608"/>
          </a:xfrm>
        </p:spPr>
        <p:txBody>
          <a:bodyPr/>
          <a:lstStyle/>
          <a:p>
            <a:r>
              <a:rPr lang="en-IN" sz="5300" dirty="0">
                <a:solidFill>
                  <a:schemeClr val="tx1"/>
                </a:solidFill>
                <a:latin typeface="Imprint MT Shadow" panose="04020605060303030202" pitchFamily="82" charset="0"/>
              </a:rPr>
              <a:t>FLOW DIAGRAM :INPUT STAGE</a:t>
            </a:r>
          </a:p>
        </p:txBody>
      </p:sp>
      <p:sp>
        <p:nvSpPr>
          <p:cNvPr id="22" name="TextBox 21">
            <a:extLst>
              <a:ext uri="{FF2B5EF4-FFF2-40B4-BE49-F238E27FC236}">
                <a16:creationId xmlns:a16="http://schemas.microsoft.com/office/drawing/2014/main" id="{D9787440-716D-4181-99B1-B461CD5AC21E}"/>
              </a:ext>
            </a:extLst>
          </p:cNvPr>
          <p:cNvSpPr txBox="1"/>
          <p:nvPr/>
        </p:nvSpPr>
        <p:spPr>
          <a:xfrm>
            <a:off x="219530" y="331981"/>
            <a:ext cx="19205120" cy="907941"/>
          </a:xfrm>
          <a:prstGeom prst="rect">
            <a:avLst/>
          </a:prstGeom>
          <a:noFill/>
        </p:spPr>
        <p:txBody>
          <a:bodyPr wrap="square">
            <a:spAutoFit/>
          </a:bodyPr>
          <a:lstStyle/>
          <a:p>
            <a:r>
              <a:rPr lang="en-US" sz="5300" b="1" dirty="0">
                <a:solidFill>
                  <a:srgbClr val="0070C0"/>
                </a:solidFill>
                <a:effectLst>
                  <a:reflection blurRad="6350" stA="55000" endA="300" endPos="45500" dir="5400000" sy="-100000" algn="bl" rotWithShape="0"/>
                </a:effectLst>
                <a:latin typeface="Imprint MT Shadow" panose="04020605060303030202" pitchFamily="82" charset="0"/>
                <a:ea typeface="Dynamo Medium"/>
                <a:cs typeface="Dynamo Medium"/>
                <a:sym typeface="Dynamo Medium"/>
              </a:rPr>
              <a:t>DETAILED DESIGN AND ALGORITHM TRACING</a:t>
            </a:r>
            <a:endParaRPr lang="en-IN" sz="5300" dirty="0"/>
          </a:p>
        </p:txBody>
      </p:sp>
      <p:pic>
        <p:nvPicPr>
          <p:cNvPr id="12" name="Picture 11">
            <a:extLst>
              <a:ext uri="{FF2B5EF4-FFF2-40B4-BE49-F238E27FC236}">
                <a16:creationId xmlns:a16="http://schemas.microsoft.com/office/drawing/2014/main" id="{2AEB6C95-683F-4D69-9E50-50A12151B423}"/>
              </a:ext>
            </a:extLst>
          </p:cNvPr>
          <p:cNvPicPr>
            <a:picLocks noChangeAspect="1"/>
          </p:cNvPicPr>
          <p:nvPr/>
        </p:nvPicPr>
        <p:blipFill rotWithShape="1">
          <a:blip r:embed="rId2">
            <a:extLst>
              <a:ext uri="{28A0092B-C50C-407E-A947-70E740481C1C}">
                <a14:useLocalDpi xmlns:a14="http://schemas.microsoft.com/office/drawing/2010/main" val="0"/>
              </a:ext>
            </a:extLst>
          </a:blip>
          <a:srcRect t="13883" b="5707"/>
          <a:stretch/>
        </p:blipFill>
        <p:spPr>
          <a:xfrm>
            <a:off x="3291443" y="2682875"/>
            <a:ext cx="11506200" cy="7543800"/>
          </a:xfrm>
          <a:prstGeom prst="rect">
            <a:avLst/>
          </a:prstGeom>
        </p:spPr>
      </p:pic>
    </p:spTree>
    <p:extLst>
      <p:ext uri="{BB962C8B-B14F-4D97-AF65-F5344CB8AC3E}">
        <p14:creationId xmlns:p14="http://schemas.microsoft.com/office/powerpoint/2010/main" val="22744864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5D665-C1DD-4ECB-A646-0A7AF2B3000C}"/>
              </a:ext>
            </a:extLst>
          </p:cNvPr>
          <p:cNvSpPr>
            <a:spLocks noGrp="1"/>
          </p:cNvSpPr>
          <p:nvPr>
            <p:ph type="title"/>
          </p:nvPr>
        </p:nvSpPr>
        <p:spPr>
          <a:xfrm>
            <a:off x="740677" y="523116"/>
            <a:ext cx="19151802" cy="815608"/>
          </a:xfrm>
        </p:spPr>
        <p:txBody>
          <a:bodyPr/>
          <a:lstStyle/>
          <a:p>
            <a:r>
              <a:rPr lang="en-IN" sz="5300" dirty="0">
                <a:solidFill>
                  <a:schemeClr val="tx1"/>
                </a:solidFill>
                <a:latin typeface="Imprint MT Shadow" panose="04020605060303030202" pitchFamily="82" charset="0"/>
              </a:rPr>
              <a:t>BLOCK DIAGRAM :PROCESSING STAGE</a:t>
            </a:r>
            <a:endParaRPr lang="en-IN" sz="5300" dirty="0">
              <a:solidFill>
                <a:schemeClr val="tx1"/>
              </a:solidFill>
            </a:endParaRPr>
          </a:p>
        </p:txBody>
      </p:sp>
      <p:pic>
        <p:nvPicPr>
          <p:cNvPr id="12" name="Picture 11">
            <a:extLst>
              <a:ext uri="{FF2B5EF4-FFF2-40B4-BE49-F238E27FC236}">
                <a16:creationId xmlns:a16="http://schemas.microsoft.com/office/drawing/2014/main" id="{88EA742E-7977-4B59-B2D7-EDBCE0228C97}"/>
              </a:ext>
            </a:extLst>
          </p:cNvPr>
          <p:cNvPicPr>
            <a:picLocks noChangeAspect="1"/>
          </p:cNvPicPr>
          <p:nvPr/>
        </p:nvPicPr>
        <p:blipFill rotWithShape="1">
          <a:blip r:embed="rId2"/>
          <a:srcRect t="17915" b="10244"/>
          <a:stretch/>
        </p:blipFill>
        <p:spPr>
          <a:xfrm>
            <a:off x="3517900" y="2430012"/>
            <a:ext cx="13068300" cy="7848600"/>
          </a:xfrm>
          <a:prstGeom prst="rect">
            <a:avLst/>
          </a:prstGeom>
        </p:spPr>
      </p:pic>
    </p:spTree>
    <p:extLst>
      <p:ext uri="{BB962C8B-B14F-4D97-AF65-F5344CB8AC3E}">
        <p14:creationId xmlns:p14="http://schemas.microsoft.com/office/powerpoint/2010/main" val="1205175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8435C-400A-46BD-9629-3065B37B20DE}"/>
              </a:ext>
            </a:extLst>
          </p:cNvPr>
          <p:cNvSpPr>
            <a:spLocks noGrp="1"/>
          </p:cNvSpPr>
          <p:nvPr>
            <p:ph type="title"/>
          </p:nvPr>
        </p:nvSpPr>
        <p:spPr>
          <a:xfrm>
            <a:off x="772503" y="1089446"/>
            <a:ext cx="16779689" cy="815608"/>
          </a:xfrm>
        </p:spPr>
        <p:txBody>
          <a:bodyPr/>
          <a:lstStyle/>
          <a:p>
            <a:r>
              <a:rPr lang="en-IN" sz="5300" dirty="0">
                <a:solidFill>
                  <a:schemeClr val="tx1"/>
                </a:solidFill>
                <a:latin typeface="Imprint MT Shadow" panose="04020605060303030202" pitchFamily="82" charset="0"/>
              </a:rPr>
              <a:t>BLOCK DIAGRAM :VALIDATION STAGE</a:t>
            </a:r>
            <a:endParaRPr lang="en-IN" sz="5300" dirty="0">
              <a:solidFill>
                <a:schemeClr val="tx1"/>
              </a:solidFill>
            </a:endParaRPr>
          </a:p>
        </p:txBody>
      </p:sp>
      <p:pic>
        <p:nvPicPr>
          <p:cNvPr id="16" name="Picture 15">
            <a:extLst>
              <a:ext uri="{FF2B5EF4-FFF2-40B4-BE49-F238E27FC236}">
                <a16:creationId xmlns:a16="http://schemas.microsoft.com/office/drawing/2014/main" id="{640CBDC6-D7AB-4F5A-AB5D-7AF97A49D255}"/>
              </a:ext>
            </a:extLst>
          </p:cNvPr>
          <p:cNvPicPr>
            <a:picLocks noChangeAspect="1"/>
          </p:cNvPicPr>
          <p:nvPr/>
        </p:nvPicPr>
        <p:blipFill rotWithShape="1">
          <a:blip r:embed="rId2"/>
          <a:srcRect t="10771" b="9369"/>
          <a:stretch/>
        </p:blipFill>
        <p:spPr>
          <a:xfrm>
            <a:off x="3494087" y="2378075"/>
            <a:ext cx="13115925" cy="8686801"/>
          </a:xfrm>
          <a:prstGeom prst="rect">
            <a:avLst/>
          </a:prstGeom>
        </p:spPr>
      </p:pic>
    </p:spTree>
    <p:extLst>
      <p:ext uri="{BB962C8B-B14F-4D97-AF65-F5344CB8AC3E}">
        <p14:creationId xmlns:p14="http://schemas.microsoft.com/office/powerpoint/2010/main" val="22365657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42F4D-0AE7-4A84-B4F7-5D2756E47653}"/>
              </a:ext>
            </a:extLst>
          </p:cNvPr>
          <p:cNvSpPr>
            <a:spLocks noGrp="1"/>
          </p:cNvSpPr>
          <p:nvPr>
            <p:ph type="title"/>
          </p:nvPr>
        </p:nvSpPr>
        <p:spPr>
          <a:xfrm>
            <a:off x="634868" y="602474"/>
            <a:ext cx="18940178" cy="815608"/>
          </a:xfrm>
        </p:spPr>
        <p:txBody>
          <a:bodyPr/>
          <a:lstStyle/>
          <a:p>
            <a:r>
              <a:rPr lang="en-IN" sz="5300" dirty="0">
                <a:solidFill>
                  <a:schemeClr val="tx1"/>
                </a:solidFill>
                <a:latin typeface="Imprint MT Shadow" panose="04020605060303030202" pitchFamily="82" charset="0"/>
              </a:rPr>
              <a:t>BLOCK DIAGRAM :PREDICTION STAGE</a:t>
            </a:r>
            <a:endParaRPr lang="en-IN" sz="5300" dirty="0">
              <a:solidFill>
                <a:schemeClr val="tx1"/>
              </a:solidFill>
            </a:endParaRPr>
          </a:p>
        </p:txBody>
      </p:sp>
      <p:pic>
        <p:nvPicPr>
          <p:cNvPr id="11" name="Picture 10">
            <a:extLst>
              <a:ext uri="{FF2B5EF4-FFF2-40B4-BE49-F238E27FC236}">
                <a16:creationId xmlns:a16="http://schemas.microsoft.com/office/drawing/2014/main" id="{7950F2C4-BEF5-4B0F-85B9-B1BF6FD4E26A}"/>
              </a:ext>
            </a:extLst>
          </p:cNvPr>
          <p:cNvPicPr>
            <a:picLocks noChangeAspect="1"/>
          </p:cNvPicPr>
          <p:nvPr/>
        </p:nvPicPr>
        <p:blipFill rotWithShape="1">
          <a:blip r:embed="rId2"/>
          <a:srcRect t="15250" b="9962"/>
          <a:stretch/>
        </p:blipFill>
        <p:spPr>
          <a:xfrm>
            <a:off x="2979737" y="2225675"/>
            <a:ext cx="14144625" cy="7543800"/>
          </a:xfrm>
          <a:prstGeom prst="rect">
            <a:avLst/>
          </a:prstGeom>
        </p:spPr>
      </p:pic>
    </p:spTree>
    <p:extLst>
      <p:ext uri="{BB962C8B-B14F-4D97-AF65-F5344CB8AC3E}">
        <p14:creationId xmlns:p14="http://schemas.microsoft.com/office/powerpoint/2010/main" val="5868074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12DE36-1DFF-43C5-BE8D-D433862124BC}"/>
              </a:ext>
            </a:extLst>
          </p:cNvPr>
          <p:cNvSpPr>
            <a:spLocks noGrp="1"/>
          </p:cNvSpPr>
          <p:nvPr>
            <p:ph type="title"/>
          </p:nvPr>
        </p:nvSpPr>
        <p:spPr>
          <a:xfrm>
            <a:off x="374653" y="401793"/>
            <a:ext cx="16996686" cy="815608"/>
          </a:xfrm>
        </p:spPr>
        <p:txBody>
          <a:bodyPr/>
          <a:lstStyle/>
          <a:p>
            <a:r>
              <a:rPr lang="en-IN" sz="5300" dirty="0">
                <a:solidFill>
                  <a:schemeClr val="tx1"/>
                </a:solidFill>
                <a:latin typeface="Imprint MT Shadow" panose="04020605060303030202" pitchFamily="82" charset="0"/>
              </a:rPr>
              <a:t>BLOCK DIAGRAM :OUTPUT STAGE</a:t>
            </a:r>
            <a:endParaRPr lang="en-IN" sz="5300" dirty="0">
              <a:solidFill>
                <a:schemeClr val="tx1"/>
              </a:solidFill>
            </a:endParaRPr>
          </a:p>
        </p:txBody>
      </p:sp>
      <p:pic>
        <p:nvPicPr>
          <p:cNvPr id="13" name="Picture 12">
            <a:extLst>
              <a:ext uri="{FF2B5EF4-FFF2-40B4-BE49-F238E27FC236}">
                <a16:creationId xmlns:a16="http://schemas.microsoft.com/office/drawing/2014/main" id="{E1AFB62B-B915-48B9-8971-CA102D9665DD}"/>
              </a:ext>
            </a:extLst>
          </p:cNvPr>
          <p:cNvPicPr>
            <a:picLocks noChangeAspect="1"/>
          </p:cNvPicPr>
          <p:nvPr/>
        </p:nvPicPr>
        <p:blipFill rotWithShape="1">
          <a:blip r:embed="rId2"/>
          <a:srcRect t="11379" b="11379"/>
          <a:stretch/>
        </p:blipFill>
        <p:spPr>
          <a:xfrm>
            <a:off x="3594100" y="1539875"/>
            <a:ext cx="12915900" cy="8534400"/>
          </a:xfrm>
          <a:prstGeom prst="rect">
            <a:avLst/>
          </a:prstGeom>
        </p:spPr>
      </p:pic>
    </p:spTree>
    <p:extLst>
      <p:ext uri="{BB962C8B-B14F-4D97-AF65-F5344CB8AC3E}">
        <p14:creationId xmlns:p14="http://schemas.microsoft.com/office/powerpoint/2010/main" val="3493970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0189388-7142-A7D8-9AE1-772B83B104DC}"/>
              </a:ext>
            </a:extLst>
          </p:cNvPr>
          <p:cNvSpPr txBox="1"/>
          <p:nvPr/>
        </p:nvSpPr>
        <p:spPr>
          <a:xfrm>
            <a:off x="679450" y="168275"/>
            <a:ext cx="10050086" cy="769441"/>
          </a:xfrm>
          <a:prstGeom prst="rect">
            <a:avLst/>
          </a:prstGeom>
          <a:noFill/>
        </p:spPr>
        <p:txBody>
          <a:bodyPr wrap="square">
            <a:spAutoFit/>
          </a:bodyPr>
          <a:lstStyle/>
          <a:p>
            <a:r>
              <a:rPr lang="en-IN" sz="4400" b="1" dirty="0">
                <a:solidFill>
                  <a:schemeClr val="accent1">
                    <a:lumMod val="75000"/>
                  </a:schemeClr>
                </a:solidFill>
                <a:latin typeface="Imprint MT Shadow" panose="04020605060303030202" pitchFamily="82" charset="0"/>
              </a:rPr>
              <a:t>POTHOLE DETECTION SYSTEM</a:t>
            </a:r>
          </a:p>
        </p:txBody>
      </p:sp>
      <p:sp>
        <p:nvSpPr>
          <p:cNvPr id="5" name="TextBox 4">
            <a:extLst>
              <a:ext uri="{FF2B5EF4-FFF2-40B4-BE49-F238E27FC236}">
                <a16:creationId xmlns:a16="http://schemas.microsoft.com/office/drawing/2014/main" id="{6E2838BE-4E64-0261-BD41-9A3133EA8C31}"/>
              </a:ext>
            </a:extLst>
          </p:cNvPr>
          <p:cNvSpPr txBox="1"/>
          <p:nvPr/>
        </p:nvSpPr>
        <p:spPr>
          <a:xfrm>
            <a:off x="711893" y="1158875"/>
            <a:ext cx="10050086" cy="784830"/>
          </a:xfrm>
          <a:prstGeom prst="rect">
            <a:avLst/>
          </a:prstGeom>
          <a:noFill/>
        </p:spPr>
        <p:txBody>
          <a:bodyPr wrap="square">
            <a:spAutoFit/>
          </a:bodyPr>
          <a:lstStyle/>
          <a:p>
            <a:r>
              <a:rPr lang="en-IN" sz="4500" dirty="0">
                <a:latin typeface="Imprint MT Shadow" panose="04020605060303030202" pitchFamily="82" charset="0"/>
              </a:rPr>
              <a:t>Detailed Design</a:t>
            </a:r>
          </a:p>
        </p:txBody>
      </p:sp>
      <p:sp>
        <p:nvSpPr>
          <p:cNvPr id="11" name="TextBox 10">
            <a:extLst>
              <a:ext uri="{FF2B5EF4-FFF2-40B4-BE49-F238E27FC236}">
                <a16:creationId xmlns:a16="http://schemas.microsoft.com/office/drawing/2014/main" id="{EF00072D-047A-E189-B595-6B87E4590A1A}"/>
              </a:ext>
            </a:extLst>
          </p:cNvPr>
          <p:cNvSpPr txBox="1"/>
          <p:nvPr/>
        </p:nvSpPr>
        <p:spPr>
          <a:xfrm>
            <a:off x="679450" y="2303305"/>
            <a:ext cx="17678400" cy="2215991"/>
          </a:xfrm>
          <a:prstGeom prst="rect">
            <a:avLst/>
          </a:prstGeom>
          <a:noFill/>
        </p:spPr>
        <p:txBody>
          <a:bodyPr wrap="square">
            <a:spAutoFit/>
          </a:bodyPr>
          <a:lstStyle/>
          <a:p>
            <a:pPr>
              <a:buNone/>
            </a:pPr>
            <a:r>
              <a:rPr lang="en-US" sz="3600" b="1" dirty="0">
                <a:latin typeface="Imprint MT Shadow" panose="04020605060303030202" pitchFamily="82" charset="0"/>
              </a:rPr>
              <a:t>1. System Overview</a:t>
            </a:r>
          </a:p>
          <a:p>
            <a:pPr>
              <a:buNone/>
            </a:pPr>
            <a:r>
              <a:rPr lang="en-US" sz="3400" dirty="0">
                <a:latin typeface="Imprint MT Shadow" panose="04020605060303030202" pitchFamily="82" charset="0"/>
              </a:rPr>
              <a:t>The Pothole Detection System uses a YOLOv8-based deep learning model to detect potholes in images/videos. It processes input frames, performs object detection, and outputs bounding boxes with confidence scores.</a:t>
            </a:r>
          </a:p>
        </p:txBody>
      </p:sp>
      <p:sp>
        <p:nvSpPr>
          <p:cNvPr id="15" name="TextBox 14">
            <a:extLst>
              <a:ext uri="{FF2B5EF4-FFF2-40B4-BE49-F238E27FC236}">
                <a16:creationId xmlns:a16="http://schemas.microsoft.com/office/drawing/2014/main" id="{C22B64EA-0CDD-8A13-EE18-AC0BE63A614E}"/>
              </a:ext>
            </a:extLst>
          </p:cNvPr>
          <p:cNvSpPr txBox="1"/>
          <p:nvPr/>
        </p:nvSpPr>
        <p:spPr>
          <a:xfrm>
            <a:off x="679450" y="4547640"/>
            <a:ext cx="10050086" cy="3785652"/>
          </a:xfrm>
          <a:prstGeom prst="rect">
            <a:avLst/>
          </a:prstGeom>
          <a:noFill/>
        </p:spPr>
        <p:txBody>
          <a:bodyPr wrap="square">
            <a:spAutoFit/>
          </a:bodyPr>
          <a:lstStyle/>
          <a:p>
            <a:pPr>
              <a:buNone/>
            </a:pPr>
            <a:r>
              <a:rPr lang="en-US" sz="3600" b="1" dirty="0">
                <a:latin typeface="Imprint MT Shadow" panose="04020605060303030202" pitchFamily="82" charset="0"/>
              </a:rPr>
              <a:t>2. Architecture Components</a:t>
            </a:r>
          </a:p>
          <a:p>
            <a:pPr>
              <a:buNone/>
            </a:pPr>
            <a:r>
              <a:rPr lang="en-US" sz="3400" b="1" dirty="0">
                <a:latin typeface="Imprint MT Shadow" panose="04020605060303030202" pitchFamily="82" charset="0"/>
              </a:rPr>
              <a:t>a) Input Module</a:t>
            </a:r>
          </a:p>
          <a:p>
            <a:pPr>
              <a:buFont typeface="Arial" panose="020B0604020202020204" pitchFamily="34" charset="0"/>
              <a:buChar char="•"/>
            </a:pPr>
            <a:r>
              <a:rPr lang="en-US" sz="3400" dirty="0">
                <a:latin typeface="Imprint MT Shadow" panose="04020605060303030202" pitchFamily="82" charset="0"/>
              </a:rPr>
              <a:t>Accepts: </a:t>
            </a:r>
          </a:p>
          <a:p>
            <a:pPr marL="742950" lvl="1" indent="-285750">
              <a:buFont typeface="Arial" panose="020B0604020202020204" pitchFamily="34" charset="0"/>
              <a:buChar char="•"/>
            </a:pPr>
            <a:r>
              <a:rPr lang="en-US" sz="3400" dirty="0">
                <a:latin typeface="Imprint MT Shadow" panose="04020605060303030202" pitchFamily="82" charset="0"/>
              </a:rPr>
              <a:t>Images </a:t>
            </a:r>
          </a:p>
          <a:p>
            <a:pPr marL="742950" lvl="1" indent="-285750">
              <a:buFont typeface="Arial" panose="020B0604020202020204" pitchFamily="34" charset="0"/>
              <a:buChar char="•"/>
            </a:pPr>
            <a:r>
              <a:rPr lang="en-US" sz="3400" dirty="0">
                <a:latin typeface="Imprint MT Shadow" panose="04020605060303030202" pitchFamily="82" charset="0"/>
              </a:rPr>
              <a:t>Video files </a:t>
            </a:r>
          </a:p>
          <a:p>
            <a:pPr marL="742950" lvl="1" indent="-285750">
              <a:buFont typeface="Arial" panose="020B0604020202020204" pitchFamily="34" charset="0"/>
              <a:buChar char="•"/>
            </a:pPr>
            <a:r>
              <a:rPr lang="en-US" sz="3400" dirty="0">
                <a:latin typeface="Imprint MT Shadow" panose="04020605060303030202" pitchFamily="82" charset="0"/>
              </a:rPr>
              <a:t>Webcam feed </a:t>
            </a:r>
          </a:p>
          <a:p>
            <a:pPr>
              <a:buFont typeface="Arial" panose="020B0604020202020204" pitchFamily="34" charset="0"/>
              <a:buChar char="•"/>
            </a:pPr>
            <a:r>
              <a:rPr lang="en-US" sz="3400" dirty="0">
                <a:latin typeface="Imprint MT Shadow" panose="04020605060303030202" pitchFamily="82" charset="0"/>
              </a:rPr>
              <a:t>Converts input into frames for processing</a:t>
            </a:r>
          </a:p>
        </p:txBody>
      </p:sp>
      <p:sp>
        <p:nvSpPr>
          <p:cNvPr id="19" name="TextBox 18">
            <a:extLst>
              <a:ext uri="{FF2B5EF4-FFF2-40B4-BE49-F238E27FC236}">
                <a16:creationId xmlns:a16="http://schemas.microsoft.com/office/drawing/2014/main" id="{35B0C70C-E066-2D23-954F-F82902E9831A}"/>
              </a:ext>
            </a:extLst>
          </p:cNvPr>
          <p:cNvSpPr txBox="1"/>
          <p:nvPr/>
        </p:nvSpPr>
        <p:spPr>
          <a:xfrm>
            <a:off x="723554" y="8550275"/>
            <a:ext cx="10050086" cy="2185214"/>
          </a:xfrm>
          <a:prstGeom prst="rect">
            <a:avLst/>
          </a:prstGeom>
          <a:noFill/>
        </p:spPr>
        <p:txBody>
          <a:bodyPr wrap="square">
            <a:spAutoFit/>
          </a:bodyPr>
          <a:lstStyle/>
          <a:p>
            <a:pPr>
              <a:buNone/>
            </a:pPr>
            <a:r>
              <a:rPr lang="en-IN" sz="3400" b="1" dirty="0">
                <a:latin typeface="Imprint MT Shadow" panose="04020605060303030202" pitchFamily="82" charset="0"/>
              </a:rPr>
              <a:t>b) Preprocessing Module</a:t>
            </a:r>
          </a:p>
          <a:p>
            <a:pPr>
              <a:buFont typeface="Arial" panose="020B0604020202020204" pitchFamily="34" charset="0"/>
              <a:buChar char="•"/>
            </a:pPr>
            <a:r>
              <a:rPr lang="en-IN" sz="3400" dirty="0">
                <a:latin typeface="Imprint MT Shadow" panose="04020605060303030202" pitchFamily="82" charset="0"/>
              </a:rPr>
              <a:t>Resize frames </a:t>
            </a:r>
          </a:p>
          <a:p>
            <a:pPr>
              <a:buFont typeface="Arial" panose="020B0604020202020204" pitchFamily="34" charset="0"/>
              <a:buChar char="•"/>
            </a:pPr>
            <a:r>
              <a:rPr lang="en-IN" sz="3400" dirty="0">
                <a:latin typeface="Imprint MT Shadow" panose="04020605060303030202" pitchFamily="82" charset="0"/>
              </a:rPr>
              <a:t>Normalize pixel values </a:t>
            </a:r>
          </a:p>
          <a:p>
            <a:pPr>
              <a:buFont typeface="Arial" panose="020B0604020202020204" pitchFamily="34" charset="0"/>
              <a:buChar char="•"/>
            </a:pPr>
            <a:r>
              <a:rPr lang="en-IN" sz="3400" dirty="0">
                <a:latin typeface="Imprint MT Shadow" panose="04020605060303030202" pitchFamily="82" charset="0"/>
              </a:rPr>
              <a:t>Convert into YOLO-compatible format</a:t>
            </a:r>
          </a:p>
        </p:txBody>
      </p:sp>
      <p:sp>
        <p:nvSpPr>
          <p:cNvPr id="2" name="object 5">
            <a:extLst>
              <a:ext uri="{FF2B5EF4-FFF2-40B4-BE49-F238E27FC236}">
                <a16:creationId xmlns:a16="http://schemas.microsoft.com/office/drawing/2014/main" id="{96C91266-BEC9-9622-356A-0501C877F0FF}"/>
              </a:ext>
            </a:extLst>
          </p:cNvPr>
          <p:cNvSpPr/>
          <p:nvPr/>
        </p:nvSpPr>
        <p:spPr>
          <a:xfrm rot="5400000" flipV="1">
            <a:off x="13294879" y="4481368"/>
            <a:ext cx="11290589" cy="2327853"/>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4301847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094BD2-D360-ED26-716A-BF5A7E28684A}"/>
              </a:ext>
            </a:extLst>
          </p:cNvPr>
          <p:cNvSpPr txBox="1"/>
          <p:nvPr/>
        </p:nvSpPr>
        <p:spPr>
          <a:xfrm>
            <a:off x="657860" y="1006475"/>
            <a:ext cx="10050086" cy="2708434"/>
          </a:xfrm>
          <a:prstGeom prst="rect">
            <a:avLst/>
          </a:prstGeom>
          <a:noFill/>
        </p:spPr>
        <p:txBody>
          <a:bodyPr wrap="square">
            <a:spAutoFit/>
          </a:bodyPr>
          <a:lstStyle/>
          <a:p>
            <a:pPr>
              <a:buNone/>
            </a:pPr>
            <a:r>
              <a:rPr lang="en-US" sz="3400" b="1" dirty="0">
                <a:latin typeface="Imprint MT Shadow" panose="04020605060303030202" pitchFamily="82" charset="0"/>
              </a:rPr>
              <a:t>c) Detection Module (YOLOv8)</a:t>
            </a:r>
          </a:p>
          <a:p>
            <a:pPr>
              <a:buFont typeface="Arial" panose="020B0604020202020204" pitchFamily="34" charset="0"/>
              <a:buChar char="•"/>
            </a:pPr>
            <a:r>
              <a:rPr lang="en-US" sz="3400" dirty="0">
                <a:latin typeface="Imprint MT Shadow" panose="04020605060303030202" pitchFamily="82" charset="0"/>
              </a:rPr>
              <a:t>Uses trained YOLOv8 model </a:t>
            </a:r>
          </a:p>
          <a:p>
            <a:pPr>
              <a:buFont typeface="Arial" panose="020B0604020202020204" pitchFamily="34" charset="0"/>
              <a:buChar char="•"/>
            </a:pPr>
            <a:r>
              <a:rPr lang="en-US" sz="3400" dirty="0">
                <a:latin typeface="Imprint MT Shadow" panose="04020605060303030202" pitchFamily="82" charset="0"/>
              </a:rPr>
              <a:t>Detects potholes with: </a:t>
            </a:r>
          </a:p>
          <a:p>
            <a:pPr marL="742950" lvl="1" indent="-285750">
              <a:buFont typeface="Arial" panose="020B0604020202020204" pitchFamily="34" charset="0"/>
              <a:buChar char="•"/>
            </a:pPr>
            <a:r>
              <a:rPr lang="en-US" sz="3400" dirty="0">
                <a:latin typeface="Imprint MT Shadow" panose="04020605060303030202" pitchFamily="82" charset="0"/>
              </a:rPr>
              <a:t>Bounding boxes </a:t>
            </a:r>
          </a:p>
          <a:p>
            <a:pPr marL="742950" lvl="1" indent="-285750">
              <a:buFont typeface="Arial" panose="020B0604020202020204" pitchFamily="34" charset="0"/>
              <a:buChar char="•"/>
            </a:pPr>
            <a:r>
              <a:rPr lang="en-US" sz="3400" dirty="0">
                <a:latin typeface="Imprint MT Shadow" panose="04020605060303030202" pitchFamily="82" charset="0"/>
              </a:rPr>
              <a:t>Confidence scores</a:t>
            </a:r>
          </a:p>
        </p:txBody>
      </p:sp>
      <p:sp>
        <p:nvSpPr>
          <p:cNvPr id="7" name="TextBox 6">
            <a:extLst>
              <a:ext uri="{FF2B5EF4-FFF2-40B4-BE49-F238E27FC236}">
                <a16:creationId xmlns:a16="http://schemas.microsoft.com/office/drawing/2014/main" id="{9FF6F2F1-1217-F261-5163-0504DAA34BF6}"/>
              </a:ext>
            </a:extLst>
          </p:cNvPr>
          <p:cNvSpPr txBox="1"/>
          <p:nvPr/>
        </p:nvSpPr>
        <p:spPr>
          <a:xfrm>
            <a:off x="657860" y="3928552"/>
            <a:ext cx="10050086" cy="2185214"/>
          </a:xfrm>
          <a:prstGeom prst="rect">
            <a:avLst/>
          </a:prstGeom>
          <a:noFill/>
        </p:spPr>
        <p:txBody>
          <a:bodyPr wrap="square">
            <a:spAutoFit/>
          </a:bodyPr>
          <a:lstStyle/>
          <a:p>
            <a:pPr>
              <a:buNone/>
            </a:pPr>
            <a:r>
              <a:rPr lang="en-US" sz="3400" b="1" dirty="0">
                <a:latin typeface="Imprint MT Shadow" panose="04020605060303030202" pitchFamily="82" charset="0"/>
              </a:rPr>
              <a:t>d) Post-processing Module</a:t>
            </a:r>
          </a:p>
          <a:p>
            <a:pPr>
              <a:buFont typeface="Arial" panose="020B0604020202020204" pitchFamily="34" charset="0"/>
              <a:buChar char="•"/>
            </a:pPr>
            <a:r>
              <a:rPr lang="en-US" sz="3400" dirty="0">
                <a:latin typeface="Imprint MT Shadow" panose="04020605060303030202" pitchFamily="82" charset="0"/>
              </a:rPr>
              <a:t>Filters detections based on confidence threshold </a:t>
            </a:r>
          </a:p>
          <a:p>
            <a:pPr>
              <a:buFont typeface="Arial" panose="020B0604020202020204" pitchFamily="34" charset="0"/>
              <a:buChar char="•"/>
            </a:pPr>
            <a:r>
              <a:rPr lang="en-US" sz="3400" dirty="0">
                <a:latin typeface="Imprint MT Shadow" panose="04020605060303030202" pitchFamily="82" charset="0"/>
              </a:rPr>
              <a:t>Draws bounding boxes </a:t>
            </a:r>
          </a:p>
          <a:p>
            <a:pPr>
              <a:buFont typeface="Arial" panose="020B0604020202020204" pitchFamily="34" charset="0"/>
              <a:buChar char="•"/>
            </a:pPr>
            <a:r>
              <a:rPr lang="en-US" sz="3400" dirty="0">
                <a:latin typeface="Imprint MT Shadow" panose="04020605060303030202" pitchFamily="82" charset="0"/>
              </a:rPr>
              <a:t>Counts potholes</a:t>
            </a:r>
          </a:p>
        </p:txBody>
      </p:sp>
      <p:sp>
        <p:nvSpPr>
          <p:cNvPr id="9" name="TextBox 8">
            <a:extLst>
              <a:ext uri="{FF2B5EF4-FFF2-40B4-BE49-F238E27FC236}">
                <a16:creationId xmlns:a16="http://schemas.microsoft.com/office/drawing/2014/main" id="{9BECAB53-9165-B747-85E3-6B44EA1237F4}"/>
              </a:ext>
            </a:extLst>
          </p:cNvPr>
          <p:cNvSpPr txBox="1"/>
          <p:nvPr/>
        </p:nvSpPr>
        <p:spPr>
          <a:xfrm>
            <a:off x="657860" y="6492875"/>
            <a:ext cx="10050086" cy="2708434"/>
          </a:xfrm>
          <a:prstGeom prst="rect">
            <a:avLst/>
          </a:prstGeom>
          <a:noFill/>
        </p:spPr>
        <p:txBody>
          <a:bodyPr wrap="square">
            <a:spAutoFit/>
          </a:bodyPr>
          <a:lstStyle/>
          <a:p>
            <a:pPr>
              <a:buNone/>
            </a:pPr>
            <a:r>
              <a:rPr lang="en-US" sz="3400" b="1" dirty="0">
                <a:latin typeface="Imprint MT Shadow" panose="04020605060303030202" pitchFamily="82" charset="0"/>
              </a:rPr>
              <a:t>e) Output Module</a:t>
            </a:r>
          </a:p>
          <a:p>
            <a:pPr>
              <a:buFont typeface="Arial" panose="020B0604020202020204" pitchFamily="34" charset="0"/>
              <a:buChar char="•"/>
            </a:pPr>
            <a:r>
              <a:rPr lang="en-US" sz="3400" dirty="0">
                <a:latin typeface="Imprint MT Shadow" panose="04020605060303030202" pitchFamily="82" charset="0"/>
              </a:rPr>
              <a:t>Displays annotated frames </a:t>
            </a:r>
          </a:p>
          <a:p>
            <a:pPr>
              <a:buFont typeface="Arial" panose="020B0604020202020204" pitchFamily="34" charset="0"/>
              <a:buChar char="•"/>
            </a:pPr>
            <a:r>
              <a:rPr lang="en-US" sz="3400" dirty="0">
                <a:latin typeface="Imprint MT Shadow" panose="04020605060303030202" pitchFamily="82" charset="0"/>
              </a:rPr>
              <a:t>Shows: </a:t>
            </a:r>
          </a:p>
          <a:p>
            <a:pPr marL="742950" lvl="1" indent="-285750">
              <a:buFont typeface="Arial" panose="020B0604020202020204" pitchFamily="34" charset="0"/>
              <a:buChar char="•"/>
            </a:pPr>
            <a:r>
              <a:rPr lang="en-US" sz="3400" dirty="0">
                <a:latin typeface="Imprint MT Shadow" panose="04020605060303030202" pitchFamily="82" charset="0"/>
              </a:rPr>
              <a:t>Number of potholes </a:t>
            </a:r>
          </a:p>
          <a:p>
            <a:pPr marL="742950" lvl="1" indent="-285750">
              <a:buFont typeface="Arial" panose="020B0604020202020204" pitchFamily="34" charset="0"/>
              <a:buChar char="•"/>
            </a:pPr>
            <a:r>
              <a:rPr lang="en-US" sz="3400" dirty="0">
                <a:latin typeface="Imprint MT Shadow" panose="04020605060303030202" pitchFamily="82" charset="0"/>
              </a:rPr>
              <a:t>Confidence levels</a:t>
            </a:r>
          </a:p>
        </p:txBody>
      </p:sp>
      <p:sp>
        <p:nvSpPr>
          <p:cNvPr id="11" name="TextBox 10">
            <a:extLst>
              <a:ext uri="{FF2B5EF4-FFF2-40B4-BE49-F238E27FC236}">
                <a16:creationId xmlns:a16="http://schemas.microsoft.com/office/drawing/2014/main" id="{34191FD1-50E4-9B92-F8EF-2C1DB2624AC6}"/>
              </a:ext>
            </a:extLst>
          </p:cNvPr>
          <p:cNvSpPr txBox="1"/>
          <p:nvPr/>
        </p:nvSpPr>
        <p:spPr>
          <a:xfrm>
            <a:off x="374650" y="9549188"/>
            <a:ext cx="19964400" cy="1138773"/>
          </a:xfrm>
          <a:prstGeom prst="rect">
            <a:avLst/>
          </a:prstGeom>
          <a:noFill/>
        </p:spPr>
        <p:txBody>
          <a:bodyPr wrap="square">
            <a:spAutoFit/>
          </a:bodyPr>
          <a:lstStyle/>
          <a:p>
            <a:pPr>
              <a:buNone/>
            </a:pPr>
            <a:r>
              <a:rPr lang="en-IN" sz="3400" b="1" dirty="0">
                <a:latin typeface="Imprint MT Shadow" panose="04020605060303030202" pitchFamily="82" charset="0"/>
              </a:rPr>
              <a:t>3. Data Flow</a:t>
            </a:r>
          </a:p>
          <a:p>
            <a:pPr rtl="0">
              <a:buNone/>
            </a:pPr>
            <a:r>
              <a:rPr lang="en-IN" sz="3400" dirty="0">
                <a:latin typeface="Courier New" panose="02070309020205020404" pitchFamily="49" charset="0"/>
              </a:rPr>
              <a:t>Input → Preprocessing → YOLOv8 Model → Detection → Post-processing → Output</a:t>
            </a:r>
          </a:p>
        </p:txBody>
      </p:sp>
      <p:sp>
        <p:nvSpPr>
          <p:cNvPr id="2" name="object 5">
            <a:extLst>
              <a:ext uri="{FF2B5EF4-FFF2-40B4-BE49-F238E27FC236}">
                <a16:creationId xmlns:a16="http://schemas.microsoft.com/office/drawing/2014/main" id="{9DAA98CC-CCA2-732E-8F8D-83145C772B31}"/>
              </a:ext>
            </a:extLst>
          </p:cNvPr>
          <p:cNvSpPr/>
          <p:nvPr/>
        </p:nvSpPr>
        <p:spPr>
          <a:xfrm flipV="1">
            <a:off x="-25746" y="7150"/>
            <a:ext cx="20129846" cy="2327853"/>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514367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61813F-DE76-4677-F324-A2A2E9C7C2AA}"/>
              </a:ext>
            </a:extLst>
          </p:cNvPr>
          <p:cNvSpPr txBox="1"/>
          <p:nvPr/>
        </p:nvSpPr>
        <p:spPr>
          <a:xfrm>
            <a:off x="527050" y="473075"/>
            <a:ext cx="13106400" cy="707886"/>
          </a:xfrm>
          <a:prstGeom prst="rect">
            <a:avLst/>
          </a:prstGeom>
          <a:noFill/>
        </p:spPr>
        <p:txBody>
          <a:bodyPr wrap="square">
            <a:spAutoFit/>
          </a:bodyPr>
          <a:lstStyle/>
          <a:p>
            <a:r>
              <a:rPr lang="en-IN" sz="4000" b="1" dirty="0">
                <a:solidFill>
                  <a:schemeClr val="tx2">
                    <a:lumMod val="60000"/>
                    <a:lumOff val="40000"/>
                  </a:schemeClr>
                </a:solidFill>
                <a:latin typeface="Imprint MT Shadow" panose="04020605060303030202" pitchFamily="82" charset="0"/>
              </a:rPr>
              <a:t>ALGORITHM (POTHOLE DETECTION)</a:t>
            </a:r>
          </a:p>
        </p:txBody>
      </p:sp>
      <p:sp>
        <p:nvSpPr>
          <p:cNvPr id="5" name="TextBox 4">
            <a:extLst>
              <a:ext uri="{FF2B5EF4-FFF2-40B4-BE49-F238E27FC236}">
                <a16:creationId xmlns:a16="http://schemas.microsoft.com/office/drawing/2014/main" id="{300F5CF0-0EE5-A909-8BD7-0F2ADB2E3E4F}"/>
              </a:ext>
            </a:extLst>
          </p:cNvPr>
          <p:cNvSpPr txBox="1"/>
          <p:nvPr/>
        </p:nvSpPr>
        <p:spPr>
          <a:xfrm>
            <a:off x="831850" y="1997075"/>
            <a:ext cx="10050086" cy="7109639"/>
          </a:xfrm>
          <a:prstGeom prst="rect">
            <a:avLst/>
          </a:prstGeom>
          <a:noFill/>
        </p:spPr>
        <p:txBody>
          <a:bodyPr wrap="square">
            <a:spAutoFit/>
          </a:bodyPr>
          <a:lstStyle/>
          <a:p>
            <a:r>
              <a:rPr lang="en-IN" sz="3800" dirty="0"/>
              <a:t>1. Start</a:t>
            </a:r>
          </a:p>
          <a:p>
            <a:r>
              <a:rPr lang="en-IN" sz="3800" dirty="0"/>
              <a:t>2. Load YOLOv8 trained pothole model</a:t>
            </a:r>
          </a:p>
          <a:p>
            <a:r>
              <a:rPr lang="en-IN" sz="3800" dirty="0"/>
              <a:t>3. Read input (image/video/webcam)</a:t>
            </a:r>
          </a:p>
          <a:p>
            <a:r>
              <a:rPr lang="en-IN" sz="3800" dirty="0"/>
              <a:t>4. For each frame:</a:t>
            </a:r>
          </a:p>
          <a:p>
            <a:r>
              <a:rPr lang="en-IN" sz="3800" dirty="0"/>
              <a:t>    a. Preprocess frame</a:t>
            </a:r>
          </a:p>
          <a:p>
            <a:r>
              <a:rPr lang="en-IN" sz="3800" dirty="0"/>
              <a:t>    b. Pass frame to YOLO model</a:t>
            </a:r>
          </a:p>
          <a:p>
            <a:r>
              <a:rPr lang="en-IN" sz="3800" dirty="0"/>
              <a:t>    c. Get detections (boxes, confidence)</a:t>
            </a:r>
          </a:p>
          <a:p>
            <a:r>
              <a:rPr lang="en-IN" sz="3800" dirty="0"/>
              <a:t>    d. Filter detections based on threshold</a:t>
            </a:r>
          </a:p>
          <a:p>
            <a:r>
              <a:rPr lang="en-IN" sz="3800" dirty="0"/>
              <a:t>    e. Draw bounding boxes</a:t>
            </a:r>
          </a:p>
          <a:p>
            <a:r>
              <a:rPr lang="en-IN" sz="3800" dirty="0"/>
              <a:t>    f. Count potholes</a:t>
            </a:r>
          </a:p>
          <a:p>
            <a:r>
              <a:rPr lang="en-IN" sz="3800" dirty="0"/>
              <a:t>5. Display/output result</a:t>
            </a:r>
          </a:p>
          <a:p>
            <a:r>
              <a:rPr lang="en-IN" sz="3800" dirty="0"/>
              <a:t>6. End</a:t>
            </a:r>
          </a:p>
        </p:txBody>
      </p:sp>
      <p:sp>
        <p:nvSpPr>
          <p:cNvPr id="4" name="object 5">
            <a:extLst>
              <a:ext uri="{FF2B5EF4-FFF2-40B4-BE49-F238E27FC236}">
                <a16:creationId xmlns:a16="http://schemas.microsoft.com/office/drawing/2014/main" id="{4B801185-9BE1-D736-EE84-8A8FF8C483B8}"/>
              </a:ext>
            </a:extLst>
          </p:cNvPr>
          <p:cNvSpPr/>
          <p:nvPr/>
        </p:nvSpPr>
        <p:spPr>
          <a:xfrm rot="10800000" flipV="1">
            <a:off x="-12873" y="8981497"/>
            <a:ext cx="20129846" cy="2327853"/>
          </a:xfrm>
          <a:prstGeom prst="rect">
            <a:avLst/>
          </a:prstGeom>
          <a:blipFill>
            <a:blip r:embed="rId2" cstate="print"/>
            <a:stretch>
              <a:fillRect/>
            </a:stretch>
          </a:blipFill>
        </p:spPr>
        <p:txBody>
          <a:bodyPr wrap="square" lIns="0" tIns="0" rIns="0" bIns="0" rtlCol="0"/>
          <a:lstStyle/>
          <a:p>
            <a:endParaRPr dirty="0"/>
          </a:p>
        </p:txBody>
      </p:sp>
      <p:sp>
        <p:nvSpPr>
          <p:cNvPr id="6" name="bk object 16">
            <a:extLst>
              <a:ext uri="{FF2B5EF4-FFF2-40B4-BE49-F238E27FC236}">
                <a16:creationId xmlns:a16="http://schemas.microsoft.com/office/drawing/2014/main" id="{64D8EA23-65F4-08A7-44DB-5BD6DE95BFAE}"/>
              </a:ext>
            </a:extLst>
          </p:cNvPr>
          <p:cNvSpPr/>
          <p:nvPr/>
        </p:nvSpPr>
        <p:spPr>
          <a:xfrm rot="5400000" flipH="1" flipV="1">
            <a:off x="17990027" y="-13177"/>
            <a:ext cx="2100897" cy="212725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078540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F0C14E-C517-4C57-AB42-43BE30DB6659}"/>
              </a:ext>
            </a:extLst>
          </p:cNvPr>
          <p:cNvSpPr txBox="1"/>
          <p:nvPr/>
        </p:nvSpPr>
        <p:spPr>
          <a:xfrm>
            <a:off x="755650" y="549275"/>
            <a:ext cx="14478000" cy="738664"/>
          </a:xfrm>
          <a:prstGeom prst="rect">
            <a:avLst/>
          </a:prstGeom>
          <a:noFill/>
        </p:spPr>
        <p:txBody>
          <a:bodyPr wrap="square">
            <a:spAutoFit/>
          </a:bodyPr>
          <a:lstStyle/>
          <a:p>
            <a:r>
              <a:rPr lang="en-IN" sz="4200" b="1" dirty="0">
                <a:solidFill>
                  <a:schemeClr val="tx2">
                    <a:lumMod val="60000"/>
                    <a:lumOff val="40000"/>
                  </a:schemeClr>
                </a:solidFill>
                <a:latin typeface="Imprint MT Shadow" panose="04020605060303030202" pitchFamily="82" charset="0"/>
              </a:rPr>
              <a:t>ALGORITHM TRACING (STEP-BY-STEP)</a:t>
            </a:r>
          </a:p>
        </p:txBody>
      </p:sp>
      <p:sp>
        <p:nvSpPr>
          <p:cNvPr id="5" name="TextBox 4">
            <a:extLst>
              <a:ext uri="{FF2B5EF4-FFF2-40B4-BE49-F238E27FC236}">
                <a16:creationId xmlns:a16="http://schemas.microsoft.com/office/drawing/2014/main" id="{B2E4FA85-87BF-32A9-FC21-CB6865E218FC}"/>
              </a:ext>
            </a:extLst>
          </p:cNvPr>
          <p:cNvSpPr txBox="1"/>
          <p:nvPr/>
        </p:nvSpPr>
        <p:spPr>
          <a:xfrm>
            <a:off x="1136650" y="2073275"/>
            <a:ext cx="10050086" cy="8094524"/>
          </a:xfrm>
          <a:prstGeom prst="rect">
            <a:avLst/>
          </a:prstGeom>
          <a:noFill/>
        </p:spPr>
        <p:txBody>
          <a:bodyPr wrap="square">
            <a:spAutoFit/>
          </a:bodyPr>
          <a:lstStyle/>
          <a:p>
            <a:pPr>
              <a:buNone/>
            </a:pPr>
            <a:r>
              <a:rPr lang="en-IN" sz="4000" b="1" dirty="0"/>
              <a:t>Example Frame Processing</a:t>
            </a:r>
          </a:p>
          <a:p>
            <a:pPr>
              <a:buFont typeface="+mj-lt"/>
              <a:buAutoNum type="arabicPeriod"/>
            </a:pPr>
            <a:r>
              <a:rPr lang="en-IN" sz="4000" dirty="0"/>
              <a:t>Frame captured from video </a:t>
            </a:r>
          </a:p>
          <a:p>
            <a:pPr>
              <a:buFont typeface="+mj-lt"/>
              <a:buAutoNum type="arabicPeriod"/>
            </a:pPr>
            <a:r>
              <a:rPr lang="en-IN" sz="4000" dirty="0"/>
              <a:t>Frame resized to YOLO input size </a:t>
            </a:r>
          </a:p>
          <a:p>
            <a:pPr>
              <a:buFont typeface="+mj-lt"/>
              <a:buAutoNum type="arabicPeriod"/>
            </a:pPr>
            <a:r>
              <a:rPr lang="en-IN" sz="4000" dirty="0"/>
              <a:t>Model predicts:</a:t>
            </a:r>
          </a:p>
          <a:p>
            <a:pPr rtl="0"/>
            <a:r>
              <a:rPr lang="en-IN" sz="4000" dirty="0">
                <a:latin typeface="Courier New" panose="02070309020205020404" pitchFamily="49" charset="0"/>
              </a:rPr>
              <a:t>Box1 → confidence = 0.85</a:t>
            </a:r>
            <a:br>
              <a:rPr lang="en-IN" sz="4000" dirty="0">
                <a:latin typeface="Courier New" panose="02070309020205020404" pitchFamily="49" charset="0"/>
              </a:rPr>
            </a:br>
            <a:r>
              <a:rPr lang="en-IN" sz="4000" dirty="0">
                <a:latin typeface="Courier New" panose="02070309020205020404" pitchFamily="49" charset="0"/>
              </a:rPr>
              <a:t>Box2 → confidence = 0.42</a:t>
            </a:r>
          </a:p>
          <a:p>
            <a:r>
              <a:rPr lang="en-IN" sz="4000" dirty="0"/>
              <a:t>4.Threshold applied (e.g., 0.5): </a:t>
            </a:r>
          </a:p>
          <a:p>
            <a:pPr marL="1028700" lvl="1" indent="-571500">
              <a:buFont typeface="Arial" panose="020B0604020202020204" pitchFamily="34" charset="0"/>
              <a:buChar char="•"/>
            </a:pPr>
            <a:r>
              <a:rPr lang="en-IN" sz="4000" dirty="0"/>
              <a:t>Box1 → Accepted </a:t>
            </a:r>
          </a:p>
          <a:p>
            <a:pPr marL="1028700" lvl="1" indent="-571500">
              <a:buFont typeface="Arial" panose="020B0604020202020204" pitchFamily="34" charset="0"/>
              <a:buChar char="•"/>
            </a:pPr>
            <a:r>
              <a:rPr lang="en-IN" sz="4000" dirty="0"/>
              <a:t>Box2 → Rejected </a:t>
            </a:r>
          </a:p>
          <a:p>
            <a:r>
              <a:rPr lang="en-IN" sz="4000" dirty="0"/>
              <a:t>5.Bounding box drawn on pothole </a:t>
            </a:r>
          </a:p>
          <a:p>
            <a:r>
              <a:rPr lang="en-IN" sz="4000" dirty="0"/>
              <a:t>6.Counter updated:</a:t>
            </a:r>
          </a:p>
          <a:p>
            <a:pPr marL="571500" indent="-571500" rtl="0">
              <a:buFont typeface="Arial" panose="020B0604020202020204" pitchFamily="34" charset="0"/>
              <a:buChar char="•"/>
            </a:pPr>
            <a:r>
              <a:rPr lang="en-IN" sz="4000" dirty="0">
                <a:latin typeface="Courier New" panose="02070309020205020404" pitchFamily="49" charset="0"/>
              </a:rPr>
              <a:t>Potholes detected = 1</a:t>
            </a:r>
          </a:p>
          <a:p>
            <a:r>
              <a:rPr lang="en-IN" sz="4000" dirty="0"/>
              <a:t>7.Output frame displayed</a:t>
            </a:r>
          </a:p>
        </p:txBody>
      </p:sp>
      <p:sp>
        <p:nvSpPr>
          <p:cNvPr id="2" name="object 7">
            <a:extLst>
              <a:ext uri="{FF2B5EF4-FFF2-40B4-BE49-F238E27FC236}">
                <a16:creationId xmlns:a16="http://schemas.microsoft.com/office/drawing/2014/main" id="{A5FD0356-20D0-569D-4A12-771CAE92466A}"/>
              </a:ext>
            </a:extLst>
          </p:cNvPr>
          <p:cNvSpPr/>
          <p:nvPr/>
        </p:nvSpPr>
        <p:spPr>
          <a:xfrm rot="10800000" flipH="1">
            <a:off x="17950005" y="0"/>
            <a:ext cx="2154095" cy="1127950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603602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3507F62-1504-1624-446B-83838920233E}"/>
              </a:ext>
            </a:extLst>
          </p:cNvPr>
          <p:cNvSpPr txBox="1"/>
          <p:nvPr/>
        </p:nvSpPr>
        <p:spPr>
          <a:xfrm>
            <a:off x="679450" y="625475"/>
            <a:ext cx="10050086" cy="707886"/>
          </a:xfrm>
          <a:prstGeom prst="rect">
            <a:avLst/>
          </a:prstGeom>
          <a:noFill/>
        </p:spPr>
        <p:txBody>
          <a:bodyPr wrap="square">
            <a:spAutoFit/>
          </a:bodyPr>
          <a:lstStyle/>
          <a:p>
            <a:r>
              <a:rPr lang="en-IN" sz="4000" dirty="0">
                <a:solidFill>
                  <a:schemeClr val="tx2"/>
                </a:solidFill>
                <a:latin typeface="Imprint MT Shadow" panose="04020605060303030202" pitchFamily="82" charset="0"/>
              </a:rPr>
              <a:t> </a:t>
            </a:r>
            <a:r>
              <a:rPr lang="en-IN" sz="4000" b="1" dirty="0">
                <a:solidFill>
                  <a:schemeClr val="tx2"/>
                </a:solidFill>
                <a:latin typeface="Imprint MT Shadow" panose="04020605060303030202" pitchFamily="82" charset="0"/>
              </a:rPr>
              <a:t>CAR SYSTEM (Collision AI)</a:t>
            </a:r>
          </a:p>
        </p:txBody>
      </p:sp>
      <p:sp>
        <p:nvSpPr>
          <p:cNvPr id="5" name="TextBox 4">
            <a:extLst>
              <a:ext uri="{FF2B5EF4-FFF2-40B4-BE49-F238E27FC236}">
                <a16:creationId xmlns:a16="http://schemas.microsoft.com/office/drawing/2014/main" id="{794DCA1C-424A-667F-8030-DAF70530122C}"/>
              </a:ext>
            </a:extLst>
          </p:cNvPr>
          <p:cNvSpPr txBox="1"/>
          <p:nvPr/>
        </p:nvSpPr>
        <p:spPr>
          <a:xfrm>
            <a:off x="831850" y="1616075"/>
            <a:ext cx="10050086" cy="707886"/>
          </a:xfrm>
          <a:prstGeom prst="rect">
            <a:avLst/>
          </a:prstGeom>
          <a:noFill/>
        </p:spPr>
        <p:txBody>
          <a:bodyPr wrap="square">
            <a:spAutoFit/>
          </a:bodyPr>
          <a:lstStyle/>
          <a:p>
            <a:r>
              <a:rPr lang="en-IN" sz="4000" dirty="0">
                <a:latin typeface="Imprint MT Shadow" panose="04020605060303030202" pitchFamily="82" charset="0"/>
              </a:rPr>
              <a:t>DETAILED DESIGN</a:t>
            </a:r>
          </a:p>
        </p:txBody>
      </p:sp>
      <p:sp>
        <p:nvSpPr>
          <p:cNvPr id="7" name="TextBox 6">
            <a:extLst>
              <a:ext uri="{FF2B5EF4-FFF2-40B4-BE49-F238E27FC236}">
                <a16:creationId xmlns:a16="http://schemas.microsoft.com/office/drawing/2014/main" id="{9C252F95-5437-D90E-46DA-F2A640E1E573}"/>
              </a:ext>
            </a:extLst>
          </p:cNvPr>
          <p:cNvSpPr txBox="1"/>
          <p:nvPr/>
        </p:nvSpPr>
        <p:spPr>
          <a:xfrm>
            <a:off x="831850" y="2447846"/>
            <a:ext cx="13563600" cy="3231654"/>
          </a:xfrm>
          <a:prstGeom prst="rect">
            <a:avLst/>
          </a:prstGeom>
          <a:noFill/>
        </p:spPr>
        <p:txBody>
          <a:bodyPr wrap="square">
            <a:spAutoFit/>
          </a:bodyPr>
          <a:lstStyle/>
          <a:p>
            <a:pPr>
              <a:buNone/>
            </a:pPr>
            <a:r>
              <a:rPr lang="en-US" sz="3600" b="1" dirty="0">
                <a:latin typeface="Imprint MT Shadow" panose="04020605060303030202" pitchFamily="82" charset="0"/>
              </a:rPr>
              <a:t>1. System Overview</a:t>
            </a:r>
          </a:p>
          <a:p>
            <a:pPr>
              <a:buNone/>
            </a:pPr>
            <a:r>
              <a:rPr lang="en-US" sz="3400" dirty="0">
                <a:latin typeface="Imprint MT Shadow" panose="04020605060303030202" pitchFamily="82" charset="0"/>
              </a:rPr>
              <a:t>Collision AI is a real-time vehicle collision risk detection system that:</a:t>
            </a:r>
          </a:p>
          <a:p>
            <a:pPr>
              <a:buFont typeface="Arial" panose="020B0604020202020204" pitchFamily="34" charset="0"/>
              <a:buChar char="•"/>
            </a:pPr>
            <a:r>
              <a:rPr lang="en-US" sz="3400" dirty="0">
                <a:latin typeface="Imprint MT Shadow" panose="04020605060303030202" pitchFamily="82" charset="0"/>
              </a:rPr>
              <a:t>Detects vehicles </a:t>
            </a:r>
          </a:p>
          <a:p>
            <a:pPr>
              <a:buFont typeface="Arial" panose="020B0604020202020204" pitchFamily="34" charset="0"/>
              <a:buChar char="•"/>
            </a:pPr>
            <a:r>
              <a:rPr lang="en-US" sz="3400" dirty="0">
                <a:latin typeface="Imprint MT Shadow" panose="04020605060303030202" pitchFamily="82" charset="0"/>
              </a:rPr>
              <a:t>Tracks them using Kalman Filter </a:t>
            </a:r>
          </a:p>
          <a:p>
            <a:pPr>
              <a:buFont typeface="Arial" panose="020B0604020202020204" pitchFamily="34" charset="0"/>
              <a:buChar char="•"/>
            </a:pPr>
            <a:r>
              <a:rPr lang="en-US" sz="3400" dirty="0">
                <a:latin typeface="Imprint MT Shadow" panose="04020605060303030202" pitchFamily="82" charset="0"/>
              </a:rPr>
              <a:t>Extracts motion features </a:t>
            </a:r>
          </a:p>
          <a:p>
            <a:pPr>
              <a:buFont typeface="Arial" panose="020B0604020202020204" pitchFamily="34" charset="0"/>
              <a:buChar char="•"/>
            </a:pPr>
            <a:r>
              <a:rPr lang="en-US" sz="3400" dirty="0">
                <a:latin typeface="Imprint MT Shadow" panose="04020605060303030202" pitchFamily="82" charset="0"/>
              </a:rPr>
              <a:t>Predicts collision risk using ML model (.</a:t>
            </a:r>
            <a:r>
              <a:rPr lang="en-US" sz="3400" dirty="0" err="1">
                <a:latin typeface="Imprint MT Shadow" panose="04020605060303030202" pitchFamily="82" charset="0"/>
              </a:rPr>
              <a:t>pkl</a:t>
            </a:r>
            <a:r>
              <a:rPr lang="en-US" sz="3400" dirty="0">
                <a:latin typeface="Imprint MT Shadow" panose="04020605060303030202" pitchFamily="82" charset="0"/>
              </a:rPr>
              <a:t>)</a:t>
            </a:r>
          </a:p>
        </p:txBody>
      </p:sp>
      <p:sp>
        <p:nvSpPr>
          <p:cNvPr id="9" name="TextBox 8">
            <a:extLst>
              <a:ext uri="{FF2B5EF4-FFF2-40B4-BE49-F238E27FC236}">
                <a16:creationId xmlns:a16="http://schemas.microsoft.com/office/drawing/2014/main" id="{AD506D36-9B75-7012-D47E-776328AD03AD}"/>
              </a:ext>
            </a:extLst>
          </p:cNvPr>
          <p:cNvSpPr txBox="1"/>
          <p:nvPr/>
        </p:nvSpPr>
        <p:spPr>
          <a:xfrm>
            <a:off x="801947" y="5960725"/>
            <a:ext cx="10050086" cy="646331"/>
          </a:xfrm>
          <a:prstGeom prst="rect">
            <a:avLst/>
          </a:prstGeom>
          <a:noFill/>
        </p:spPr>
        <p:txBody>
          <a:bodyPr wrap="square">
            <a:spAutoFit/>
          </a:bodyPr>
          <a:lstStyle/>
          <a:p>
            <a:r>
              <a:rPr lang="en-IN" sz="3600" b="1" dirty="0">
                <a:latin typeface="Imprint MT Shadow" panose="04020605060303030202" pitchFamily="82" charset="0"/>
              </a:rPr>
              <a:t>2. Architecture Components</a:t>
            </a:r>
          </a:p>
        </p:txBody>
      </p:sp>
      <p:sp>
        <p:nvSpPr>
          <p:cNvPr id="11" name="TextBox 10">
            <a:extLst>
              <a:ext uri="{FF2B5EF4-FFF2-40B4-BE49-F238E27FC236}">
                <a16:creationId xmlns:a16="http://schemas.microsoft.com/office/drawing/2014/main" id="{24D90BCD-F022-15BA-920D-4610646EFCFD}"/>
              </a:ext>
            </a:extLst>
          </p:cNvPr>
          <p:cNvSpPr txBox="1"/>
          <p:nvPr/>
        </p:nvSpPr>
        <p:spPr>
          <a:xfrm>
            <a:off x="801947" y="6607056"/>
            <a:ext cx="10050086" cy="1661993"/>
          </a:xfrm>
          <a:prstGeom prst="rect">
            <a:avLst/>
          </a:prstGeom>
          <a:noFill/>
        </p:spPr>
        <p:txBody>
          <a:bodyPr wrap="square">
            <a:spAutoFit/>
          </a:bodyPr>
          <a:lstStyle/>
          <a:p>
            <a:pPr>
              <a:buNone/>
            </a:pPr>
            <a:r>
              <a:rPr lang="en-US" sz="3400" b="1" dirty="0">
                <a:latin typeface="Imprint MT Shadow" panose="04020605060303030202" pitchFamily="82" charset="0"/>
              </a:rPr>
              <a:t>a) Input Module</a:t>
            </a:r>
          </a:p>
          <a:p>
            <a:pPr>
              <a:buFont typeface="Arial" panose="020B0604020202020204" pitchFamily="34" charset="0"/>
              <a:buChar char="•"/>
            </a:pPr>
            <a:r>
              <a:rPr lang="en-US" sz="3400" dirty="0">
                <a:latin typeface="Imprint MT Shadow" panose="04020605060303030202" pitchFamily="82" charset="0"/>
              </a:rPr>
              <a:t>Webcam or video input </a:t>
            </a:r>
          </a:p>
          <a:p>
            <a:pPr>
              <a:buFont typeface="Arial" panose="020B0604020202020204" pitchFamily="34" charset="0"/>
              <a:buChar char="•"/>
            </a:pPr>
            <a:r>
              <a:rPr lang="en-US" sz="3400" dirty="0">
                <a:latin typeface="Imprint MT Shadow" panose="04020605060303030202" pitchFamily="82" charset="0"/>
              </a:rPr>
              <a:t>Frames extracted using OpenCV</a:t>
            </a:r>
          </a:p>
        </p:txBody>
      </p:sp>
      <p:sp>
        <p:nvSpPr>
          <p:cNvPr id="13" name="TextBox 12">
            <a:extLst>
              <a:ext uri="{FF2B5EF4-FFF2-40B4-BE49-F238E27FC236}">
                <a16:creationId xmlns:a16="http://schemas.microsoft.com/office/drawing/2014/main" id="{98450DE7-41CA-1468-2FE1-02F8827C27EE}"/>
              </a:ext>
            </a:extLst>
          </p:cNvPr>
          <p:cNvSpPr txBox="1"/>
          <p:nvPr/>
        </p:nvSpPr>
        <p:spPr>
          <a:xfrm>
            <a:off x="832427" y="8339058"/>
            <a:ext cx="14549466" cy="2708434"/>
          </a:xfrm>
          <a:prstGeom prst="rect">
            <a:avLst/>
          </a:prstGeom>
          <a:noFill/>
        </p:spPr>
        <p:txBody>
          <a:bodyPr wrap="square">
            <a:spAutoFit/>
          </a:bodyPr>
          <a:lstStyle/>
          <a:p>
            <a:pPr>
              <a:buNone/>
            </a:pPr>
            <a:r>
              <a:rPr lang="en-US" sz="3400" b="1" dirty="0">
                <a:latin typeface="Imprint MT Shadow" panose="04020605060303030202" pitchFamily="82" charset="0"/>
              </a:rPr>
              <a:t>b) Detection Module</a:t>
            </a:r>
          </a:p>
          <a:p>
            <a:pPr>
              <a:buNone/>
            </a:pPr>
            <a:r>
              <a:rPr lang="en-US" sz="3400" dirty="0">
                <a:latin typeface="Imprint MT Shadow" panose="04020605060303030202" pitchFamily="82" charset="0"/>
              </a:rPr>
              <a:t>Two modes:</a:t>
            </a:r>
          </a:p>
          <a:p>
            <a:pPr>
              <a:buFont typeface="+mj-lt"/>
              <a:buAutoNum type="arabicPeriod"/>
            </a:pPr>
            <a:r>
              <a:rPr lang="en-US" sz="3400" dirty="0">
                <a:latin typeface="Imprint MT Shadow" panose="04020605060303030202" pitchFamily="82" charset="0"/>
              </a:rPr>
              <a:t>YOLOv8 (if available) </a:t>
            </a:r>
          </a:p>
          <a:p>
            <a:pPr>
              <a:buFont typeface="+mj-lt"/>
              <a:buAutoNum type="arabicPeriod"/>
            </a:pPr>
            <a:r>
              <a:rPr lang="en-US" sz="3400" dirty="0">
                <a:latin typeface="Imprint MT Shadow" panose="04020605060303030202" pitchFamily="82" charset="0"/>
              </a:rPr>
              <a:t>Background Subtraction (fallback) </a:t>
            </a:r>
          </a:p>
          <a:p>
            <a:pPr>
              <a:buNone/>
            </a:pPr>
            <a:r>
              <a:rPr lang="en-US" sz="3400" dirty="0">
                <a:latin typeface="Imprint MT Shadow" panose="04020605060303030202" pitchFamily="82" charset="0"/>
              </a:rPr>
              <a:t>Output: Bounding boxes of vehicles</a:t>
            </a:r>
          </a:p>
        </p:txBody>
      </p:sp>
      <p:sp>
        <p:nvSpPr>
          <p:cNvPr id="2" name="object 5">
            <a:extLst>
              <a:ext uri="{FF2B5EF4-FFF2-40B4-BE49-F238E27FC236}">
                <a16:creationId xmlns:a16="http://schemas.microsoft.com/office/drawing/2014/main" id="{C8958B0F-7AE4-9D7F-F75D-6480BFBA2B5C}"/>
              </a:ext>
            </a:extLst>
          </p:cNvPr>
          <p:cNvSpPr/>
          <p:nvPr/>
        </p:nvSpPr>
        <p:spPr>
          <a:xfrm rot="5400000" flipV="1">
            <a:off x="13285499" y="4490749"/>
            <a:ext cx="11309352" cy="2327853"/>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31050480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37DEB0E-AA9C-F2CC-8C8C-A16738AE971F}"/>
              </a:ext>
            </a:extLst>
          </p:cNvPr>
          <p:cNvSpPr txBox="1"/>
          <p:nvPr/>
        </p:nvSpPr>
        <p:spPr>
          <a:xfrm>
            <a:off x="603250" y="473075"/>
            <a:ext cx="13411200" cy="3231654"/>
          </a:xfrm>
          <a:prstGeom prst="rect">
            <a:avLst/>
          </a:prstGeom>
          <a:noFill/>
        </p:spPr>
        <p:txBody>
          <a:bodyPr wrap="square">
            <a:spAutoFit/>
          </a:bodyPr>
          <a:lstStyle/>
          <a:p>
            <a:pPr>
              <a:buNone/>
            </a:pPr>
            <a:r>
              <a:rPr lang="en-US" sz="3400" b="1" dirty="0">
                <a:latin typeface="Imprint MT Shadow" panose="04020605060303030202" pitchFamily="82" charset="0"/>
              </a:rPr>
              <a:t>c) Tracking Module (SORT + Kalman Filter)</a:t>
            </a:r>
          </a:p>
          <a:p>
            <a:pPr>
              <a:buFont typeface="Arial" panose="020B0604020202020204" pitchFamily="34" charset="0"/>
              <a:buChar char="•"/>
            </a:pPr>
            <a:r>
              <a:rPr lang="en-US" sz="3400" dirty="0">
                <a:latin typeface="Imprint MT Shadow" panose="04020605060303030202" pitchFamily="82" charset="0"/>
              </a:rPr>
              <a:t>Assigns unique ID to each vehicle </a:t>
            </a:r>
          </a:p>
          <a:p>
            <a:pPr>
              <a:buFont typeface="Arial" panose="020B0604020202020204" pitchFamily="34" charset="0"/>
              <a:buChar char="•"/>
            </a:pPr>
            <a:r>
              <a:rPr lang="en-US" sz="3400" dirty="0">
                <a:latin typeface="Imprint MT Shadow" panose="04020605060303030202" pitchFamily="82" charset="0"/>
              </a:rPr>
              <a:t>Tracks movement across frames </a:t>
            </a:r>
          </a:p>
          <a:p>
            <a:pPr>
              <a:buFont typeface="Arial" panose="020B0604020202020204" pitchFamily="34" charset="0"/>
              <a:buChar char="•"/>
            </a:pPr>
            <a:r>
              <a:rPr lang="en-US" sz="3400" dirty="0">
                <a:latin typeface="Imprint MT Shadow" panose="04020605060303030202" pitchFamily="82" charset="0"/>
              </a:rPr>
              <a:t>Handles: </a:t>
            </a:r>
          </a:p>
          <a:p>
            <a:pPr marL="742950" lvl="1" indent="-285750">
              <a:buFont typeface="Arial" panose="020B0604020202020204" pitchFamily="34" charset="0"/>
              <a:buChar char="•"/>
            </a:pPr>
            <a:r>
              <a:rPr lang="en-US" sz="3400" dirty="0">
                <a:latin typeface="Imprint MT Shadow" panose="04020605060303030202" pitchFamily="82" charset="0"/>
              </a:rPr>
              <a:t>Occlusion </a:t>
            </a:r>
          </a:p>
          <a:p>
            <a:pPr marL="742950" lvl="1" indent="-285750">
              <a:buFont typeface="Arial" panose="020B0604020202020204" pitchFamily="34" charset="0"/>
              <a:buChar char="•"/>
            </a:pPr>
            <a:r>
              <a:rPr lang="en-US" sz="3400" dirty="0">
                <a:latin typeface="Imprint MT Shadow" panose="04020605060303030202" pitchFamily="82" charset="0"/>
              </a:rPr>
              <a:t>Missed detections</a:t>
            </a:r>
          </a:p>
        </p:txBody>
      </p:sp>
      <p:sp>
        <p:nvSpPr>
          <p:cNvPr id="5" name="TextBox 4">
            <a:extLst>
              <a:ext uri="{FF2B5EF4-FFF2-40B4-BE49-F238E27FC236}">
                <a16:creationId xmlns:a16="http://schemas.microsoft.com/office/drawing/2014/main" id="{6D3AF284-B620-501A-C44B-11894A2CD7DF}"/>
              </a:ext>
            </a:extLst>
          </p:cNvPr>
          <p:cNvSpPr txBox="1"/>
          <p:nvPr/>
        </p:nvSpPr>
        <p:spPr>
          <a:xfrm>
            <a:off x="755650" y="4054475"/>
            <a:ext cx="10050086" cy="5324535"/>
          </a:xfrm>
          <a:prstGeom prst="rect">
            <a:avLst/>
          </a:prstGeom>
          <a:noFill/>
        </p:spPr>
        <p:txBody>
          <a:bodyPr wrap="square">
            <a:spAutoFit/>
          </a:bodyPr>
          <a:lstStyle/>
          <a:p>
            <a:pPr>
              <a:buNone/>
            </a:pPr>
            <a:r>
              <a:rPr lang="en-US" sz="3400" b="1" dirty="0">
                <a:latin typeface="Imprint MT Shadow" panose="04020605060303030202" pitchFamily="82" charset="0"/>
              </a:rPr>
              <a:t>d) Feature Extraction Module</a:t>
            </a:r>
          </a:p>
          <a:p>
            <a:pPr>
              <a:buNone/>
            </a:pPr>
            <a:r>
              <a:rPr lang="en-US" sz="3400" dirty="0">
                <a:latin typeface="Imprint MT Shadow" panose="04020605060303030202" pitchFamily="82" charset="0"/>
              </a:rPr>
              <a:t>Features include:</a:t>
            </a:r>
          </a:p>
          <a:p>
            <a:pPr>
              <a:buFont typeface="Arial" panose="020B0604020202020204" pitchFamily="34" charset="0"/>
              <a:buChar char="•"/>
            </a:pPr>
            <a:r>
              <a:rPr lang="en-US" sz="3400" dirty="0">
                <a:latin typeface="Imprint MT Shadow" panose="04020605060303030202" pitchFamily="82" charset="0"/>
              </a:rPr>
              <a:t>Bounding box height &amp; width </a:t>
            </a:r>
          </a:p>
          <a:p>
            <a:pPr>
              <a:buFont typeface="Arial" panose="020B0604020202020204" pitchFamily="34" charset="0"/>
              <a:buChar char="•"/>
            </a:pPr>
            <a:r>
              <a:rPr lang="en-US" sz="3400" dirty="0">
                <a:latin typeface="Imprint MT Shadow" panose="04020605060303030202" pitchFamily="82" charset="0"/>
              </a:rPr>
              <a:t>Area &amp; aspect ratio </a:t>
            </a:r>
          </a:p>
          <a:p>
            <a:pPr>
              <a:buFont typeface="Arial" panose="020B0604020202020204" pitchFamily="34" charset="0"/>
              <a:buChar char="•"/>
            </a:pPr>
            <a:r>
              <a:rPr lang="en-US" sz="3400" dirty="0">
                <a:latin typeface="Imprint MT Shadow" panose="04020605060303030202" pitchFamily="82" charset="0"/>
              </a:rPr>
              <a:t>Position (cx, cy) </a:t>
            </a:r>
          </a:p>
          <a:p>
            <a:pPr>
              <a:buFont typeface="Arial" panose="020B0604020202020204" pitchFamily="34" charset="0"/>
              <a:buChar char="•"/>
            </a:pPr>
            <a:r>
              <a:rPr lang="en-US" sz="3400" dirty="0">
                <a:latin typeface="Imprint MT Shadow" panose="04020605060303030202" pitchFamily="82" charset="0"/>
              </a:rPr>
              <a:t>Speed (pixel change) </a:t>
            </a:r>
          </a:p>
          <a:p>
            <a:pPr>
              <a:buFont typeface="Arial" panose="020B0604020202020204" pitchFamily="34" charset="0"/>
              <a:buChar char="•"/>
            </a:pPr>
            <a:r>
              <a:rPr lang="en-US" sz="3400" dirty="0">
                <a:latin typeface="Imprint MT Shadow" panose="04020605060303030202" pitchFamily="82" charset="0"/>
              </a:rPr>
              <a:t>Acceleration &amp; jerk </a:t>
            </a:r>
          </a:p>
          <a:p>
            <a:pPr>
              <a:buFont typeface="Arial" panose="020B0604020202020204" pitchFamily="34" charset="0"/>
              <a:buChar char="•"/>
            </a:pPr>
            <a:r>
              <a:rPr lang="en-US" sz="3400" dirty="0">
                <a:latin typeface="Imprint MT Shadow" panose="04020605060303030202" pitchFamily="82" charset="0"/>
              </a:rPr>
              <a:t>Distance estimation </a:t>
            </a:r>
          </a:p>
          <a:p>
            <a:pPr>
              <a:buFont typeface="Arial" panose="020B0604020202020204" pitchFamily="34" charset="0"/>
              <a:buChar char="•"/>
            </a:pPr>
            <a:r>
              <a:rPr lang="en-US" sz="3400" dirty="0">
                <a:latin typeface="Imprint MT Shadow" panose="04020605060303030202" pitchFamily="82" charset="0"/>
              </a:rPr>
              <a:t>Time-to-Collision (TTC) </a:t>
            </a:r>
          </a:p>
          <a:p>
            <a:pPr>
              <a:buFont typeface="Arial" panose="020B0604020202020204" pitchFamily="34" charset="0"/>
              <a:buChar char="•"/>
            </a:pPr>
            <a:r>
              <a:rPr lang="en-US" sz="3400" dirty="0">
                <a:latin typeface="Imprint MT Shadow" panose="04020605060303030202" pitchFamily="82" charset="0"/>
              </a:rPr>
              <a:t>Lane position</a:t>
            </a:r>
          </a:p>
        </p:txBody>
      </p:sp>
      <p:sp>
        <p:nvSpPr>
          <p:cNvPr id="2" name="object 5">
            <a:extLst>
              <a:ext uri="{FF2B5EF4-FFF2-40B4-BE49-F238E27FC236}">
                <a16:creationId xmlns:a16="http://schemas.microsoft.com/office/drawing/2014/main" id="{F4888C70-467B-D380-3FE8-38A7A5FCF65C}"/>
              </a:ext>
            </a:extLst>
          </p:cNvPr>
          <p:cNvSpPr/>
          <p:nvPr/>
        </p:nvSpPr>
        <p:spPr>
          <a:xfrm rot="10800000" flipV="1">
            <a:off x="-12873" y="8981497"/>
            <a:ext cx="20129846" cy="2327853"/>
          </a:xfrm>
          <a:prstGeom prst="rect">
            <a:avLst/>
          </a:prstGeom>
          <a:blipFill>
            <a:blip r:embed="rId2" cstate="print"/>
            <a:stretch>
              <a:fillRect/>
            </a:stretch>
          </a:blipFill>
        </p:spPr>
        <p:txBody>
          <a:bodyPr wrap="square" lIns="0" tIns="0" rIns="0" bIns="0" rtlCol="0"/>
          <a:lstStyle/>
          <a:p>
            <a:endParaRPr dirty="0"/>
          </a:p>
        </p:txBody>
      </p:sp>
      <p:sp>
        <p:nvSpPr>
          <p:cNvPr id="4" name="bk object 16">
            <a:extLst>
              <a:ext uri="{FF2B5EF4-FFF2-40B4-BE49-F238E27FC236}">
                <a16:creationId xmlns:a16="http://schemas.microsoft.com/office/drawing/2014/main" id="{69CE94D3-6FAE-5E11-016E-6C73F4C8655E}"/>
              </a:ext>
            </a:extLst>
          </p:cNvPr>
          <p:cNvSpPr/>
          <p:nvPr/>
        </p:nvSpPr>
        <p:spPr>
          <a:xfrm rot="5400000" flipH="1" flipV="1">
            <a:off x="17990027" y="-13177"/>
            <a:ext cx="2100897" cy="212725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4103453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0A4FE1-1167-70BF-ACAE-9101ABAA32F2}"/>
              </a:ext>
            </a:extLst>
          </p:cNvPr>
          <p:cNvSpPr txBox="1"/>
          <p:nvPr/>
        </p:nvSpPr>
        <p:spPr>
          <a:xfrm>
            <a:off x="755650" y="1183461"/>
            <a:ext cx="10050086" cy="2185214"/>
          </a:xfrm>
          <a:prstGeom prst="rect">
            <a:avLst/>
          </a:prstGeom>
          <a:noFill/>
        </p:spPr>
        <p:txBody>
          <a:bodyPr wrap="square">
            <a:spAutoFit/>
          </a:bodyPr>
          <a:lstStyle/>
          <a:p>
            <a:pPr>
              <a:buNone/>
            </a:pPr>
            <a:r>
              <a:rPr lang="en-US" sz="3400" b="1" dirty="0">
                <a:latin typeface="Imprint MT Shadow" panose="04020605060303030202" pitchFamily="82" charset="0"/>
              </a:rPr>
              <a:t>e) Risk Prediction Module</a:t>
            </a:r>
          </a:p>
          <a:p>
            <a:pPr>
              <a:buFont typeface="Arial" panose="020B0604020202020204" pitchFamily="34" charset="0"/>
              <a:buChar char="•"/>
            </a:pPr>
            <a:r>
              <a:rPr lang="en-US" sz="3400" dirty="0">
                <a:latin typeface="Imprint MT Shadow" panose="04020605060303030202" pitchFamily="82" charset="0"/>
              </a:rPr>
              <a:t>Uses trained ML model (.</a:t>
            </a:r>
            <a:r>
              <a:rPr lang="en-US" sz="3400" dirty="0" err="1">
                <a:latin typeface="Imprint MT Shadow" panose="04020605060303030202" pitchFamily="82" charset="0"/>
              </a:rPr>
              <a:t>pkl</a:t>
            </a:r>
            <a:r>
              <a:rPr lang="en-US" sz="3400" dirty="0">
                <a:latin typeface="Imprint MT Shadow" panose="04020605060303030202" pitchFamily="82" charset="0"/>
              </a:rPr>
              <a:t>) </a:t>
            </a:r>
          </a:p>
          <a:p>
            <a:pPr>
              <a:buFont typeface="Arial" panose="020B0604020202020204" pitchFamily="34" charset="0"/>
              <a:buChar char="•"/>
            </a:pPr>
            <a:r>
              <a:rPr lang="en-US" sz="3400" dirty="0">
                <a:latin typeface="Imprint MT Shadow" panose="04020605060303030202" pitchFamily="82" charset="0"/>
              </a:rPr>
              <a:t>Outputs:</a:t>
            </a:r>
          </a:p>
          <a:p>
            <a:pPr rtl="0">
              <a:buFont typeface="Arial" panose="020B0604020202020204" pitchFamily="34" charset="0"/>
              <a:buChar char="•"/>
            </a:pPr>
            <a:r>
              <a:rPr lang="en-US" sz="3400" dirty="0">
                <a:latin typeface="Imprint MT Shadow" panose="04020605060303030202" pitchFamily="82" charset="0"/>
              </a:rPr>
              <a:t>SAFE / WARNING / DANGER</a:t>
            </a:r>
          </a:p>
        </p:txBody>
      </p:sp>
      <p:sp>
        <p:nvSpPr>
          <p:cNvPr id="5" name="TextBox 4">
            <a:extLst>
              <a:ext uri="{FF2B5EF4-FFF2-40B4-BE49-F238E27FC236}">
                <a16:creationId xmlns:a16="http://schemas.microsoft.com/office/drawing/2014/main" id="{87EA0652-803A-6AA9-5C1C-FDF3DEDD4757}"/>
              </a:ext>
            </a:extLst>
          </p:cNvPr>
          <p:cNvSpPr txBox="1"/>
          <p:nvPr/>
        </p:nvSpPr>
        <p:spPr>
          <a:xfrm>
            <a:off x="789478" y="3951055"/>
            <a:ext cx="10050086" cy="3754874"/>
          </a:xfrm>
          <a:prstGeom prst="rect">
            <a:avLst/>
          </a:prstGeom>
          <a:noFill/>
        </p:spPr>
        <p:txBody>
          <a:bodyPr wrap="square">
            <a:spAutoFit/>
          </a:bodyPr>
          <a:lstStyle/>
          <a:p>
            <a:pPr>
              <a:buNone/>
            </a:pPr>
            <a:r>
              <a:rPr lang="en-US" sz="3400" b="1" dirty="0">
                <a:latin typeface="Imprint MT Shadow" panose="04020605060303030202" pitchFamily="82" charset="0"/>
              </a:rPr>
              <a:t>f) Visualization Module</a:t>
            </a:r>
          </a:p>
          <a:p>
            <a:pPr>
              <a:buNone/>
            </a:pPr>
            <a:r>
              <a:rPr lang="en-US" sz="3400" dirty="0">
                <a:latin typeface="Imprint MT Shadow" panose="04020605060303030202" pitchFamily="82" charset="0"/>
              </a:rPr>
              <a:t>Displays:</a:t>
            </a:r>
          </a:p>
          <a:p>
            <a:pPr>
              <a:buFont typeface="Arial" panose="020B0604020202020204" pitchFamily="34" charset="0"/>
              <a:buChar char="•"/>
            </a:pPr>
            <a:r>
              <a:rPr lang="en-US" sz="3400" dirty="0">
                <a:latin typeface="Imprint MT Shadow" panose="04020605060303030202" pitchFamily="82" charset="0"/>
              </a:rPr>
              <a:t>Bounding boxes </a:t>
            </a:r>
          </a:p>
          <a:p>
            <a:pPr>
              <a:buFont typeface="Arial" panose="020B0604020202020204" pitchFamily="34" charset="0"/>
              <a:buChar char="•"/>
            </a:pPr>
            <a:r>
              <a:rPr lang="en-US" sz="3400" dirty="0">
                <a:latin typeface="Imprint MT Shadow" panose="04020605060303030202" pitchFamily="82" charset="0"/>
              </a:rPr>
              <a:t>Vehicle ID </a:t>
            </a:r>
          </a:p>
          <a:p>
            <a:pPr>
              <a:buFont typeface="Arial" panose="020B0604020202020204" pitchFamily="34" charset="0"/>
              <a:buChar char="•"/>
            </a:pPr>
            <a:r>
              <a:rPr lang="en-US" sz="3400" dirty="0">
                <a:latin typeface="Imprint MT Shadow" panose="04020605060303030202" pitchFamily="82" charset="0"/>
              </a:rPr>
              <a:t>Distance, Speed, TTC </a:t>
            </a:r>
          </a:p>
          <a:p>
            <a:pPr>
              <a:buFont typeface="Arial" panose="020B0604020202020204" pitchFamily="34" charset="0"/>
              <a:buChar char="•"/>
            </a:pPr>
            <a:r>
              <a:rPr lang="en-US" sz="3400" dirty="0">
                <a:latin typeface="Imprint MT Shadow" panose="04020605060303030202" pitchFamily="82" charset="0"/>
              </a:rPr>
              <a:t>Radar view </a:t>
            </a:r>
          </a:p>
          <a:p>
            <a:pPr>
              <a:buFont typeface="Arial" panose="020B0604020202020204" pitchFamily="34" charset="0"/>
              <a:buChar char="•"/>
            </a:pPr>
            <a:r>
              <a:rPr lang="en-US" sz="3400" dirty="0">
                <a:latin typeface="Imprint MT Shadow" panose="04020605060303030202" pitchFamily="82" charset="0"/>
              </a:rPr>
              <a:t>Alerts (collision warning) </a:t>
            </a:r>
          </a:p>
        </p:txBody>
      </p:sp>
      <p:sp>
        <p:nvSpPr>
          <p:cNvPr id="7" name="TextBox 6">
            <a:extLst>
              <a:ext uri="{FF2B5EF4-FFF2-40B4-BE49-F238E27FC236}">
                <a16:creationId xmlns:a16="http://schemas.microsoft.com/office/drawing/2014/main" id="{C5B7953E-7537-955D-9F46-CA15F7899FA8}"/>
              </a:ext>
            </a:extLst>
          </p:cNvPr>
          <p:cNvSpPr txBox="1"/>
          <p:nvPr/>
        </p:nvSpPr>
        <p:spPr>
          <a:xfrm>
            <a:off x="789478" y="8245475"/>
            <a:ext cx="18592800" cy="1661993"/>
          </a:xfrm>
          <a:prstGeom prst="rect">
            <a:avLst/>
          </a:prstGeom>
          <a:noFill/>
        </p:spPr>
        <p:txBody>
          <a:bodyPr wrap="square">
            <a:spAutoFit/>
          </a:bodyPr>
          <a:lstStyle/>
          <a:p>
            <a:pPr>
              <a:buNone/>
            </a:pPr>
            <a:r>
              <a:rPr lang="en-US" sz="3400" b="1" dirty="0">
                <a:latin typeface="Imprint MT Shadow" panose="04020605060303030202" pitchFamily="82" charset="0"/>
              </a:rPr>
              <a:t>3. Data Flow</a:t>
            </a:r>
          </a:p>
          <a:p>
            <a:pPr rtl="0">
              <a:buNone/>
            </a:pPr>
            <a:r>
              <a:rPr lang="en-US" sz="3400" dirty="0">
                <a:latin typeface="Courier New" panose="02070309020205020404" pitchFamily="49" charset="0"/>
              </a:rPr>
              <a:t>Input → Detection → Tracking → Feature Extraction → ML Model → Risk Prediction → Visualization</a:t>
            </a:r>
          </a:p>
        </p:txBody>
      </p:sp>
      <p:sp>
        <p:nvSpPr>
          <p:cNvPr id="2" name="object 5">
            <a:extLst>
              <a:ext uri="{FF2B5EF4-FFF2-40B4-BE49-F238E27FC236}">
                <a16:creationId xmlns:a16="http://schemas.microsoft.com/office/drawing/2014/main" id="{82752047-F050-399E-7521-BB5F57C5019B}"/>
              </a:ext>
            </a:extLst>
          </p:cNvPr>
          <p:cNvSpPr/>
          <p:nvPr/>
        </p:nvSpPr>
        <p:spPr>
          <a:xfrm flipV="1">
            <a:off x="-12873" y="0"/>
            <a:ext cx="20129846" cy="2327853"/>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77707938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09CEC-F67B-AFB2-721D-AE9CE78ECBE4}"/>
              </a:ext>
            </a:extLst>
          </p:cNvPr>
          <p:cNvSpPr txBox="1"/>
          <p:nvPr/>
        </p:nvSpPr>
        <p:spPr>
          <a:xfrm>
            <a:off x="755650" y="625475"/>
            <a:ext cx="10050086" cy="738664"/>
          </a:xfrm>
          <a:prstGeom prst="rect">
            <a:avLst/>
          </a:prstGeom>
          <a:noFill/>
        </p:spPr>
        <p:txBody>
          <a:bodyPr wrap="square">
            <a:spAutoFit/>
          </a:bodyPr>
          <a:lstStyle/>
          <a:p>
            <a:r>
              <a:rPr lang="en-IN" sz="4200" b="1" dirty="0">
                <a:solidFill>
                  <a:schemeClr val="accent1"/>
                </a:solidFill>
                <a:latin typeface="Imprint MT Shadow" panose="04020605060303030202" pitchFamily="82" charset="0"/>
              </a:rPr>
              <a:t>ALGORITHM (COLLISION)</a:t>
            </a:r>
          </a:p>
        </p:txBody>
      </p:sp>
      <p:sp>
        <p:nvSpPr>
          <p:cNvPr id="5" name="TextBox 4">
            <a:extLst>
              <a:ext uri="{FF2B5EF4-FFF2-40B4-BE49-F238E27FC236}">
                <a16:creationId xmlns:a16="http://schemas.microsoft.com/office/drawing/2014/main" id="{75340AA7-B16C-5EEA-6E23-25BFA3CCA347}"/>
              </a:ext>
            </a:extLst>
          </p:cNvPr>
          <p:cNvSpPr txBox="1"/>
          <p:nvPr/>
        </p:nvSpPr>
        <p:spPr>
          <a:xfrm>
            <a:off x="789478" y="1359232"/>
            <a:ext cx="10050086" cy="9941183"/>
          </a:xfrm>
          <a:prstGeom prst="rect">
            <a:avLst/>
          </a:prstGeom>
          <a:noFill/>
        </p:spPr>
        <p:txBody>
          <a:bodyPr wrap="square">
            <a:spAutoFit/>
          </a:bodyPr>
          <a:lstStyle/>
          <a:p>
            <a:r>
              <a:rPr lang="en-IN" sz="3200" dirty="0"/>
              <a:t>1. Start</a:t>
            </a:r>
          </a:p>
          <a:p>
            <a:r>
              <a:rPr lang="en-IN" sz="3200" dirty="0"/>
              <a:t>2. Load trained ML model (.</a:t>
            </a:r>
            <a:r>
              <a:rPr lang="en-IN" sz="3200" dirty="0" err="1"/>
              <a:t>pkl</a:t>
            </a:r>
            <a:r>
              <a:rPr lang="en-IN" sz="3200" dirty="0"/>
              <a:t>)</a:t>
            </a:r>
          </a:p>
          <a:p>
            <a:r>
              <a:rPr lang="en-IN" sz="3200" dirty="0"/>
              <a:t>3. Initialize video capture</a:t>
            </a:r>
          </a:p>
          <a:p>
            <a:r>
              <a:rPr lang="en-IN" sz="3200" dirty="0"/>
              <a:t>4. Initialize detector (YOLO / BG Subtraction)</a:t>
            </a:r>
          </a:p>
          <a:p>
            <a:r>
              <a:rPr lang="en-IN" sz="3200" dirty="0"/>
              <a:t>5. Initialize tracker (SORT)</a:t>
            </a:r>
          </a:p>
          <a:p>
            <a:endParaRPr lang="en-IN" sz="3200" dirty="0"/>
          </a:p>
          <a:p>
            <a:r>
              <a:rPr lang="en-IN" sz="3200" dirty="0"/>
              <a:t>6. For each frame:</a:t>
            </a:r>
          </a:p>
          <a:p>
            <a:r>
              <a:rPr lang="en-IN" sz="3200" dirty="0"/>
              <a:t>    a. Detect vehicles</a:t>
            </a:r>
          </a:p>
          <a:p>
            <a:r>
              <a:rPr lang="en-IN" sz="3200" dirty="0"/>
              <a:t>    b. Track vehicles using Kalman Filter</a:t>
            </a:r>
          </a:p>
          <a:p>
            <a:r>
              <a:rPr lang="en-IN" sz="3200" dirty="0"/>
              <a:t>    c. For each tracked vehicle:</a:t>
            </a:r>
          </a:p>
          <a:p>
            <a:r>
              <a:rPr lang="en-IN" sz="3200" dirty="0"/>
              <a:t>        </a:t>
            </a:r>
            <a:r>
              <a:rPr lang="en-IN" sz="3200" dirty="0" err="1"/>
              <a:t>i</a:t>
            </a:r>
            <a:r>
              <a:rPr lang="en-IN" sz="3200" dirty="0"/>
              <a:t>. Extract features</a:t>
            </a:r>
          </a:p>
          <a:p>
            <a:r>
              <a:rPr lang="en-IN" sz="3200" dirty="0"/>
              <a:t>        ii. Estimate distance &amp; speed</a:t>
            </a:r>
          </a:p>
          <a:p>
            <a:r>
              <a:rPr lang="en-IN" sz="3200" dirty="0"/>
              <a:t>        iii. Compute TTC</a:t>
            </a:r>
          </a:p>
          <a:p>
            <a:r>
              <a:rPr lang="en-IN" sz="3200" dirty="0"/>
              <a:t>        iv. Predict risk using ML model</a:t>
            </a:r>
          </a:p>
          <a:p>
            <a:r>
              <a:rPr lang="en-IN" sz="3200" dirty="0"/>
              <a:t>    d. Draw bounding boxes and metrics</a:t>
            </a:r>
          </a:p>
          <a:p>
            <a:r>
              <a:rPr lang="en-IN" sz="3200" dirty="0"/>
              <a:t>    e. Display radar and alerts</a:t>
            </a:r>
          </a:p>
          <a:p>
            <a:endParaRPr lang="en-IN" sz="3200" dirty="0"/>
          </a:p>
          <a:p>
            <a:r>
              <a:rPr lang="en-IN" sz="3200" dirty="0"/>
              <a:t>7. Show output frame</a:t>
            </a:r>
          </a:p>
          <a:p>
            <a:r>
              <a:rPr lang="en-IN" sz="3200" dirty="0"/>
              <a:t>8. Repeat until exit</a:t>
            </a:r>
          </a:p>
          <a:p>
            <a:r>
              <a:rPr lang="en-IN" sz="3200" dirty="0"/>
              <a:t>9. End</a:t>
            </a:r>
          </a:p>
        </p:txBody>
      </p:sp>
      <p:sp>
        <p:nvSpPr>
          <p:cNvPr id="2" name="object 7">
            <a:extLst>
              <a:ext uri="{FF2B5EF4-FFF2-40B4-BE49-F238E27FC236}">
                <a16:creationId xmlns:a16="http://schemas.microsoft.com/office/drawing/2014/main" id="{EB670F02-1B4F-BA4D-4BD3-5232C1B14E95}"/>
              </a:ext>
            </a:extLst>
          </p:cNvPr>
          <p:cNvSpPr/>
          <p:nvPr/>
        </p:nvSpPr>
        <p:spPr>
          <a:xfrm rot="10800000" flipH="1">
            <a:off x="17950005" y="0"/>
            <a:ext cx="2154095" cy="1127950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5876340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8BF044F-2EA2-3684-FD6F-6096721570ED}"/>
              </a:ext>
            </a:extLst>
          </p:cNvPr>
          <p:cNvSpPr txBox="1"/>
          <p:nvPr/>
        </p:nvSpPr>
        <p:spPr>
          <a:xfrm>
            <a:off x="679450" y="549275"/>
            <a:ext cx="13790006" cy="738664"/>
          </a:xfrm>
          <a:prstGeom prst="rect">
            <a:avLst/>
          </a:prstGeom>
          <a:noFill/>
        </p:spPr>
        <p:txBody>
          <a:bodyPr wrap="square">
            <a:spAutoFit/>
          </a:bodyPr>
          <a:lstStyle/>
          <a:p>
            <a:r>
              <a:rPr lang="en-IN" sz="4200" b="1" dirty="0">
                <a:solidFill>
                  <a:schemeClr val="accent1"/>
                </a:solidFill>
                <a:latin typeface="Imprint MT Shadow" panose="04020605060303030202" pitchFamily="82" charset="0"/>
              </a:rPr>
              <a:t>ALGORITHM TRACING (STEP-BY-STEP)</a:t>
            </a:r>
          </a:p>
        </p:txBody>
      </p:sp>
      <p:sp>
        <p:nvSpPr>
          <p:cNvPr id="5" name="TextBox 4">
            <a:extLst>
              <a:ext uri="{FF2B5EF4-FFF2-40B4-BE49-F238E27FC236}">
                <a16:creationId xmlns:a16="http://schemas.microsoft.com/office/drawing/2014/main" id="{7B5A3F1A-1F49-33CE-C920-9803013C2189}"/>
              </a:ext>
            </a:extLst>
          </p:cNvPr>
          <p:cNvSpPr txBox="1"/>
          <p:nvPr/>
        </p:nvSpPr>
        <p:spPr>
          <a:xfrm>
            <a:off x="679450" y="1616075"/>
            <a:ext cx="10050086" cy="615553"/>
          </a:xfrm>
          <a:prstGeom prst="rect">
            <a:avLst/>
          </a:prstGeom>
          <a:noFill/>
        </p:spPr>
        <p:txBody>
          <a:bodyPr wrap="square">
            <a:spAutoFit/>
          </a:bodyPr>
          <a:lstStyle/>
          <a:p>
            <a:r>
              <a:rPr lang="en-IN" sz="3400" dirty="0"/>
              <a:t>Example Vehicle Tracking</a:t>
            </a:r>
          </a:p>
        </p:txBody>
      </p:sp>
      <p:sp>
        <p:nvSpPr>
          <p:cNvPr id="7" name="TextBox 6">
            <a:extLst>
              <a:ext uri="{FF2B5EF4-FFF2-40B4-BE49-F238E27FC236}">
                <a16:creationId xmlns:a16="http://schemas.microsoft.com/office/drawing/2014/main" id="{239DD6E1-5D37-BBC9-673E-40D078FAA83B}"/>
              </a:ext>
            </a:extLst>
          </p:cNvPr>
          <p:cNvSpPr txBox="1"/>
          <p:nvPr/>
        </p:nvSpPr>
        <p:spPr>
          <a:xfrm>
            <a:off x="674484" y="2835275"/>
            <a:ext cx="14254365" cy="1661993"/>
          </a:xfrm>
          <a:prstGeom prst="rect">
            <a:avLst/>
          </a:prstGeom>
          <a:noFill/>
        </p:spPr>
        <p:txBody>
          <a:bodyPr wrap="square">
            <a:spAutoFit/>
          </a:bodyPr>
          <a:lstStyle/>
          <a:p>
            <a:pPr>
              <a:buNone/>
            </a:pPr>
            <a:r>
              <a:rPr lang="en-US" sz="3400" b="1" dirty="0"/>
              <a:t>Step 1: Detection</a:t>
            </a:r>
          </a:p>
          <a:p>
            <a:pPr>
              <a:buNone/>
            </a:pPr>
            <a:r>
              <a:rPr lang="en-US" sz="3400" dirty="0"/>
              <a:t>Frame detects:</a:t>
            </a:r>
          </a:p>
          <a:p>
            <a:pPr rtl="0">
              <a:buNone/>
            </a:pPr>
            <a:r>
              <a:rPr lang="en-US" sz="3400" dirty="0">
                <a:latin typeface="Courier New" panose="02070309020205020404" pitchFamily="49" charset="0"/>
              </a:rPr>
              <a:t>Vehicle A → </a:t>
            </a:r>
            <a:r>
              <a:rPr lang="en-US" sz="3400" dirty="0" err="1">
                <a:latin typeface="Courier New" panose="02070309020205020404" pitchFamily="49" charset="0"/>
              </a:rPr>
              <a:t>bbox</a:t>
            </a:r>
            <a:r>
              <a:rPr lang="en-US" sz="3400" dirty="0">
                <a:latin typeface="Courier New" panose="02070309020205020404" pitchFamily="49" charset="0"/>
              </a:rPr>
              <a:t> (x, y, w, h)</a:t>
            </a:r>
          </a:p>
        </p:txBody>
      </p:sp>
      <p:sp>
        <p:nvSpPr>
          <p:cNvPr id="9" name="TextBox 8">
            <a:extLst>
              <a:ext uri="{FF2B5EF4-FFF2-40B4-BE49-F238E27FC236}">
                <a16:creationId xmlns:a16="http://schemas.microsoft.com/office/drawing/2014/main" id="{500A3F2B-8BD8-BC6E-854E-44E7BA7A4464}"/>
              </a:ext>
            </a:extLst>
          </p:cNvPr>
          <p:cNvSpPr txBox="1"/>
          <p:nvPr/>
        </p:nvSpPr>
        <p:spPr>
          <a:xfrm>
            <a:off x="679450" y="4892675"/>
            <a:ext cx="10050086" cy="1661993"/>
          </a:xfrm>
          <a:prstGeom prst="rect">
            <a:avLst/>
          </a:prstGeom>
          <a:noFill/>
        </p:spPr>
        <p:txBody>
          <a:bodyPr wrap="square">
            <a:spAutoFit/>
          </a:bodyPr>
          <a:lstStyle/>
          <a:p>
            <a:pPr>
              <a:buNone/>
            </a:pPr>
            <a:r>
              <a:rPr lang="en-US" sz="3400" b="1" dirty="0"/>
              <a:t>Step 2: Tracking</a:t>
            </a:r>
          </a:p>
          <a:p>
            <a:pPr>
              <a:buFont typeface="Arial" panose="020B0604020202020204" pitchFamily="34" charset="0"/>
              <a:buChar char="•"/>
            </a:pPr>
            <a:r>
              <a:rPr lang="en-US" sz="3400" dirty="0"/>
              <a:t>Assigned ID: </a:t>
            </a:r>
          </a:p>
          <a:p>
            <a:pPr rtl="0">
              <a:buNone/>
            </a:pPr>
            <a:r>
              <a:rPr lang="en-US" sz="3400" dirty="0">
                <a:latin typeface="Courier New" panose="02070309020205020404" pitchFamily="49" charset="0"/>
              </a:rPr>
              <a:t>Vehicle A → ID = 1</a:t>
            </a:r>
          </a:p>
        </p:txBody>
      </p:sp>
      <p:sp>
        <p:nvSpPr>
          <p:cNvPr id="11" name="TextBox 10">
            <a:extLst>
              <a:ext uri="{FF2B5EF4-FFF2-40B4-BE49-F238E27FC236}">
                <a16:creationId xmlns:a16="http://schemas.microsoft.com/office/drawing/2014/main" id="{9DDEB039-27B1-BBEF-824F-7AFAE3C8C321}"/>
              </a:ext>
            </a:extLst>
          </p:cNvPr>
          <p:cNvSpPr txBox="1"/>
          <p:nvPr/>
        </p:nvSpPr>
        <p:spPr>
          <a:xfrm>
            <a:off x="673676" y="6950075"/>
            <a:ext cx="10050086" cy="2708434"/>
          </a:xfrm>
          <a:prstGeom prst="rect">
            <a:avLst/>
          </a:prstGeom>
          <a:noFill/>
        </p:spPr>
        <p:txBody>
          <a:bodyPr wrap="square">
            <a:spAutoFit/>
          </a:bodyPr>
          <a:lstStyle/>
          <a:p>
            <a:pPr>
              <a:buNone/>
            </a:pPr>
            <a:r>
              <a:rPr lang="en-US" sz="3400" b="1" dirty="0"/>
              <a:t>Step 3: Feature Extraction</a:t>
            </a:r>
          </a:p>
          <a:p>
            <a:pPr>
              <a:buNone/>
            </a:pPr>
            <a:r>
              <a:rPr lang="en-US" sz="3400" dirty="0"/>
              <a:t>From your code:</a:t>
            </a:r>
          </a:p>
          <a:p>
            <a:pPr>
              <a:buFont typeface="Arial" panose="020B0604020202020204" pitchFamily="34" charset="0"/>
              <a:buChar char="•"/>
            </a:pPr>
            <a:r>
              <a:rPr lang="en-US" sz="3400" dirty="0"/>
              <a:t>Height = 120 </a:t>
            </a:r>
            <a:r>
              <a:rPr lang="en-US" sz="3400" dirty="0" err="1"/>
              <a:t>px</a:t>
            </a:r>
            <a:r>
              <a:rPr lang="en-US" sz="3400" dirty="0"/>
              <a:t> </a:t>
            </a:r>
          </a:p>
          <a:p>
            <a:pPr>
              <a:buFont typeface="Arial" panose="020B0604020202020204" pitchFamily="34" charset="0"/>
              <a:buChar char="•"/>
            </a:pPr>
            <a:r>
              <a:rPr lang="en-US" sz="3400" dirty="0"/>
              <a:t>Previous height = 100 </a:t>
            </a:r>
            <a:r>
              <a:rPr lang="en-US" sz="3400" dirty="0" err="1"/>
              <a:t>px</a:t>
            </a:r>
            <a:r>
              <a:rPr lang="en-US" sz="3400" dirty="0"/>
              <a:t> </a:t>
            </a:r>
          </a:p>
          <a:p>
            <a:pPr rtl="0">
              <a:buNone/>
            </a:pPr>
            <a:r>
              <a:rPr lang="en-US" sz="3400" dirty="0">
                <a:latin typeface="Courier New" panose="02070309020205020404" pitchFamily="49" charset="0"/>
              </a:rPr>
              <a:t>Speed (pixel) = 120 - 100 = 20</a:t>
            </a:r>
          </a:p>
        </p:txBody>
      </p:sp>
      <p:sp>
        <p:nvSpPr>
          <p:cNvPr id="2" name="object 5">
            <a:extLst>
              <a:ext uri="{FF2B5EF4-FFF2-40B4-BE49-F238E27FC236}">
                <a16:creationId xmlns:a16="http://schemas.microsoft.com/office/drawing/2014/main" id="{DB634B82-97F3-BC2C-5FDA-4CE14A8FD6B6}"/>
              </a:ext>
            </a:extLst>
          </p:cNvPr>
          <p:cNvSpPr/>
          <p:nvPr/>
        </p:nvSpPr>
        <p:spPr>
          <a:xfrm rot="10800000" flipV="1">
            <a:off x="-12873" y="9647357"/>
            <a:ext cx="20129846" cy="1661993"/>
          </a:xfrm>
          <a:prstGeom prst="rect">
            <a:avLst/>
          </a:prstGeom>
          <a:blipFill>
            <a:blip r:embed="rId2" cstate="print"/>
            <a:stretch>
              <a:fillRect/>
            </a:stretch>
          </a:blipFill>
        </p:spPr>
        <p:txBody>
          <a:bodyPr wrap="square" lIns="0" tIns="0" rIns="0" bIns="0" rtlCol="0"/>
          <a:lstStyle/>
          <a:p>
            <a:endParaRPr dirty="0"/>
          </a:p>
        </p:txBody>
      </p:sp>
      <p:sp>
        <p:nvSpPr>
          <p:cNvPr id="4" name="bk object 16">
            <a:extLst>
              <a:ext uri="{FF2B5EF4-FFF2-40B4-BE49-F238E27FC236}">
                <a16:creationId xmlns:a16="http://schemas.microsoft.com/office/drawing/2014/main" id="{73B09624-1364-C671-50BE-1AC2AD607F6B}"/>
              </a:ext>
            </a:extLst>
          </p:cNvPr>
          <p:cNvSpPr/>
          <p:nvPr/>
        </p:nvSpPr>
        <p:spPr>
          <a:xfrm rot="5400000" flipH="1" flipV="1">
            <a:off x="18247579" y="-194528"/>
            <a:ext cx="1661994" cy="2051049"/>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15958647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03DE3B-13F3-9D2B-968B-055F49AF5D6C}"/>
              </a:ext>
            </a:extLst>
          </p:cNvPr>
          <p:cNvSpPr txBox="1"/>
          <p:nvPr/>
        </p:nvSpPr>
        <p:spPr>
          <a:xfrm>
            <a:off x="755650" y="701675"/>
            <a:ext cx="14020800" cy="2708434"/>
          </a:xfrm>
          <a:prstGeom prst="rect">
            <a:avLst/>
          </a:prstGeom>
          <a:noFill/>
        </p:spPr>
        <p:txBody>
          <a:bodyPr wrap="square">
            <a:spAutoFit/>
          </a:bodyPr>
          <a:lstStyle/>
          <a:p>
            <a:pPr>
              <a:buNone/>
            </a:pPr>
            <a:r>
              <a:rPr lang="en-US" sz="3400" b="1" dirty="0"/>
              <a:t>Step 4: Distance Calculation</a:t>
            </a:r>
          </a:p>
          <a:p>
            <a:pPr rtl="0">
              <a:buNone/>
            </a:pPr>
            <a:r>
              <a:rPr lang="en-US" sz="3400" dirty="0">
                <a:latin typeface="Courier New" panose="02070309020205020404" pitchFamily="49" charset="0"/>
              </a:rPr>
              <a:t>Distance = (Real Height × Focal Length) / Bounding Box Height</a:t>
            </a:r>
            <a:br>
              <a:rPr lang="en-US" sz="3400" dirty="0">
                <a:latin typeface="Courier New" panose="02070309020205020404" pitchFamily="49" charset="0"/>
              </a:rPr>
            </a:br>
            <a:r>
              <a:rPr lang="en-US" sz="3400" dirty="0">
                <a:latin typeface="Courier New" panose="02070309020205020404" pitchFamily="49" charset="0"/>
              </a:rPr>
              <a:t>         = (1.5 × 700) / 120</a:t>
            </a:r>
            <a:br>
              <a:rPr lang="en-US" sz="3400" dirty="0">
                <a:latin typeface="Courier New" panose="02070309020205020404" pitchFamily="49" charset="0"/>
              </a:rPr>
            </a:br>
            <a:r>
              <a:rPr lang="en-US" sz="3400" dirty="0">
                <a:latin typeface="Courier New" panose="02070309020205020404" pitchFamily="49" charset="0"/>
              </a:rPr>
              <a:t>         ≈ 8.75 meters</a:t>
            </a:r>
          </a:p>
        </p:txBody>
      </p:sp>
      <p:sp>
        <p:nvSpPr>
          <p:cNvPr id="5" name="TextBox 4">
            <a:extLst>
              <a:ext uri="{FF2B5EF4-FFF2-40B4-BE49-F238E27FC236}">
                <a16:creationId xmlns:a16="http://schemas.microsoft.com/office/drawing/2014/main" id="{03C5B2A4-1232-66B2-9755-AA5C4CF6C34B}"/>
              </a:ext>
            </a:extLst>
          </p:cNvPr>
          <p:cNvSpPr txBox="1"/>
          <p:nvPr/>
        </p:nvSpPr>
        <p:spPr>
          <a:xfrm>
            <a:off x="755650" y="3891801"/>
            <a:ext cx="14478000" cy="1138773"/>
          </a:xfrm>
          <a:prstGeom prst="rect">
            <a:avLst/>
          </a:prstGeom>
          <a:noFill/>
        </p:spPr>
        <p:txBody>
          <a:bodyPr wrap="square">
            <a:spAutoFit/>
          </a:bodyPr>
          <a:lstStyle/>
          <a:p>
            <a:pPr>
              <a:buNone/>
            </a:pPr>
            <a:r>
              <a:rPr lang="en-US" sz="3400" b="1" dirty="0"/>
              <a:t>Step 5: Speed Conversion</a:t>
            </a:r>
          </a:p>
          <a:p>
            <a:pPr rtl="0">
              <a:buNone/>
            </a:pPr>
            <a:r>
              <a:rPr lang="en-US" sz="3400" dirty="0">
                <a:latin typeface="Courier New" panose="02070309020205020404" pitchFamily="49" charset="0"/>
              </a:rPr>
              <a:t>Speed (m/s) = </a:t>
            </a:r>
            <a:r>
              <a:rPr lang="en-US" sz="3400" dirty="0" err="1">
                <a:latin typeface="Courier New" panose="02070309020205020404" pitchFamily="49" charset="0"/>
              </a:rPr>
              <a:t>pixel_speed</a:t>
            </a:r>
            <a:r>
              <a:rPr lang="en-US" sz="3400" dirty="0">
                <a:latin typeface="Courier New" panose="02070309020205020404" pitchFamily="49" charset="0"/>
              </a:rPr>
              <a:t> × scaling × FPS</a:t>
            </a:r>
          </a:p>
        </p:txBody>
      </p:sp>
      <p:sp>
        <p:nvSpPr>
          <p:cNvPr id="7" name="TextBox 6">
            <a:extLst>
              <a:ext uri="{FF2B5EF4-FFF2-40B4-BE49-F238E27FC236}">
                <a16:creationId xmlns:a16="http://schemas.microsoft.com/office/drawing/2014/main" id="{FC827607-D890-41DC-84C9-2CB4DAE77D03}"/>
              </a:ext>
            </a:extLst>
          </p:cNvPr>
          <p:cNvSpPr txBox="1"/>
          <p:nvPr/>
        </p:nvSpPr>
        <p:spPr>
          <a:xfrm>
            <a:off x="755650" y="5654675"/>
            <a:ext cx="10050086" cy="1661993"/>
          </a:xfrm>
          <a:prstGeom prst="rect">
            <a:avLst/>
          </a:prstGeom>
          <a:noFill/>
        </p:spPr>
        <p:txBody>
          <a:bodyPr wrap="square">
            <a:spAutoFit/>
          </a:bodyPr>
          <a:lstStyle/>
          <a:p>
            <a:pPr>
              <a:buNone/>
            </a:pPr>
            <a:r>
              <a:rPr lang="en-US" sz="3400" b="1" dirty="0"/>
              <a:t>Step 6: Time-to-Collision (TTC)</a:t>
            </a:r>
          </a:p>
          <a:p>
            <a:pPr rtl="0">
              <a:buNone/>
            </a:pPr>
            <a:r>
              <a:rPr lang="en-US" sz="3400" dirty="0">
                <a:latin typeface="Courier New" panose="02070309020205020404" pitchFamily="49" charset="0"/>
              </a:rPr>
              <a:t>TTC = Distance / Speed</a:t>
            </a:r>
            <a:br>
              <a:rPr lang="en-US" sz="3400" dirty="0">
                <a:latin typeface="Courier New" panose="02070309020205020404" pitchFamily="49" charset="0"/>
              </a:rPr>
            </a:br>
            <a:r>
              <a:rPr lang="en-US" sz="3400" dirty="0">
                <a:latin typeface="Courier New" panose="02070309020205020404" pitchFamily="49" charset="0"/>
              </a:rPr>
              <a:t>    ≈ 8.75 / speed</a:t>
            </a:r>
          </a:p>
        </p:txBody>
      </p:sp>
      <p:sp>
        <p:nvSpPr>
          <p:cNvPr id="9" name="TextBox 8">
            <a:extLst>
              <a:ext uri="{FF2B5EF4-FFF2-40B4-BE49-F238E27FC236}">
                <a16:creationId xmlns:a16="http://schemas.microsoft.com/office/drawing/2014/main" id="{BF3B0402-94F8-44C6-2678-64D223B5CF9C}"/>
              </a:ext>
            </a:extLst>
          </p:cNvPr>
          <p:cNvSpPr txBox="1"/>
          <p:nvPr/>
        </p:nvSpPr>
        <p:spPr>
          <a:xfrm>
            <a:off x="755650" y="7616667"/>
            <a:ext cx="17754600" cy="2708434"/>
          </a:xfrm>
          <a:prstGeom prst="rect">
            <a:avLst/>
          </a:prstGeom>
          <a:noFill/>
        </p:spPr>
        <p:txBody>
          <a:bodyPr wrap="square">
            <a:spAutoFit/>
          </a:bodyPr>
          <a:lstStyle/>
          <a:p>
            <a:pPr>
              <a:buNone/>
            </a:pPr>
            <a:r>
              <a:rPr lang="en-IN" sz="3400" b="1" dirty="0"/>
              <a:t>Step 7: ML Prediction</a:t>
            </a:r>
          </a:p>
          <a:p>
            <a:pPr>
              <a:buNone/>
            </a:pPr>
            <a:r>
              <a:rPr lang="en-IN" sz="3400" dirty="0"/>
              <a:t>Model input:</a:t>
            </a:r>
          </a:p>
          <a:p>
            <a:pPr rtl="0">
              <a:buNone/>
            </a:pPr>
            <a:r>
              <a:rPr lang="en-IN" sz="3400" dirty="0">
                <a:latin typeface="Courier New" panose="02070309020205020404" pitchFamily="49" charset="0"/>
              </a:rPr>
              <a:t>[</a:t>
            </a:r>
            <a:r>
              <a:rPr lang="en-IN" sz="3400" dirty="0" err="1">
                <a:latin typeface="Courier New" panose="02070309020205020404" pitchFamily="49" charset="0"/>
              </a:rPr>
              <a:t>bh</a:t>
            </a:r>
            <a:r>
              <a:rPr lang="en-IN" sz="3400" dirty="0">
                <a:latin typeface="Courier New" panose="02070309020205020404" pitchFamily="49" charset="0"/>
              </a:rPr>
              <a:t>, </a:t>
            </a:r>
            <a:r>
              <a:rPr lang="en-IN" sz="3400" dirty="0" err="1">
                <a:latin typeface="Courier New" panose="02070309020205020404" pitchFamily="49" charset="0"/>
              </a:rPr>
              <a:t>bw</a:t>
            </a:r>
            <a:r>
              <a:rPr lang="en-IN" sz="3400" dirty="0">
                <a:latin typeface="Courier New" panose="02070309020205020404" pitchFamily="49" charset="0"/>
              </a:rPr>
              <a:t>, area, aspect, cx, cy, speed, accel, jerk, </a:t>
            </a:r>
            <a:r>
              <a:rPr lang="en-IN" sz="3400" dirty="0" err="1">
                <a:latin typeface="Courier New" panose="02070309020205020404" pitchFamily="49" charset="0"/>
              </a:rPr>
              <a:t>dist</a:t>
            </a:r>
            <a:r>
              <a:rPr lang="en-IN" sz="3400" dirty="0">
                <a:latin typeface="Courier New" panose="02070309020205020404" pitchFamily="49" charset="0"/>
              </a:rPr>
              <a:t>, </a:t>
            </a:r>
            <a:r>
              <a:rPr lang="en-IN" sz="3400" dirty="0" err="1">
                <a:latin typeface="Courier New" panose="02070309020205020404" pitchFamily="49" charset="0"/>
              </a:rPr>
              <a:t>ttc</a:t>
            </a:r>
            <a:r>
              <a:rPr lang="en-IN" sz="3400" dirty="0">
                <a:latin typeface="Courier New" panose="02070309020205020404" pitchFamily="49" charset="0"/>
              </a:rPr>
              <a:t>, ...]</a:t>
            </a:r>
          </a:p>
          <a:p>
            <a:pPr>
              <a:buNone/>
            </a:pPr>
            <a:r>
              <a:rPr lang="en-IN" sz="3400" dirty="0"/>
              <a:t>Output: </a:t>
            </a:r>
            <a:r>
              <a:rPr lang="en-IN" sz="3400" dirty="0">
                <a:latin typeface="Courier New" panose="02070309020205020404" pitchFamily="49" charset="0"/>
              </a:rPr>
              <a:t>[SAFE = 0.1, WARNING = 0.3, DANGER = 0.6]</a:t>
            </a:r>
          </a:p>
          <a:p>
            <a:pPr>
              <a:buNone/>
            </a:pPr>
            <a:r>
              <a:rPr lang="en-IN" sz="3400" dirty="0"/>
              <a:t>Final label: </a:t>
            </a:r>
            <a:r>
              <a:rPr lang="en-IN" sz="3400" dirty="0">
                <a:latin typeface="Courier New" panose="02070309020205020404" pitchFamily="49" charset="0"/>
              </a:rPr>
              <a:t>DANGER</a:t>
            </a:r>
          </a:p>
        </p:txBody>
      </p:sp>
      <p:sp>
        <p:nvSpPr>
          <p:cNvPr id="4" name="object 5">
            <a:extLst>
              <a:ext uri="{FF2B5EF4-FFF2-40B4-BE49-F238E27FC236}">
                <a16:creationId xmlns:a16="http://schemas.microsoft.com/office/drawing/2014/main" id="{5644716E-F9EB-EF98-F349-C71784CF832F}"/>
              </a:ext>
            </a:extLst>
          </p:cNvPr>
          <p:cNvSpPr/>
          <p:nvPr/>
        </p:nvSpPr>
        <p:spPr>
          <a:xfrm rot="5400000" flipV="1">
            <a:off x="13652501" y="4857751"/>
            <a:ext cx="11309352" cy="1593850"/>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3416246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E74BE1-6617-7D1B-28F9-903B97C805A0}"/>
              </a:ext>
            </a:extLst>
          </p:cNvPr>
          <p:cNvSpPr txBox="1"/>
          <p:nvPr/>
        </p:nvSpPr>
        <p:spPr>
          <a:xfrm>
            <a:off x="829656" y="1235075"/>
            <a:ext cx="16383000" cy="3754874"/>
          </a:xfrm>
          <a:prstGeom prst="rect">
            <a:avLst/>
          </a:prstGeom>
          <a:noFill/>
        </p:spPr>
        <p:txBody>
          <a:bodyPr wrap="square">
            <a:spAutoFit/>
          </a:bodyPr>
          <a:lstStyle/>
          <a:p>
            <a:pPr>
              <a:buNone/>
            </a:pPr>
            <a:r>
              <a:rPr lang="en-US" sz="3400" b="1" dirty="0"/>
              <a:t>Step 8: Visualization</a:t>
            </a:r>
          </a:p>
          <a:p>
            <a:pPr>
              <a:buNone/>
            </a:pPr>
            <a:r>
              <a:rPr lang="en-US" sz="3400" dirty="0"/>
              <a:t>System displays:</a:t>
            </a:r>
          </a:p>
          <a:p>
            <a:pPr rtl="0">
              <a:buNone/>
            </a:pPr>
            <a:r>
              <a:rPr lang="en-US" sz="3400" dirty="0">
                <a:latin typeface="Courier New" panose="02070309020205020404" pitchFamily="49" charset="0"/>
              </a:rPr>
              <a:t>Vehicle ID: #1</a:t>
            </a:r>
            <a:br>
              <a:rPr lang="en-US" sz="3400" dirty="0">
                <a:latin typeface="Courier New" panose="02070309020205020404" pitchFamily="49" charset="0"/>
              </a:rPr>
            </a:br>
            <a:r>
              <a:rPr lang="en-US" sz="3400" dirty="0">
                <a:latin typeface="Courier New" panose="02070309020205020404" pitchFamily="49" charset="0"/>
              </a:rPr>
              <a:t>Distance: 8.7 m</a:t>
            </a:r>
            <a:br>
              <a:rPr lang="en-US" sz="3400" dirty="0">
                <a:latin typeface="Courier New" panose="02070309020205020404" pitchFamily="49" charset="0"/>
              </a:rPr>
            </a:br>
            <a:r>
              <a:rPr lang="en-US" sz="3400" dirty="0">
                <a:latin typeface="Courier New" panose="02070309020205020404" pitchFamily="49" charset="0"/>
              </a:rPr>
              <a:t>Speed: 32 km/h</a:t>
            </a:r>
            <a:br>
              <a:rPr lang="en-US" sz="3400" dirty="0">
                <a:latin typeface="Courier New" panose="02070309020205020404" pitchFamily="49" charset="0"/>
              </a:rPr>
            </a:br>
            <a:r>
              <a:rPr lang="en-US" sz="3400" dirty="0">
                <a:latin typeface="Courier New" panose="02070309020205020404" pitchFamily="49" charset="0"/>
              </a:rPr>
              <a:t>TTC: 1.2 s</a:t>
            </a:r>
            <a:br>
              <a:rPr lang="en-US" sz="3400" dirty="0">
                <a:latin typeface="Courier New" panose="02070309020205020404" pitchFamily="49" charset="0"/>
              </a:rPr>
            </a:br>
            <a:r>
              <a:rPr lang="en-US" sz="3400" dirty="0">
                <a:latin typeface="Courier New" panose="02070309020205020404" pitchFamily="49" charset="0"/>
              </a:rPr>
              <a:t>Risk: DANGER</a:t>
            </a:r>
          </a:p>
        </p:txBody>
      </p:sp>
      <p:sp>
        <p:nvSpPr>
          <p:cNvPr id="5" name="TextBox 4">
            <a:extLst>
              <a:ext uri="{FF2B5EF4-FFF2-40B4-BE49-F238E27FC236}">
                <a16:creationId xmlns:a16="http://schemas.microsoft.com/office/drawing/2014/main" id="{81017A15-7149-CFDE-9EE4-3FCCCE83D026}"/>
              </a:ext>
            </a:extLst>
          </p:cNvPr>
          <p:cNvSpPr txBox="1"/>
          <p:nvPr/>
        </p:nvSpPr>
        <p:spPr>
          <a:xfrm>
            <a:off x="829656" y="5639752"/>
            <a:ext cx="14401800" cy="2708434"/>
          </a:xfrm>
          <a:prstGeom prst="rect">
            <a:avLst/>
          </a:prstGeom>
          <a:noFill/>
        </p:spPr>
        <p:txBody>
          <a:bodyPr wrap="square">
            <a:spAutoFit/>
          </a:bodyPr>
          <a:lstStyle/>
          <a:p>
            <a:pPr>
              <a:buNone/>
            </a:pPr>
            <a:r>
              <a:rPr lang="en-US" sz="3400" b="1" dirty="0"/>
              <a:t>Step 9: Alert Trigger</a:t>
            </a:r>
          </a:p>
          <a:p>
            <a:pPr>
              <a:buNone/>
            </a:pPr>
            <a:r>
              <a:rPr lang="en-US" sz="3400" dirty="0"/>
              <a:t>If:</a:t>
            </a:r>
          </a:p>
          <a:p>
            <a:pPr rtl="0">
              <a:buNone/>
            </a:pPr>
            <a:r>
              <a:rPr lang="en-US" sz="3400" dirty="0">
                <a:latin typeface="Courier New" panose="02070309020205020404" pitchFamily="49" charset="0"/>
              </a:rPr>
              <a:t>TTC &lt; 1.5 → DANGER ALERT</a:t>
            </a:r>
          </a:p>
          <a:p>
            <a:pPr>
              <a:buNone/>
            </a:pPr>
            <a:r>
              <a:rPr lang="en-US" sz="3400" dirty="0"/>
              <a:t>Screen shows:</a:t>
            </a:r>
          </a:p>
          <a:p>
            <a:pPr rtl="0">
              <a:buNone/>
            </a:pPr>
            <a:r>
              <a:rPr lang="en-US" sz="3400" dirty="0">
                <a:latin typeface="Courier New" panose="02070309020205020404" pitchFamily="49" charset="0"/>
              </a:rPr>
              <a:t>⚠ COLLISION RISK</a:t>
            </a:r>
          </a:p>
        </p:txBody>
      </p:sp>
      <p:sp>
        <p:nvSpPr>
          <p:cNvPr id="2" name="object 7">
            <a:extLst>
              <a:ext uri="{FF2B5EF4-FFF2-40B4-BE49-F238E27FC236}">
                <a16:creationId xmlns:a16="http://schemas.microsoft.com/office/drawing/2014/main" id="{791C5754-333E-563D-E958-46228BA22B5E}"/>
              </a:ext>
            </a:extLst>
          </p:cNvPr>
          <p:cNvSpPr/>
          <p:nvPr/>
        </p:nvSpPr>
        <p:spPr>
          <a:xfrm rot="10800000" flipH="1">
            <a:off x="17950005" y="-1"/>
            <a:ext cx="2154095" cy="11309350"/>
          </a:xfrm>
          <a:prstGeom prst="rect">
            <a:avLst/>
          </a:prstGeom>
          <a:blipFill>
            <a:blip r:embed="rId2" cstate="print"/>
            <a:stretch>
              <a:fillRect/>
            </a:stretch>
          </a:blipFill>
        </p:spPr>
        <p:txBody>
          <a:bodyPr wrap="square" lIns="0" tIns="0" rIns="0" bIns="0" rtlCol="0"/>
          <a:lstStyle/>
          <a:p>
            <a:endParaRPr/>
          </a:p>
        </p:txBody>
      </p:sp>
      <p:sp>
        <p:nvSpPr>
          <p:cNvPr id="4" name="object 5">
            <a:extLst>
              <a:ext uri="{FF2B5EF4-FFF2-40B4-BE49-F238E27FC236}">
                <a16:creationId xmlns:a16="http://schemas.microsoft.com/office/drawing/2014/main" id="{65E41773-EC07-DCC5-DB1A-72636BA1B28D}"/>
              </a:ext>
            </a:extLst>
          </p:cNvPr>
          <p:cNvSpPr/>
          <p:nvPr/>
        </p:nvSpPr>
        <p:spPr>
          <a:xfrm rot="10800000" flipV="1">
            <a:off x="-12873" y="8600916"/>
            <a:ext cx="20129846" cy="2708434"/>
          </a:xfrm>
          <a:prstGeom prst="rect">
            <a:avLst/>
          </a:prstGeom>
          <a:blipFill>
            <a:blip r:embed="rId3"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3940566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3D3F4D1-E637-A6FA-BEB5-0E5502BCB5F2}"/>
              </a:ext>
            </a:extLst>
          </p:cNvPr>
          <p:cNvSpPr txBox="1"/>
          <p:nvPr/>
        </p:nvSpPr>
        <p:spPr>
          <a:xfrm>
            <a:off x="598285" y="1082280"/>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POTHOLE DETECTION SYSTEM</a:t>
            </a:r>
          </a:p>
        </p:txBody>
      </p:sp>
      <p:sp>
        <p:nvSpPr>
          <p:cNvPr id="5" name="TextBox 4">
            <a:extLst>
              <a:ext uri="{FF2B5EF4-FFF2-40B4-BE49-F238E27FC236}">
                <a16:creationId xmlns:a16="http://schemas.microsoft.com/office/drawing/2014/main" id="{DAF78B1B-18EC-CD97-3B29-D09C52AAACE9}"/>
              </a:ext>
            </a:extLst>
          </p:cNvPr>
          <p:cNvSpPr txBox="1"/>
          <p:nvPr/>
        </p:nvSpPr>
        <p:spPr>
          <a:xfrm>
            <a:off x="569523" y="115617"/>
            <a:ext cx="14859000" cy="646331"/>
          </a:xfrm>
          <a:prstGeom prst="rect">
            <a:avLst/>
          </a:prstGeom>
          <a:noFill/>
        </p:spPr>
        <p:txBody>
          <a:bodyPr wrap="square">
            <a:spAutoFit/>
          </a:bodyPr>
          <a:lstStyle/>
          <a:p>
            <a:r>
              <a:rPr lang="en-IN" sz="3600" b="1" dirty="0">
                <a:solidFill>
                  <a:schemeClr val="tx2"/>
                </a:solidFill>
                <a:latin typeface="Imprint MT Shadow" panose="04020605060303030202" pitchFamily="82" charset="0"/>
              </a:rPr>
              <a:t>IMPLEMENTATION (ALGORITHMS &amp; PSEUDOCODE)</a:t>
            </a:r>
          </a:p>
        </p:txBody>
      </p:sp>
      <p:sp>
        <p:nvSpPr>
          <p:cNvPr id="7" name="TextBox 6">
            <a:extLst>
              <a:ext uri="{FF2B5EF4-FFF2-40B4-BE49-F238E27FC236}">
                <a16:creationId xmlns:a16="http://schemas.microsoft.com/office/drawing/2014/main" id="{3B0873CC-4BA9-CBA2-F9EE-5297E89C4EDB}"/>
              </a:ext>
            </a:extLst>
          </p:cNvPr>
          <p:cNvSpPr txBox="1"/>
          <p:nvPr/>
        </p:nvSpPr>
        <p:spPr>
          <a:xfrm>
            <a:off x="598285" y="2208138"/>
            <a:ext cx="10050086" cy="646331"/>
          </a:xfrm>
          <a:prstGeom prst="rect">
            <a:avLst/>
          </a:prstGeom>
          <a:noFill/>
        </p:spPr>
        <p:txBody>
          <a:bodyPr wrap="square">
            <a:spAutoFit/>
          </a:bodyPr>
          <a:lstStyle/>
          <a:p>
            <a:r>
              <a:rPr lang="en-IN" sz="3600" dirty="0"/>
              <a:t>Algorithm – Pothole Detection</a:t>
            </a:r>
          </a:p>
        </p:txBody>
      </p:sp>
      <p:sp>
        <p:nvSpPr>
          <p:cNvPr id="9" name="TextBox 8">
            <a:extLst>
              <a:ext uri="{FF2B5EF4-FFF2-40B4-BE49-F238E27FC236}">
                <a16:creationId xmlns:a16="http://schemas.microsoft.com/office/drawing/2014/main" id="{CD9E90B2-1DA0-48CB-3559-2A9790E375D5}"/>
              </a:ext>
            </a:extLst>
          </p:cNvPr>
          <p:cNvSpPr txBox="1"/>
          <p:nvPr/>
        </p:nvSpPr>
        <p:spPr>
          <a:xfrm>
            <a:off x="603250" y="3007167"/>
            <a:ext cx="10050086" cy="7971413"/>
          </a:xfrm>
          <a:prstGeom prst="rect">
            <a:avLst/>
          </a:prstGeom>
          <a:noFill/>
        </p:spPr>
        <p:txBody>
          <a:bodyPr wrap="square">
            <a:spAutoFit/>
          </a:bodyPr>
          <a:lstStyle/>
          <a:p>
            <a:r>
              <a:rPr lang="en-IN" sz="3200" dirty="0"/>
              <a:t>1. Start</a:t>
            </a:r>
          </a:p>
          <a:p>
            <a:r>
              <a:rPr lang="en-IN" sz="3200" dirty="0"/>
              <a:t>2. Load YOLOv8 pothole detection model</a:t>
            </a:r>
          </a:p>
          <a:p>
            <a:r>
              <a:rPr lang="en-IN" sz="3200" dirty="0"/>
              <a:t>3. Initialize input source (image/video/webcam)</a:t>
            </a:r>
          </a:p>
          <a:p>
            <a:r>
              <a:rPr lang="en-IN" sz="3200" dirty="0"/>
              <a:t>4. While input is available:</a:t>
            </a:r>
          </a:p>
          <a:p>
            <a:r>
              <a:rPr lang="en-IN" sz="3200" dirty="0"/>
              <a:t>    a. Capture frame</a:t>
            </a:r>
          </a:p>
          <a:p>
            <a:r>
              <a:rPr lang="en-IN" sz="3200" dirty="0"/>
              <a:t>    b. Resize frame to model input size</a:t>
            </a:r>
          </a:p>
          <a:p>
            <a:r>
              <a:rPr lang="en-IN" sz="3200" dirty="0"/>
              <a:t>    c. Normalize pixel values</a:t>
            </a:r>
          </a:p>
          <a:p>
            <a:r>
              <a:rPr lang="en-IN" sz="3200" dirty="0"/>
              <a:t>    d. Perform object detection using YOLO model</a:t>
            </a:r>
          </a:p>
          <a:p>
            <a:r>
              <a:rPr lang="en-IN" sz="3200" dirty="0"/>
              <a:t>    e. Get bounding boxes, class labels, confidence scores</a:t>
            </a:r>
          </a:p>
          <a:p>
            <a:r>
              <a:rPr lang="en-IN" sz="3200" dirty="0"/>
              <a:t>    f. For each detection:</a:t>
            </a:r>
          </a:p>
          <a:p>
            <a:r>
              <a:rPr lang="en-IN" sz="3200" dirty="0"/>
              <a:t>         If confidence &gt; threshold:</a:t>
            </a:r>
          </a:p>
          <a:p>
            <a:r>
              <a:rPr lang="en-IN" sz="3200" dirty="0"/>
              <a:t>            - Draw bounding box</a:t>
            </a:r>
          </a:p>
          <a:p>
            <a:r>
              <a:rPr lang="en-IN" sz="3200" dirty="0"/>
              <a:t>            - Label as pothole</a:t>
            </a:r>
          </a:p>
          <a:p>
            <a:r>
              <a:rPr lang="en-IN" sz="3200" dirty="0"/>
              <a:t>            - Increment pothole counter</a:t>
            </a:r>
          </a:p>
          <a:p>
            <a:r>
              <a:rPr lang="en-IN" sz="3200" dirty="0"/>
              <a:t>    g. Display annotated frame</a:t>
            </a:r>
          </a:p>
          <a:p>
            <a:r>
              <a:rPr lang="en-IN" sz="3200" dirty="0"/>
              <a:t>5. End</a:t>
            </a:r>
          </a:p>
        </p:txBody>
      </p:sp>
      <p:sp>
        <p:nvSpPr>
          <p:cNvPr id="2" name="object 5">
            <a:extLst>
              <a:ext uri="{FF2B5EF4-FFF2-40B4-BE49-F238E27FC236}">
                <a16:creationId xmlns:a16="http://schemas.microsoft.com/office/drawing/2014/main" id="{3E4F1095-1CB1-3EEB-4B1B-954C80EE29D0}"/>
              </a:ext>
            </a:extLst>
          </p:cNvPr>
          <p:cNvSpPr/>
          <p:nvPr/>
        </p:nvSpPr>
        <p:spPr>
          <a:xfrm rot="5400000" flipV="1">
            <a:off x="12852400" y="4057650"/>
            <a:ext cx="11309352" cy="3194052"/>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3463845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EDAED7-BE27-ADD6-80A9-051493223CDA}"/>
              </a:ext>
            </a:extLst>
          </p:cNvPr>
          <p:cNvSpPr txBox="1"/>
          <p:nvPr/>
        </p:nvSpPr>
        <p:spPr>
          <a:xfrm>
            <a:off x="603250" y="396875"/>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Pseudocode – Pothole Detection </a:t>
            </a:r>
          </a:p>
        </p:txBody>
      </p:sp>
      <p:sp>
        <p:nvSpPr>
          <p:cNvPr id="5" name="TextBox 4">
            <a:extLst>
              <a:ext uri="{FF2B5EF4-FFF2-40B4-BE49-F238E27FC236}">
                <a16:creationId xmlns:a16="http://schemas.microsoft.com/office/drawing/2014/main" id="{46F5BB01-6A9F-3F6C-8F5E-C6CFD4668B27}"/>
              </a:ext>
            </a:extLst>
          </p:cNvPr>
          <p:cNvSpPr txBox="1"/>
          <p:nvPr/>
        </p:nvSpPr>
        <p:spPr>
          <a:xfrm>
            <a:off x="755650" y="1135539"/>
            <a:ext cx="10050086" cy="9941183"/>
          </a:xfrm>
          <a:prstGeom prst="rect">
            <a:avLst/>
          </a:prstGeom>
          <a:noFill/>
        </p:spPr>
        <p:txBody>
          <a:bodyPr wrap="square">
            <a:spAutoFit/>
          </a:bodyPr>
          <a:lstStyle/>
          <a:p>
            <a:r>
              <a:rPr lang="en-IN" sz="3200" dirty="0"/>
              <a:t>BEGIN</a:t>
            </a:r>
          </a:p>
          <a:p>
            <a:r>
              <a:rPr lang="en-IN" sz="3200" dirty="0"/>
              <a:t>LOAD YOLOv8_model</a:t>
            </a:r>
          </a:p>
          <a:p>
            <a:r>
              <a:rPr lang="en-IN" sz="3200" dirty="0"/>
              <a:t>SET </a:t>
            </a:r>
            <a:r>
              <a:rPr lang="en-IN" sz="3200" dirty="0" err="1"/>
              <a:t>confidence_threshold</a:t>
            </a:r>
            <a:r>
              <a:rPr lang="en-IN" sz="3200" dirty="0"/>
              <a:t> = 0.5</a:t>
            </a:r>
          </a:p>
          <a:p>
            <a:r>
              <a:rPr lang="en-IN" sz="3200" dirty="0"/>
              <a:t>OPEN </a:t>
            </a:r>
            <a:r>
              <a:rPr lang="en-IN" sz="3200" dirty="0" err="1"/>
              <a:t>video_source</a:t>
            </a:r>
            <a:endParaRPr lang="en-IN" sz="3200" dirty="0"/>
          </a:p>
          <a:p>
            <a:r>
              <a:rPr lang="en-IN" sz="3200" dirty="0"/>
              <a:t>WHILE video is running:</a:t>
            </a:r>
          </a:p>
          <a:p>
            <a:r>
              <a:rPr lang="en-IN" sz="3200" dirty="0"/>
              <a:t>    frame ← </a:t>
            </a:r>
            <a:r>
              <a:rPr lang="en-IN" sz="3200" dirty="0" err="1"/>
              <a:t>read_frame</a:t>
            </a:r>
            <a:r>
              <a:rPr lang="en-IN" sz="3200" dirty="0"/>
              <a:t>()</a:t>
            </a:r>
          </a:p>
          <a:p>
            <a:r>
              <a:rPr lang="en-IN" sz="3200" dirty="0"/>
              <a:t>    IF frame is empty:</a:t>
            </a:r>
          </a:p>
          <a:p>
            <a:r>
              <a:rPr lang="en-IN" sz="3200" dirty="0"/>
              <a:t>        BREAK</a:t>
            </a:r>
          </a:p>
          <a:p>
            <a:r>
              <a:rPr lang="en-IN" sz="3200" dirty="0"/>
              <a:t>    detections ← YOLOv8_model.predict(frame)</a:t>
            </a:r>
          </a:p>
          <a:p>
            <a:r>
              <a:rPr lang="en-IN" sz="3200" dirty="0"/>
              <a:t>    </a:t>
            </a:r>
            <a:r>
              <a:rPr lang="en-IN" sz="3200" dirty="0" err="1"/>
              <a:t>pothole_count</a:t>
            </a:r>
            <a:r>
              <a:rPr lang="en-IN" sz="3200" dirty="0"/>
              <a:t> ← 0</a:t>
            </a:r>
          </a:p>
          <a:p>
            <a:r>
              <a:rPr lang="en-IN" sz="3200" dirty="0"/>
              <a:t>    FOR each detection IN detections:</a:t>
            </a:r>
          </a:p>
          <a:p>
            <a:r>
              <a:rPr lang="en-IN" sz="3200" dirty="0"/>
              <a:t>        confidence ← </a:t>
            </a:r>
            <a:r>
              <a:rPr lang="en-IN" sz="3200" dirty="0" err="1"/>
              <a:t>detection.confidence</a:t>
            </a:r>
            <a:endParaRPr lang="en-IN" sz="3200" dirty="0"/>
          </a:p>
          <a:p>
            <a:r>
              <a:rPr lang="en-IN" sz="3200" dirty="0"/>
              <a:t>        </a:t>
            </a:r>
            <a:r>
              <a:rPr lang="en-IN" sz="3200" dirty="0" err="1"/>
              <a:t>bbox</a:t>
            </a:r>
            <a:r>
              <a:rPr lang="en-IN" sz="3200" dirty="0"/>
              <a:t> ← </a:t>
            </a:r>
            <a:r>
              <a:rPr lang="en-IN" sz="3200" dirty="0" err="1"/>
              <a:t>detection.bounding_box</a:t>
            </a:r>
            <a:endParaRPr lang="en-IN" sz="3200" dirty="0"/>
          </a:p>
          <a:p>
            <a:r>
              <a:rPr lang="en-IN" sz="3200" dirty="0"/>
              <a:t>        IF confidence &gt; </a:t>
            </a:r>
            <a:r>
              <a:rPr lang="en-IN" sz="3200" dirty="0" err="1"/>
              <a:t>confidence_threshold</a:t>
            </a:r>
            <a:r>
              <a:rPr lang="en-IN" sz="3200" dirty="0"/>
              <a:t>:</a:t>
            </a:r>
          </a:p>
          <a:p>
            <a:r>
              <a:rPr lang="en-IN" sz="3200" dirty="0"/>
              <a:t>            DRAW rectangle(frame, </a:t>
            </a:r>
            <a:r>
              <a:rPr lang="en-IN" sz="3200" dirty="0" err="1"/>
              <a:t>bbox</a:t>
            </a:r>
            <a:r>
              <a:rPr lang="en-IN" sz="3200" dirty="0"/>
              <a:t>)</a:t>
            </a:r>
          </a:p>
          <a:p>
            <a:r>
              <a:rPr lang="en-IN" sz="3200" dirty="0"/>
              <a:t>            LABEL frame WITH "Pothole"</a:t>
            </a:r>
          </a:p>
          <a:p>
            <a:r>
              <a:rPr lang="en-IN" sz="3200" dirty="0"/>
              <a:t>            </a:t>
            </a:r>
            <a:r>
              <a:rPr lang="en-IN" sz="3200" dirty="0" err="1"/>
              <a:t>pothole_count</a:t>
            </a:r>
            <a:r>
              <a:rPr lang="en-IN" sz="3200" dirty="0"/>
              <a:t> ← </a:t>
            </a:r>
            <a:r>
              <a:rPr lang="en-IN" sz="3200" dirty="0" err="1"/>
              <a:t>pothole_count</a:t>
            </a:r>
            <a:r>
              <a:rPr lang="en-IN" sz="3200" dirty="0"/>
              <a:t> + 1</a:t>
            </a:r>
          </a:p>
          <a:p>
            <a:r>
              <a:rPr lang="en-IN" sz="3200" dirty="0"/>
              <a:t>    DISPLAY frame WITH </a:t>
            </a:r>
            <a:r>
              <a:rPr lang="en-IN" sz="3200" dirty="0" err="1"/>
              <a:t>pothole_count</a:t>
            </a:r>
            <a:endParaRPr lang="en-IN" sz="3200" dirty="0"/>
          </a:p>
          <a:p>
            <a:r>
              <a:rPr lang="en-IN" sz="3200" dirty="0"/>
              <a:t>END WHILE</a:t>
            </a:r>
          </a:p>
          <a:p>
            <a:r>
              <a:rPr lang="en-IN" sz="3200" dirty="0"/>
              <a:t>END</a:t>
            </a:r>
          </a:p>
        </p:txBody>
      </p:sp>
      <p:sp>
        <p:nvSpPr>
          <p:cNvPr id="2" name="object 7">
            <a:extLst>
              <a:ext uri="{FF2B5EF4-FFF2-40B4-BE49-F238E27FC236}">
                <a16:creationId xmlns:a16="http://schemas.microsoft.com/office/drawing/2014/main" id="{D2C8018E-FE3E-855B-D399-DB217EAF806D}"/>
              </a:ext>
            </a:extLst>
          </p:cNvPr>
          <p:cNvSpPr/>
          <p:nvPr/>
        </p:nvSpPr>
        <p:spPr>
          <a:xfrm rot="10800000" flipH="1">
            <a:off x="17950005" y="0"/>
            <a:ext cx="2154095" cy="1127950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3860255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DB1A074-CCAB-28F6-31AA-8364D5C83B56}"/>
              </a:ext>
            </a:extLst>
          </p:cNvPr>
          <p:cNvSpPr txBox="1"/>
          <p:nvPr/>
        </p:nvSpPr>
        <p:spPr>
          <a:xfrm>
            <a:off x="603250" y="473075"/>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COLLISION AI SYSTEM</a:t>
            </a:r>
          </a:p>
        </p:txBody>
      </p:sp>
      <p:sp>
        <p:nvSpPr>
          <p:cNvPr id="7" name="TextBox 6">
            <a:extLst>
              <a:ext uri="{FF2B5EF4-FFF2-40B4-BE49-F238E27FC236}">
                <a16:creationId xmlns:a16="http://schemas.microsoft.com/office/drawing/2014/main" id="{985ECD49-5420-8373-7689-4F779F7E78B0}"/>
              </a:ext>
            </a:extLst>
          </p:cNvPr>
          <p:cNvSpPr txBox="1"/>
          <p:nvPr/>
        </p:nvSpPr>
        <p:spPr>
          <a:xfrm>
            <a:off x="603250" y="1211739"/>
            <a:ext cx="10050086" cy="646331"/>
          </a:xfrm>
          <a:prstGeom prst="rect">
            <a:avLst/>
          </a:prstGeom>
          <a:noFill/>
        </p:spPr>
        <p:txBody>
          <a:bodyPr wrap="square">
            <a:spAutoFit/>
          </a:bodyPr>
          <a:lstStyle/>
          <a:p>
            <a:r>
              <a:rPr lang="en-IN" sz="3600" dirty="0">
                <a:solidFill>
                  <a:schemeClr val="tx2"/>
                </a:solidFill>
                <a:latin typeface="Imprint MT Shadow" panose="04020605060303030202" pitchFamily="82" charset="0"/>
              </a:rPr>
              <a:t>Algorithm – Collision Risk Detection</a:t>
            </a:r>
          </a:p>
        </p:txBody>
      </p:sp>
      <p:sp>
        <p:nvSpPr>
          <p:cNvPr id="9" name="TextBox 8">
            <a:extLst>
              <a:ext uri="{FF2B5EF4-FFF2-40B4-BE49-F238E27FC236}">
                <a16:creationId xmlns:a16="http://schemas.microsoft.com/office/drawing/2014/main" id="{E9A2E043-B83A-050C-17EF-46CF6A1A3C85}"/>
              </a:ext>
            </a:extLst>
          </p:cNvPr>
          <p:cNvSpPr txBox="1"/>
          <p:nvPr/>
        </p:nvSpPr>
        <p:spPr>
          <a:xfrm>
            <a:off x="630151" y="1836538"/>
            <a:ext cx="16383000" cy="9448740"/>
          </a:xfrm>
          <a:prstGeom prst="rect">
            <a:avLst/>
          </a:prstGeom>
          <a:noFill/>
        </p:spPr>
        <p:txBody>
          <a:bodyPr wrap="square">
            <a:spAutoFit/>
          </a:bodyPr>
          <a:lstStyle/>
          <a:p>
            <a:r>
              <a:rPr lang="en-IN" sz="3200" dirty="0"/>
              <a:t>1. Start</a:t>
            </a:r>
          </a:p>
          <a:p>
            <a:r>
              <a:rPr lang="en-IN" sz="3200" dirty="0"/>
              <a:t>2. Load trained ML model (.</a:t>
            </a:r>
            <a:r>
              <a:rPr lang="en-IN" sz="3200" dirty="0" err="1"/>
              <a:t>pkl</a:t>
            </a:r>
            <a:r>
              <a:rPr lang="en-IN" sz="3200" dirty="0"/>
              <a:t>)</a:t>
            </a:r>
          </a:p>
          <a:p>
            <a:r>
              <a:rPr lang="en-IN" sz="3200" dirty="0"/>
              <a:t>3. Initialize video capture</a:t>
            </a:r>
          </a:p>
          <a:p>
            <a:r>
              <a:rPr lang="en-IN" sz="3200" dirty="0"/>
              <a:t>4. Initialize detector (YOLO / Background Subtraction)</a:t>
            </a:r>
          </a:p>
          <a:p>
            <a:r>
              <a:rPr lang="en-IN" sz="3200" dirty="0"/>
              <a:t>5. Initialize tracker (SORT with Kalman Filter)</a:t>
            </a:r>
          </a:p>
          <a:p>
            <a:r>
              <a:rPr lang="en-IN" sz="3200" dirty="0"/>
              <a:t>6. For each frame:</a:t>
            </a:r>
          </a:p>
          <a:p>
            <a:r>
              <a:rPr lang="en-IN" sz="3200" dirty="0"/>
              <a:t>    a. Detect vehicles</a:t>
            </a:r>
          </a:p>
          <a:p>
            <a:r>
              <a:rPr lang="en-IN" sz="3200" dirty="0"/>
              <a:t>    b. Track vehicles across frames</a:t>
            </a:r>
          </a:p>
          <a:p>
            <a:r>
              <a:rPr lang="en-IN" sz="3200" dirty="0"/>
              <a:t>    c. For each tracked vehicle:</a:t>
            </a:r>
          </a:p>
          <a:p>
            <a:r>
              <a:rPr lang="en-IN" sz="3200" dirty="0"/>
              <a:t>        </a:t>
            </a:r>
            <a:r>
              <a:rPr lang="en-IN" sz="3200" dirty="0" err="1"/>
              <a:t>i</a:t>
            </a:r>
            <a:r>
              <a:rPr lang="en-IN" sz="3200" dirty="0"/>
              <a:t>. Extract features</a:t>
            </a:r>
          </a:p>
          <a:p>
            <a:r>
              <a:rPr lang="en-IN" sz="3200" dirty="0"/>
              <a:t>        ii. Estimate distance</a:t>
            </a:r>
          </a:p>
          <a:p>
            <a:r>
              <a:rPr lang="en-IN" sz="3200" dirty="0"/>
              <a:t>        iii. Compute speed</a:t>
            </a:r>
          </a:p>
          <a:p>
            <a:r>
              <a:rPr lang="en-IN" sz="3200" dirty="0"/>
              <a:t>        iv. Calculate Time-to-Collision (TTC)</a:t>
            </a:r>
          </a:p>
          <a:p>
            <a:r>
              <a:rPr lang="en-IN" sz="3200" dirty="0"/>
              <a:t>        v. Predict risk using ML model</a:t>
            </a:r>
          </a:p>
          <a:p>
            <a:r>
              <a:rPr lang="en-IN" sz="3200" dirty="0"/>
              <a:t>    d. Smooth predictions using history buffer</a:t>
            </a:r>
          </a:p>
          <a:p>
            <a:r>
              <a:rPr lang="en-IN" sz="3200" dirty="0"/>
              <a:t>    e. Draw bounding boxes and metrics</a:t>
            </a:r>
          </a:p>
          <a:p>
            <a:r>
              <a:rPr lang="en-IN" sz="3200" dirty="0"/>
              <a:t>    f. Display alerts (SAFE / WARNING / DANGER)</a:t>
            </a:r>
          </a:p>
          <a:p>
            <a:r>
              <a:rPr lang="en-IN" sz="3200" dirty="0"/>
              <a:t>7. Repeat until exit</a:t>
            </a:r>
          </a:p>
          <a:p>
            <a:r>
              <a:rPr lang="en-IN" sz="3200" dirty="0"/>
              <a:t>8. End</a:t>
            </a:r>
          </a:p>
        </p:txBody>
      </p:sp>
      <p:sp>
        <p:nvSpPr>
          <p:cNvPr id="2" name="object 5">
            <a:extLst>
              <a:ext uri="{FF2B5EF4-FFF2-40B4-BE49-F238E27FC236}">
                <a16:creationId xmlns:a16="http://schemas.microsoft.com/office/drawing/2014/main" id="{E385F5BD-9B40-E169-C9E7-614DB5E435A8}"/>
              </a:ext>
            </a:extLst>
          </p:cNvPr>
          <p:cNvSpPr/>
          <p:nvPr/>
        </p:nvSpPr>
        <p:spPr>
          <a:xfrm rot="5400000" flipV="1">
            <a:off x="12852400" y="4057650"/>
            <a:ext cx="11309352" cy="3194052"/>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778326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4E31B4-1E50-24DB-101E-A19CC6F1BE3A}"/>
              </a:ext>
            </a:extLst>
          </p:cNvPr>
          <p:cNvSpPr txBox="1"/>
          <p:nvPr/>
        </p:nvSpPr>
        <p:spPr>
          <a:xfrm>
            <a:off x="374650" y="320675"/>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Pseudocode – Collision AI</a:t>
            </a:r>
          </a:p>
        </p:txBody>
      </p:sp>
      <p:sp>
        <p:nvSpPr>
          <p:cNvPr id="7" name="TextBox 6">
            <a:extLst>
              <a:ext uri="{FF2B5EF4-FFF2-40B4-BE49-F238E27FC236}">
                <a16:creationId xmlns:a16="http://schemas.microsoft.com/office/drawing/2014/main" id="{99D92886-C3D9-D57C-AC44-F8220F9169BF}"/>
              </a:ext>
            </a:extLst>
          </p:cNvPr>
          <p:cNvSpPr txBox="1"/>
          <p:nvPr/>
        </p:nvSpPr>
        <p:spPr>
          <a:xfrm>
            <a:off x="476365" y="1235075"/>
            <a:ext cx="10507286" cy="10433625"/>
          </a:xfrm>
          <a:prstGeom prst="rect">
            <a:avLst/>
          </a:prstGeom>
          <a:noFill/>
        </p:spPr>
        <p:txBody>
          <a:bodyPr wrap="square">
            <a:spAutoFit/>
          </a:bodyPr>
          <a:lstStyle/>
          <a:p>
            <a:r>
              <a:rPr lang="en-IN" sz="3200" dirty="0"/>
              <a:t>BEGIN</a:t>
            </a:r>
          </a:p>
          <a:p>
            <a:endParaRPr lang="en-IN" sz="3200" dirty="0"/>
          </a:p>
          <a:p>
            <a:r>
              <a:rPr lang="en-IN" sz="3200" dirty="0"/>
              <a:t>LOAD </a:t>
            </a:r>
            <a:r>
              <a:rPr lang="en-IN" sz="3200" dirty="0" err="1"/>
              <a:t>model_pkg</a:t>
            </a:r>
            <a:r>
              <a:rPr lang="en-IN" sz="3200" dirty="0"/>
              <a:t> FROM .</a:t>
            </a:r>
            <a:r>
              <a:rPr lang="en-IN" sz="3200" dirty="0" err="1"/>
              <a:t>pkl</a:t>
            </a:r>
            <a:r>
              <a:rPr lang="en-IN" sz="3200" dirty="0"/>
              <a:t> file</a:t>
            </a:r>
          </a:p>
          <a:p>
            <a:r>
              <a:rPr lang="en-IN" sz="3200" dirty="0"/>
              <a:t>model ← </a:t>
            </a:r>
            <a:r>
              <a:rPr lang="en-IN" sz="3200" dirty="0" err="1"/>
              <a:t>model_pkg</a:t>
            </a:r>
            <a:r>
              <a:rPr lang="en-IN" sz="3200" dirty="0"/>
              <a:t>["model"]</a:t>
            </a:r>
          </a:p>
          <a:p>
            <a:endParaRPr lang="en-IN" sz="3200" dirty="0"/>
          </a:p>
          <a:p>
            <a:r>
              <a:rPr lang="en-IN" sz="3200" dirty="0"/>
              <a:t>INITIALIZE </a:t>
            </a:r>
            <a:r>
              <a:rPr lang="en-IN" sz="3200" dirty="0" err="1"/>
              <a:t>video_capture</a:t>
            </a:r>
            <a:endParaRPr lang="en-IN" sz="3200" dirty="0"/>
          </a:p>
          <a:p>
            <a:r>
              <a:rPr lang="en-IN" sz="3200" dirty="0"/>
              <a:t>INITIALIZE detector ← YOLO OR </a:t>
            </a:r>
            <a:r>
              <a:rPr lang="en-IN" sz="3200" dirty="0" err="1"/>
              <a:t>background_subtraction</a:t>
            </a:r>
            <a:endParaRPr lang="en-IN" sz="3200" dirty="0"/>
          </a:p>
          <a:p>
            <a:r>
              <a:rPr lang="en-IN" sz="3200" dirty="0"/>
              <a:t>INITIALIZE tracker ← SORT()</a:t>
            </a:r>
          </a:p>
          <a:p>
            <a:endParaRPr lang="en-IN" sz="3200" dirty="0"/>
          </a:p>
          <a:p>
            <a:r>
              <a:rPr lang="en-IN" sz="3200" dirty="0"/>
              <a:t>WHILE video is running:</a:t>
            </a:r>
          </a:p>
          <a:p>
            <a:endParaRPr lang="en-IN" sz="3200" dirty="0"/>
          </a:p>
          <a:p>
            <a:r>
              <a:rPr lang="en-IN" sz="3200" dirty="0"/>
              <a:t>    frame ← </a:t>
            </a:r>
            <a:r>
              <a:rPr lang="en-IN" sz="3200" dirty="0" err="1"/>
              <a:t>read_frame</a:t>
            </a:r>
            <a:r>
              <a:rPr lang="en-IN" sz="3200" dirty="0"/>
              <a:t>()</a:t>
            </a:r>
          </a:p>
          <a:p>
            <a:endParaRPr lang="en-IN" sz="3200" dirty="0"/>
          </a:p>
          <a:p>
            <a:r>
              <a:rPr lang="en-IN" sz="3200" dirty="0"/>
              <a:t>    IF frame is empty:</a:t>
            </a:r>
          </a:p>
          <a:p>
            <a:r>
              <a:rPr lang="en-IN" sz="3200" dirty="0"/>
              <a:t>        BREAK</a:t>
            </a:r>
          </a:p>
          <a:p>
            <a:endParaRPr lang="en-IN" sz="3200" dirty="0"/>
          </a:p>
          <a:p>
            <a:r>
              <a:rPr lang="en-IN" sz="3200" dirty="0"/>
              <a:t>    detections ← detector(frame)</a:t>
            </a:r>
          </a:p>
          <a:p>
            <a:endParaRPr lang="en-IN" sz="3200" dirty="0"/>
          </a:p>
          <a:p>
            <a:r>
              <a:rPr lang="en-IN" sz="3200" dirty="0"/>
              <a:t>    </a:t>
            </a:r>
            <a:r>
              <a:rPr lang="en-IN" sz="3200" dirty="0" err="1"/>
              <a:t>tracked_objects</a:t>
            </a:r>
            <a:r>
              <a:rPr lang="en-IN" sz="3200" dirty="0"/>
              <a:t> ← </a:t>
            </a:r>
            <a:r>
              <a:rPr lang="en-IN" sz="3200" dirty="0" err="1"/>
              <a:t>tracker.update</a:t>
            </a:r>
            <a:r>
              <a:rPr lang="en-IN" sz="3200" dirty="0"/>
              <a:t>(detections)</a:t>
            </a:r>
          </a:p>
          <a:p>
            <a:endParaRPr lang="en-IN" sz="3200" dirty="0"/>
          </a:p>
          <a:p>
            <a:r>
              <a:rPr lang="en-IN" sz="3200" dirty="0"/>
              <a:t>    </a:t>
            </a:r>
          </a:p>
        </p:txBody>
      </p:sp>
      <p:sp>
        <p:nvSpPr>
          <p:cNvPr id="2" name="object 5">
            <a:extLst>
              <a:ext uri="{FF2B5EF4-FFF2-40B4-BE49-F238E27FC236}">
                <a16:creationId xmlns:a16="http://schemas.microsoft.com/office/drawing/2014/main" id="{0A8CB800-2440-F92A-072D-3B7215165EFB}"/>
              </a:ext>
            </a:extLst>
          </p:cNvPr>
          <p:cNvSpPr/>
          <p:nvPr/>
        </p:nvSpPr>
        <p:spPr>
          <a:xfrm rot="5400000" flipV="1">
            <a:off x="12852400" y="4057650"/>
            <a:ext cx="11309352" cy="3194052"/>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25614607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04CBE1B-0129-8E2D-D0C6-6F870D6A057E}"/>
              </a:ext>
            </a:extLst>
          </p:cNvPr>
          <p:cNvSpPr txBox="1"/>
          <p:nvPr/>
        </p:nvSpPr>
        <p:spPr>
          <a:xfrm>
            <a:off x="1212850" y="854075"/>
            <a:ext cx="15925800" cy="9448740"/>
          </a:xfrm>
          <a:prstGeom prst="rect">
            <a:avLst/>
          </a:prstGeom>
          <a:noFill/>
        </p:spPr>
        <p:txBody>
          <a:bodyPr wrap="square">
            <a:spAutoFit/>
          </a:bodyPr>
          <a:lstStyle/>
          <a:p>
            <a:r>
              <a:rPr lang="en-IN" sz="3200" dirty="0"/>
              <a:t>FOR each track IN </a:t>
            </a:r>
            <a:r>
              <a:rPr lang="en-IN" sz="3200" dirty="0" err="1"/>
              <a:t>tracked_objects</a:t>
            </a:r>
            <a:r>
              <a:rPr lang="en-IN" sz="3200" dirty="0"/>
              <a:t>:</a:t>
            </a:r>
          </a:p>
          <a:p>
            <a:r>
              <a:rPr lang="en-IN" sz="3200" dirty="0"/>
              <a:t>        </a:t>
            </a:r>
            <a:r>
              <a:rPr lang="en-IN" sz="3200" dirty="0" err="1"/>
              <a:t>bbox</a:t>
            </a:r>
            <a:r>
              <a:rPr lang="en-IN" sz="3200" dirty="0"/>
              <a:t> ← </a:t>
            </a:r>
            <a:r>
              <a:rPr lang="en-IN" sz="3200" dirty="0" err="1"/>
              <a:t>track.get_bbox</a:t>
            </a:r>
            <a:r>
              <a:rPr lang="en-IN" sz="3200" dirty="0"/>
              <a:t>()</a:t>
            </a:r>
          </a:p>
          <a:p>
            <a:r>
              <a:rPr lang="en-IN" sz="3200" dirty="0"/>
              <a:t>        features, </a:t>
            </a:r>
            <a:r>
              <a:rPr lang="en-IN" sz="3200" dirty="0" err="1"/>
              <a:t>dist</a:t>
            </a:r>
            <a:r>
              <a:rPr lang="en-IN" sz="3200" dirty="0"/>
              <a:t>, speed, </a:t>
            </a:r>
            <a:r>
              <a:rPr lang="en-IN" sz="3200" dirty="0" err="1"/>
              <a:t>ttc</a:t>
            </a:r>
            <a:r>
              <a:rPr lang="en-IN" sz="3200" dirty="0"/>
              <a:t>, approaching ← </a:t>
            </a:r>
            <a:r>
              <a:rPr lang="en-IN" sz="3200" dirty="0" err="1"/>
              <a:t>extract_features</a:t>
            </a:r>
            <a:r>
              <a:rPr lang="en-IN" sz="3200" dirty="0"/>
              <a:t>(</a:t>
            </a:r>
            <a:r>
              <a:rPr lang="en-IN" sz="3200" dirty="0" err="1"/>
              <a:t>bbox</a:t>
            </a:r>
            <a:r>
              <a:rPr lang="en-IN" sz="3200" dirty="0"/>
              <a:t>)</a:t>
            </a:r>
          </a:p>
          <a:p>
            <a:r>
              <a:rPr lang="en-IN" sz="3200" dirty="0"/>
              <a:t>        IF speed &gt; </a:t>
            </a:r>
            <a:r>
              <a:rPr lang="en-IN" sz="3200" dirty="0" err="1"/>
              <a:t>max_speed</a:t>
            </a:r>
            <a:r>
              <a:rPr lang="en-IN" sz="3200" dirty="0"/>
              <a:t>:</a:t>
            </a:r>
          </a:p>
          <a:p>
            <a:r>
              <a:rPr lang="en-IN" sz="3200" dirty="0"/>
              <a:t>            CONTINUE</a:t>
            </a:r>
          </a:p>
          <a:p>
            <a:r>
              <a:rPr lang="en-IN" sz="3200" dirty="0"/>
              <a:t>        probabilities ← </a:t>
            </a:r>
            <a:r>
              <a:rPr lang="en-IN" sz="3200" dirty="0" err="1"/>
              <a:t>model.predict_proba</a:t>
            </a:r>
            <a:r>
              <a:rPr lang="en-IN" sz="3200" dirty="0"/>
              <a:t>(features)</a:t>
            </a:r>
          </a:p>
          <a:p>
            <a:r>
              <a:rPr lang="en-IN" sz="3200" dirty="0"/>
              <a:t>        label ← argmax(probabilities)</a:t>
            </a:r>
          </a:p>
          <a:p>
            <a:r>
              <a:rPr lang="en-IN" sz="3200" dirty="0"/>
              <a:t>        confidence ← max(probabilities)</a:t>
            </a:r>
          </a:p>
          <a:p>
            <a:r>
              <a:rPr lang="en-IN" sz="3200" dirty="0"/>
              <a:t>        UPDATE </a:t>
            </a:r>
            <a:r>
              <a:rPr lang="en-IN" sz="3200" dirty="0" err="1"/>
              <a:t>track.risk_history</a:t>
            </a:r>
            <a:r>
              <a:rPr lang="en-IN" sz="3200" dirty="0"/>
              <a:t> WITH label</a:t>
            </a:r>
          </a:p>
          <a:p>
            <a:r>
              <a:rPr lang="en-IN" sz="3200" dirty="0"/>
              <a:t>        label ← </a:t>
            </a:r>
            <a:r>
              <a:rPr lang="en-IN" sz="3200" dirty="0" err="1"/>
              <a:t>majority_vote</a:t>
            </a:r>
            <a:r>
              <a:rPr lang="en-IN" sz="3200" dirty="0"/>
              <a:t>(</a:t>
            </a:r>
            <a:r>
              <a:rPr lang="en-IN" sz="3200" dirty="0" err="1"/>
              <a:t>track.risk_history</a:t>
            </a:r>
            <a:r>
              <a:rPr lang="en-IN" sz="3200" dirty="0"/>
              <a:t>)</a:t>
            </a:r>
          </a:p>
          <a:p>
            <a:r>
              <a:rPr lang="en-IN" sz="3200" dirty="0"/>
              <a:t>        COMPUTE </a:t>
            </a:r>
            <a:r>
              <a:rPr lang="en-IN" sz="3200" dirty="0" err="1"/>
              <a:t>lane_position</a:t>
            </a:r>
            <a:endParaRPr lang="en-IN" sz="3200" dirty="0"/>
          </a:p>
          <a:p>
            <a:r>
              <a:rPr lang="en-IN" sz="3200" dirty="0"/>
              <a:t>        STORE metrics:</a:t>
            </a:r>
          </a:p>
          <a:p>
            <a:r>
              <a:rPr lang="en-IN" sz="3200" dirty="0"/>
              <a:t>            distance, speed, </a:t>
            </a:r>
            <a:r>
              <a:rPr lang="en-IN" sz="3200" dirty="0" err="1"/>
              <a:t>ttc</a:t>
            </a:r>
            <a:r>
              <a:rPr lang="en-IN" sz="3200" dirty="0"/>
              <a:t>, risk, confidence</a:t>
            </a:r>
          </a:p>
          <a:p>
            <a:r>
              <a:rPr lang="en-IN" sz="3200" dirty="0"/>
              <a:t>    DRAW </a:t>
            </a:r>
            <a:r>
              <a:rPr lang="en-IN" sz="3200" dirty="0" err="1"/>
              <a:t>bounding_boxes</a:t>
            </a:r>
            <a:r>
              <a:rPr lang="en-IN" sz="3200" dirty="0"/>
              <a:t> WITH metrics</a:t>
            </a:r>
          </a:p>
          <a:p>
            <a:r>
              <a:rPr lang="en-IN" sz="3200" dirty="0"/>
              <a:t>    DRAW radar visualization</a:t>
            </a:r>
          </a:p>
          <a:p>
            <a:r>
              <a:rPr lang="en-IN" sz="3200" dirty="0"/>
              <a:t>    DISPLAY frame</a:t>
            </a:r>
          </a:p>
          <a:p>
            <a:r>
              <a:rPr lang="en-IN" sz="3200" dirty="0"/>
              <a:t>END WHILE</a:t>
            </a:r>
          </a:p>
          <a:p>
            <a:r>
              <a:rPr lang="en-IN" sz="3200" dirty="0"/>
              <a:t>RELEASE resources</a:t>
            </a:r>
          </a:p>
          <a:p>
            <a:r>
              <a:rPr lang="en-IN" sz="3200" dirty="0"/>
              <a:t>END</a:t>
            </a:r>
          </a:p>
        </p:txBody>
      </p:sp>
      <p:sp>
        <p:nvSpPr>
          <p:cNvPr id="2" name="object 5">
            <a:extLst>
              <a:ext uri="{FF2B5EF4-FFF2-40B4-BE49-F238E27FC236}">
                <a16:creationId xmlns:a16="http://schemas.microsoft.com/office/drawing/2014/main" id="{F64E26C5-6476-17F1-A7FA-74DF8A044B6C}"/>
              </a:ext>
            </a:extLst>
          </p:cNvPr>
          <p:cNvSpPr/>
          <p:nvPr/>
        </p:nvSpPr>
        <p:spPr>
          <a:xfrm rot="5400000" flipV="1">
            <a:off x="12852400" y="4057650"/>
            <a:ext cx="11309352" cy="3194052"/>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51411589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CD40E8-4C4B-99A8-EC8C-169AEE1B0BFD}"/>
              </a:ext>
            </a:extLst>
          </p:cNvPr>
          <p:cNvSpPr txBox="1"/>
          <p:nvPr/>
        </p:nvSpPr>
        <p:spPr>
          <a:xfrm>
            <a:off x="527050" y="320675"/>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Feature Extraction Pseudocode</a:t>
            </a:r>
          </a:p>
        </p:txBody>
      </p:sp>
      <p:sp>
        <p:nvSpPr>
          <p:cNvPr id="5" name="TextBox 4">
            <a:extLst>
              <a:ext uri="{FF2B5EF4-FFF2-40B4-BE49-F238E27FC236}">
                <a16:creationId xmlns:a16="http://schemas.microsoft.com/office/drawing/2014/main" id="{3B476DA6-1A33-13D8-9D06-C6993F6FD498}"/>
              </a:ext>
            </a:extLst>
          </p:cNvPr>
          <p:cNvSpPr txBox="1"/>
          <p:nvPr/>
        </p:nvSpPr>
        <p:spPr>
          <a:xfrm>
            <a:off x="551180" y="1084149"/>
            <a:ext cx="14935200" cy="9941183"/>
          </a:xfrm>
          <a:prstGeom prst="rect">
            <a:avLst/>
          </a:prstGeom>
          <a:noFill/>
        </p:spPr>
        <p:txBody>
          <a:bodyPr wrap="square">
            <a:spAutoFit/>
          </a:bodyPr>
          <a:lstStyle/>
          <a:p>
            <a:r>
              <a:rPr lang="en-IN" sz="3200" dirty="0"/>
              <a:t>FUNCTION </a:t>
            </a:r>
            <a:r>
              <a:rPr lang="en-IN" sz="3200" dirty="0" err="1"/>
              <a:t>extract_features</a:t>
            </a:r>
            <a:r>
              <a:rPr lang="en-IN" sz="3200" dirty="0"/>
              <a:t>(</a:t>
            </a:r>
            <a:r>
              <a:rPr lang="en-IN" sz="3200" dirty="0" err="1"/>
              <a:t>bbox</a:t>
            </a:r>
            <a:r>
              <a:rPr lang="en-IN" sz="3200" dirty="0"/>
              <a:t>, </a:t>
            </a:r>
            <a:r>
              <a:rPr lang="en-IN" sz="3200" dirty="0" err="1"/>
              <a:t>previous_state</a:t>
            </a:r>
            <a:r>
              <a:rPr lang="en-IN" sz="3200" dirty="0"/>
              <a:t>):</a:t>
            </a:r>
          </a:p>
          <a:p>
            <a:r>
              <a:rPr lang="en-IN" sz="3200" dirty="0"/>
              <a:t>    x, y, w, h ← </a:t>
            </a:r>
            <a:r>
              <a:rPr lang="en-IN" sz="3200" dirty="0" err="1"/>
              <a:t>bbox</a:t>
            </a:r>
            <a:endParaRPr lang="en-IN" sz="3200" dirty="0"/>
          </a:p>
          <a:p>
            <a:r>
              <a:rPr lang="en-IN" sz="3200" dirty="0"/>
              <a:t>    area ← w * h</a:t>
            </a:r>
          </a:p>
          <a:p>
            <a:r>
              <a:rPr lang="en-IN" sz="3200" dirty="0"/>
              <a:t>    </a:t>
            </a:r>
            <a:r>
              <a:rPr lang="en-IN" sz="3200" dirty="0" err="1"/>
              <a:t>aspect_ratio</a:t>
            </a:r>
            <a:r>
              <a:rPr lang="en-IN" sz="3200" dirty="0"/>
              <a:t> ← w / h</a:t>
            </a:r>
          </a:p>
          <a:p>
            <a:endParaRPr lang="en-IN" sz="3200" dirty="0"/>
          </a:p>
          <a:p>
            <a:r>
              <a:rPr lang="en-IN" sz="3200" dirty="0"/>
              <a:t>    </a:t>
            </a:r>
            <a:r>
              <a:rPr lang="en-IN" sz="3200" dirty="0" err="1"/>
              <a:t>center_x</a:t>
            </a:r>
            <a:r>
              <a:rPr lang="en-IN" sz="3200" dirty="0"/>
              <a:t> ← (x + w/2) / </a:t>
            </a:r>
            <a:r>
              <a:rPr lang="en-IN" sz="3200" dirty="0" err="1"/>
              <a:t>frame_width</a:t>
            </a:r>
            <a:endParaRPr lang="en-IN" sz="3200" dirty="0"/>
          </a:p>
          <a:p>
            <a:r>
              <a:rPr lang="en-IN" sz="3200" dirty="0"/>
              <a:t>    </a:t>
            </a:r>
            <a:r>
              <a:rPr lang="en-IN" sz="3200" dirty="0" err="1"/>
              <a:t>center_y</a:t>
            </a:r>
            <a:r>
              <a:rPr lang="en-IN" sz="3200" dirty="0"/>
              <a:t> ← (y + h/2) / </a:t>
            </a:r>
            <a:r>
              <a:rPr lang="en-IN" sz="3200" dirty="0" err="1"/>
              <a:t>frame_height</a:t>
            </a:r>
            <a:endParaRPr lang="en-IN" sz="3200" dirty="0"/>
          </a:p>
          <a:p>
            <a:r>
              <a:rPr lang="en-IN" sz="3200" dirty="0"/>
              <a:t>    </a:t>
            </a:r>
            <a:r>
              <a:rPr lang="en-IN" sz="3200" dirty="0" err="1"/>
              <a:t>speed_pixel</a:t>
            </a:r>
            <a:r>
              <a:rPr lang="en-IN" sz="3200" dirty="0"/>
              <a:t> ← </a:t>
            </a:r>
            <a:r>
              <a:rPr lang="en-IN" sz="3200" dirty="0" err="1"/>
              <a:t>current_height</a:t>
            </a:r>
            <a:r>
              <a:rPr lang="en-IN" sz="3200" dirty="0"/>
              <a:t> - </a:t>
            </a:r>
            <a:r>
              <a:rPr lang="en-IN" sz="3200" dirty="0" err="1"/>
              <a:t>previous_height</a:t>
            </a:r>
            <a:endParaRPr lang="en-IN" sz="3200" dirty="0"/>
          </a:p>
          <a:p>
            <a:endParaRPr lang="en-IN" sz="3200" dirty="0"/>
          </a:p>
          <a:p>
            <a:r>
              <a:rPr lang="en-IN" sz="3200" dirty="0"/>
              <a:t>    acceleration ← </a:t>
            </a:r>
            <a:r>
              <a:rPr lang="en-IN" sz="3200" dirty="0" err="1"/>
              <a:t>speed_pixel</a:t>
            </a:r>
            <a:r>
              <a:rPr lang="en-IN" sz="3200" dirty="0"/>
              <a:t> - </a:t>
            </a:r>
            <a:r>
              <a:rPr lang="en-IN" sz="3200" dirty="0" err="1"/>
              <a:t>previous_speed</a:t>
            </a:r>
            <a:endParaRPr lang="en-IN" sz="3200" dirty="0"/>
          </a:p>
          <a:p>
            <a:r>
              <a:rPr lang="en-IN" sz="3200" dirty="0"/>
              <a:t>    jerk ← acceleration - </a:t>
            </a:r>
            <a:r>
              <a:rPr lang="en-IN" sz="3200" dirty="0" err="1"/>
              <a:t>previous_acceleration</a:t>
            </a:r>
            <a:endParaRPr lang="en-IN" sz="3200" dirty="0"/>
          </a:p>
          <a:p>
            <a:r>
              <a:rPr lang="en-IN" sz="3200" dirty="0"/>
              <a:t>    distance ← (</a:t>
            </a:r>
            <a:r>
              <a:rPr lang="en-IN" sz="3200" dirty="0" err="1"/>
              <a:t>real_height</a:t>
            </a:r>
            <a:r>
              <a:rPr lang="en-IN" sz="3200" dirty="0"/>
              <a:t> * </a:t>
            </a:r>
            <a:r>
              <a:rPr lang="en-IN" sz="3200" dirty="0" err="1"/>
              <a:t>focal_length</a:t>
            </a:r>
            <a:r>
              <a:rPr lang="en-IN" sz="3200" dirty="0"/>
              <a:t>) / h</a:t>
            </a:r>
          </a:p>
          <a:p>
            <a:r>
              <a:rPr lang="en-IN" sz="3200" dirty="0"/>
              <a:t>    </a:t>
            </a:r>
            <a:r>
              <a:rPr lang="en-IN" sz="3200" dirty="0" err="1"/>
              <a:t>speed_mps</a:t>
            </a:r>
            <a:r>
              <a:rPr lang="en-IN" sz="3200" dirty="0"/>
              <a:t> ← convert(</a:t>
            </a:r>
            <a:r>
              <a:rPr lang="en-IN" sz="3200" dirty="0" err="1"/>
              <a:t>speed_pixel</a:t>
            </a:r>
            <a:r>
              <a:rPr lang="en-IN" sz="3200" dirty="0"/>
              <a:t>)</a:t>
            </a:r>
          </a:p>
          <a:p>
            <a:endParaRPr lang="en-IN" sz="3200" dirty="0"/>
          </a:p>
          <a:p>
            <a:r>
              <a:rPr lang="en-IN" sz="3200" dirty="0"/>
              <a:t>    IF object approaching:</a:t>
            </a:r>
          </a:p>
          <a:p>
            <a:r>
              <a:rPr lang="en-IN" sz="3200" dirty="0"/>
              <a:t>        </a:t>
            </a:r>
            <a:r>
              <a:rPr lang="en-IN" sz="3200" dirty="0" err="1"/>
              <a:t>ttc</a:t>
            </a:r>
            <a:r>
              <a:rPr lang="en-IN" sz="3200" dirty="0"/>
              <a:t> ← distance / speed</a:t>
            </a:r>
          </a:p>
          <a:p>
            <a:r>
              <a:rPr lang="en-IN" sz="3200" dirty="0"/>
              <a:t>    ELSE:</a:t>
            </a:r>
          </a:p>
          <a:p>
            <a:r>
              <a:rPr lang="en-IN" sz="3200" dirty="0"/>
              <a:t>        </a:t>
            </a:r>
            <a:r>
              <a:rPr lang="en-IN" sz="3200" dirty="0" err="1"/>
              <a:t>ttc</a:t>
            </a:r>
            <a:r>
              <a:rPr lang="en-IN" sz="3200" dirty="0"/>
              <a:t> ← </a:t>
            </a:r>
            <a:r>
              <a:rPr lang="en-IN" sz="3200" dirty="0" err="1"/>
              <a:t>large_value</a:t>
            </a:r>
            <a:endParaRPr lang="en-IN" sz="3200" dirty="0"/>
          </a:p>
          <a:p>
            <a:r>
              <a:rPr lang="en-IN" sz="3200" dirty="0"/>
              <a:t>    RETURN </a:t>
            </a:r>
            <a:r>
              <a:rPr lang="en-IN" sz="3200" dirty="0" err="1"/>
              <a:t>feature_vector</a:t>
            </a:r>
            <a:r>
              <a:rPr lang="en-IN" sz="3200" dirty="0"/>
              <a:t>, distance, speed, </a:t>
            </a:r>
            <a:r>
              <a:rPr lang="en-IN" sz="3200" dirty="0" err="1"/>
              <a:t>ttc</a:t>
            </a:r>
            <a:endParaRPr lang="en-IN" sz="3200" dirty="0"/>
          </a:p>
          <a:p>
            <a:r>
              <a:rPr lang="en-IN" sz="3200" dirty="0"/>
              <a:t>END FUNCTION</a:t>
            </a:r>
          </a:p>
        </p:txBody>
      </p:sp>
      <p:sp>
        <p:nvSpPr>
          <p:cNvPr id="2" name="object 7">
            <a:extLst>
              <a:ext uri="{FF2B5EF4-FFF2-40B4-BE49-F238E27FC236}">
                <a16:creationId xmlns:a16="http://schemas.microsoft.com/office/drawing/2014/main" id="{CAED5C68-AF31-F779-BF79-7FF80FCE483F}"/>
              </a:ext>
            </a:extLst>
          </p:cNvPr>
          <p:cNvSpPr/>
          <p:nvPr/>
        </p:nvSpPr>
        <p:spPr>
          <a:xfrm rot="10800000" flipH="1">
            <a:off x="17950005" y="0"/>
            <a:ext cx="2154095" cy="11279505"/>
          </a:xfrm>
          <a:prstGeom prst="rect">
            <a:avLst/>
          </a:prstGeom>
          <a:blipFill>
            <a:blip r:embed="rId2"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643846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EF14C1-80D2-9C87-D590-E29D1861D8C6}"/>
              </a:ext>
            </a:extLst>
          </p:cNvPr>
          <p:cNvSpPr txBox="1"/>
          <p:nvPr/>
        </p:nvSpPr>
        <p:spPr>
          <a:xfrm>
            <a:off x="450850" y="320675"/>
            <a:ext cx="16154400"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Tracking Algorithm (SORT + Kalman Filter)</a:t>
            </a:r>
          </a:p>
        </p:txBody>
      </p:sp>
      <p:sp>
        <p:nvSpPr>
          <p:cNvPr id="5" name="TextBox 4">
            <a:extLst>
              <a:ext uri="{FF2B5EF4-FFF2-40B4-BE49-F238E27FC236}">
                <a16:creationId xmlns:a16="http://schemas.microsoft.com/office/drawing/2014/main" id="{04F5ED49-4E64-DC9A-0308-B8E158676527}"/>
              </a:ext>
            </a:extLst>
          </p:cNvPr>
          <p:cNvSpPr txBox="1"/>
          <p:nvPr/>
        </p:nvSpPr>
        <p:spPr>
          <a:xfrm>
            <a:off x="755650" y="930305"/>
            <a:ext cx="14778643" cy="9448740"/>
          </a:xfrm>
          <a:prstGeom prst="rect">
            <a:avLst/>
          </a:prstGeom>
          <a:noFill/>
        </p:spPr>
        <p:txBody>
          <a:bodyPr wrap="square">
            <a:spAutoFit/>
          </a:bodyPr>
          <a:lstStyle/>
          <a:p>
            <a:r>
              <a:rPr lang="en-IN" sz="3200" dirty="0"/>
              <a:t>BEGIN</a:t>
            </a:r>
          </a:p>
          <a:p>
            <a:r>
              <a:rPr lang="en-IN" sz="3200" dirty="0"/>
              <a:t>FOR each frame:</a:t>
            </a:r>
          </a:p>
          <a:p>
            <a:endParaRPr lang="en-IN" sz="3200" dirty="0"/>
          </a:p>
          <a:p>
            <a:r>
              <a:rPr lang="en-IN" sz="3200" dirty="0"/>
              <a:t>    PREDICT next position of all tracks</a:t>
            </a:r>
          </a:p>
          <a:p>
            <a:r>
              <a:rPr lang="en-IN" sz="3200" dirty="0"/>
              <a:t>    COMPUTE </a:t>
            </a:r>
            <a:r>
              <a:rPr lang="en-IN" sz="3200" dirty="0" err="1"/>
              <a:t>IoU</a:t>
            </a:r>
            <a:r>
              <a:rPr lang="en-IN" sz="3200" dirty="0"/>
              <a:t> between detections and predictions</a:t>
            </a:r>
          </a:p>
          <a:p>
            <a:r>
              <a:rPr lang="en-IN" sz="3200" dirty="0"/>
              <a:t>    MATCH detections to tracks</a:t>
            </a:r>
          </a:p>
          <a:p>
            <a:endParaRPr lang="en-IN" sz="3200" dirty="0"/>
          </a:p>
          <a:p>
            <a:r>
              <a:rPr lang="en-IN" sz="3200" dirty="0"/>
              <a:t>    FOR matched pairs:</a:t>
            </a:r>
          </a:p>
          <a:p>
            <a:r>
              <a:rPr lang="en-IN" sz="3200" dirty="0"/>
              <a:t>        UPDATE Kalman Filter</a:t>
            </a:r>
          </a:p>
          <a:p>
            <a:endParaRPr lang="en-IN" sz="3200" dirty="0"/>
          </a:p>
          <a:p>
            <a:r>
              <a:rPr lang="en-IN" sz="3200" dirty="0"/>
              <a:t>    FOR unmatched detections:</a:t>
            </a:r>
          </a:p>
          <a:p>
            <a:r>
              <a:rPr lang="en-IN" sz="3200" dirty="0"/>
              <a:t>        CREATE new track</a:t>
            </a:r>
          </a:p>
          <a:p>
            <a:endParaRPr lang="en-IN" sz="3200" dirty="0"/>
          </a:p>
          <a:p>
            <a:r>
              <a:rPr lang="en-IN" sz="3200" dirty="0"/>
              <a:t>    FOR unmatched tracks:</a:t>
            </a:r>
          </a:p>
          <a:p>
            <a:r>
              <a:rPr lang="en-IN" sz="3200" dirty="0"/>
              <a:t>        INCREMENT miss count</a:t>
            </a:r>
          </a:p>
          <a:p>
            <a:endParaRPr lang="en-IN" sz="3200" dirty="0"/>
          </a:p>
          <a:p>
            <a:r>
              <a:rPr lang="en-IN" sz="3200" dirty="0"/>
              <a:t>    REMOVE tracks with high miss count</a:t>
            </a:r>
          </a:p>
          <a:p>
            <a:r>
              <a:rPr lang="en-IN" sz="3200" dirty="0"/>
              <a:t>RETURN active tracks</a:t>
            </a:r>
          </a:p>
          <a:p>
            <a:r>
              <a:rPr lang="en-IN" sz="3200" dirty="0"/>
              <a:t>END</a:t>
            </a:r>
          </a:p>
        </p:txBody>
      </p:sp>
      <p:sp>
        <p:nvSpPr>
          <p:cNvPr id="2" name="object 5">
            <a:extLst>
              <a:ext uri="{FF2B5EF4-FFF2-40B4-BE49-F238E27FC236}">
                <a16:creationId xmlns:a16="http://schemas.microsoft.com/office/drawing/2014/main" id="{F5A18BF9-6F44-CA34-F867-8366631895F6}"/>
              </a:ext>
            </a:extLst>
          </p:cNvPr>
          <p:cNvSpPr/>
          <p:nvPr/>
        </p:nvSpPr>
        <p:spPr>
          <a:xfrm rot="5400000" flipV="1">
            <a:off x="12852400" y="4057650"/>
            <a:ext cx="11309352" cy="3194052"/>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14534834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A1B6C1-B3C0-60B6-6EFA-CE27FDA282B6}"/>
              </a:ext>
            </a:extLst>
          </p:cNvPr>
          <p:cNvSpPr txBox="1"/>
          <p:nvPr/>
        </p:nvSpPr>
        <p:spPr>
          <a:xfrm>
            <a:off x="450850" y="244475"/>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Risk Decision Logic </a:t>
            </a:r>
          </a:p>
        </p:txBody>
      </p:sp>
      <p:sp>
        <p:nvSpPr>
          <p:cNvPr id="5" name="TextBox 4">
            <a:extLst>
              <a:ext uri="{FF2B5EF4-FFF2-40B4-BE49-F238E27FC236}">
                <a16:creationId xmlns:a16="http://schemas.microsoft.com/office/drawing/2014/main" id="{16EC4D8E-1096-A8F6-D153-08CF8C1725C7}"/>
              </a:ext>
            </a:extLst>
          </p:cNvPr>
          <p:cNvSpPr txBox="1"/>
          <p:nvPr/>
        </p:nvSpPr>
        <p:spPr>
          <a:xfrm>
            <a:off x="755650" y="1692275"/>
            <a:ext cx="10050086" cy="4031873"/>
          </a:xfrm>
          <a:prstGeom prst="rect">
            <a:avLst/>
          </a:prstGeom>
          <a:noFill/>
        </p:spPr>
        <p:txBody>
          <a:bodyPr wrap="square">
            <a:spAutoFit/>
          </a:bodyPr>
          <a:lstStyle/>
          <a:p>
            <a:r>
              <a:rPr lang="en-IN" sz="3200" dirty="0"/>
              <a:t>IF TTC &lt; 1.5 OR distance &lt; 4:</a:t>
            </a:r>
          </a:p>
          <a:p>
            <a:r>
              <a:rPr lang="en-IN" sz="3200" dirty="0"/>
              <a:t>    RISK = DANGER</a:t>
            </a:r>
          </a:p>
          <a:p>
            <a:endParaRPr lang="en-IN" sz="3200" dirty="0"/>
          </a:p>
          <a:p>
            <a:r>
              <a:rPr lang="en-IN" sz="3200" dirty="0"/>
              <a:t>ELSE IF TTC &lt; 3 OR distance &lt; 10:</a:t>
            </a:r>
          </a:p>
          <a:p>
            <a:r>
              <a:rPr lang="en-IN" sz="3200" dirty="0"/>
              <a:t>    RISK = WARNING</a:t>
            </a:r>
          </a:p>
          <a:p>
            <a:endParaRPr lang="en-IN" sz="3200" dirty="0"/>
          </a:p>
          <a:p>
            <a:r>
              <a:rPr lang="en-IN" sz="3200" dirty="0"/>
              <a:t>ELSE:</a:t>
            </a:r>
          </a:p>
          <a:p>
            <a:r>
              <a:rPr lang="en-IN" sz="3200" dirty="0"/>
              <a:t>    RISK = SAFE</a:t>
            </a:r>
          </a:p>
        </p:txBody>
      </p:sp>
      <p:sp>
        <p:nvSpPr>
          <p:cNvPr id="7" name="TextBox 6">
            <a:extLst>
              <a:ext uri="{FF2B5EF4-FFF2-40B4-BE49-F238E27FC236}">
                <a16:creationId xmlns:a16="http://schemas.microsoft.com/office/drawing/2014/main" id="{5B7562DE-EE07-C58F-7B58-1D4BC941516C}"/>
              </a:ext>
            </a:extLst>
          </p:cNvPr>
          <p:cNvSpPr txBox="1"/>
          <p:nvPr/>
        </p:nvSpPr>
        <p:spPr>
          <a:xfrm>
            <a:off x="450850" y="5959475"/>
            <a:ext cx="10050086" cy="738664"/>
          </a:xfrm>
          <a:prstGeom prst="rect">
            <a:avLst/>
          </a:prstGeom>
          <a:noFill/>
        </p:spPr>
        <p:txBody>
          <a:bodyPr wrap="square">
            <a:spAutoFit/>
          </a:bodyPr>
          <a:lstStyle/>
          <a:p>
            <a:r>
              <a:rPr lang="en-IN" sz="4200" dirty="0">
                <a:solidFill>
                  <a:schemeClr val="tx2"/>
                </a:solidFill>
                <a:latin typeface="Imprint MT Shadow" panose="04020605060303030202" pitchFamily="82" charset="0"/>
              </a:rPr>
              <a:t>Prediction Smoothing </a:t>
            </a:r>
          </a:p>
        </p:txBody>
      </p:sp>
      <p:sp>
        <p:nvSpPr>
          <p:cNvPr id="9" name="TextBox 8">
            <a:extLst>
              <a:ext uri="{FF2B5EF4-FFF2-40B4-BE49-F238E27FC236}">
                <a16:creationId xmlns:a16="http://schemas.microsoft.com/office/drawing/2014/main" id="{A45E43BB-EC00-89A1-5336-47622B221416}"/>
              </a:ext>
            </a:extLst>
          </p:cNvPr>
          <p:cNvSpPr txBox="1"/>
          <p:nvPr/>
        </p:nvSpPr>
        <p:spPr>
          <a:xfrm>
            <a:off x="755650" y="7178675"/>
            <a:ext cx="10050086" cy="1569660"/>
          </a:xfrm>
          <a:prstGeom prst="rect">
            <a:avLst/>
          </a:prstGeom>
          <a:noFill/>
        </p:spPr>
        <p:txBody>
          <a:bodyPr wrap="square">
            <a:spAutoFit/>
          </a:bodyPr>
          <a:lstStyle/>
          <a:p>
            <a:r>
              <a:rPr lang="en-IN" sz="3200" dirty="0"/>
              <a:t>ADD </a:t>
            </a:r>
            <a:r>
              <a:rPr lang="en-IN" sz="3200" dirty="0" err="1"/>
              <a:t>current_label</a:t>
            </a:r>
            <a:r>
              <a:rPr lang="en-IN" sz="3200" dirty="0"/>
              <a:t> TO </a:t>
            </a:r>
            <a:r>
              <a:rPr lang="en-IN" sz="3200" dirty="0" err="1"/>
              <a:t>history_buffer</a:t>
            </a:r>
            <a:endParaRPr lang="en-IN" sz="3200" dirty="0"/>
          </a:p>
          <a:p>
            <a:endParaRPr lang="en-IN" sz="3200" dirty="0"/>
          </a:p>
          <a:p>
            <a:r>
              <a:rPr lang="en-IN" sz="3200" dirty="0"/>
              <a:t>FINAL_LABEL ← </a:t>
            </a:r>
            <a:r>
              <a:rPr lang="en-IN" sz="3200" dirty="0" err="1"/>
              <a:t>most_frequent_label</a:t>
            </a:r>
            <a:r>
              <a:rPr lang="en-IN" sz="3200" dirty="0"/>
              <a:t>(</a:t>
            </a:r>
            <a:r>
              <a:rPr lang="en-IN" sz="3200" dirty="0" err="1"/>
              <a:t>history_buffer</a:t>
            </a:r>
            <a:r>
              <a:rPr lang="en-IN" sz="3200" dirty="0"/>
              <a:t>)</a:t>
            </a:r>
          </a:p>
        </p:txBody>
      </p:sp>
      <p:sp>
        <p:nvSpPr>
          <p:cNvPr id="6" name="object 5">
            <a:extLst>
              <a:ext uri="{FF2B5EF4-FFF2-40B4-BE49-F238E27FC236}">
                <a16:creationId xmlns:a16="http://schemas.microsoft.com/office/drawing/2014/main" id="{39903BC4-EBEE-84A5-9640-EEAEDA174E8E}"/>
              </a:ext>
            </a:extLst>
          </p:cNvPr>
          <p:cNvSpPr/>
          <p:nvPr/>
        </p:nvSpPr>
        <p:spPr>
          <a:xfrm rot="10800000" flipV="1">
            <a:off x="-12873" y="8016875"/>
            <a:ext cx="20129846" cy="3292475"/>
          </a:xfrm>
          <a:prstGeom prst="rect">
            <a:avLst/>
          </a:prstGeom>
          <a:blipFill>
            <a:blip r:embed="rId2" cstate="print"/>
            <a:stretch>
              <a:fillRect/>
            </a:stretch>
          </a:blipFill>
        </p:spPr>
        <p:txBody>
          <a:bodyPr wrap="square" lIns="0" tIns="0" rIns="0" bIns="0" rtlCol="0"/>
          <a:lstStyle/>
          <a:p>
            <a:endParaRPr dirty="0"/>
          </a:p>
        </p:txBody>
      </p:sp>
      <p:sp>
        <p:nvSpPr>
          <p:cNvPr id="8" name="object 7">
            <a:extLst>
              <a:ext uri="{FF2B5EF4-FFF2-40B4-BE49-F238E27FC236}">
                <a16:creationId xmlns:a16="http://schemas.microsoft.com/office/drawing/2014/main" id="{005B12C8-4CAF-8488-FB89-2311C2D3B3EE}"/>
              </a:ext>
            </a:extLst>
          </p:cNvPr>
          <p:cNvSpPr/>
          <p:nvPr/>
        </p:nvSpPr>
        <p:spPr>
          <a:xfrm rot="10800000" flipH="1">
            <a:off x="17950005" y="-1"/>
            <a:ext cx="2154095" cy="11309350"/>
          </a:xfrm>
          <a:prstGeom prst="rect">
            <a:avLst/>
          </a:prstGeom>
          <a:blipFill>
            <a:blip r:embed="rId3" cstate="print"/>
            <a:stretch>
              <a:fillRect/>
            </a:stretch>
          </a:blipFill>
        </p:spPr>
        <p:txBody>
          <a:bodyPr wrap="square" lIns="0" tIns="0" rIns="0" bIns="0" rtlCol="0"/>
          <a:lstStyle/>
          <a:p>
            <a:endParaRPr/>
          </a:p>
        </p:txBody>
      </p:sp>
    </p:spTree>
    <p:extLst>
      <p:ext uri="{BB962C8B-B14F-4D97-AF65-F5344CB8AC3E}">
        <p14:creationId xmlns:p14="http://schemas.microsoft.com/office/powerpoint/2010/main" val="29367357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917B158-7508-6F99-3787-48A67A45E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7444" y="1894544"/>
            <a:ext cx="14562747" cy="7520262"/>
          </a:xfrm>
          <a:prstGeom prst="rect">
            <a:avLst/>
          </a:prstGeom>
        </p:spPr>
      </p:pic>
      <p:sp>
        <p:nvSpPr>
          <p:cNvPr id="8" name="TextBox 7">
            <a:extLst>
              <a:ext uri="{FF2B5EF4-FFF2-40B4-BE49-F238E27FC236}">
                <a16:creationId xmlns:a16="http://schemas.microsoft.com/office/drawing/2014/main" id="{9912C59F-9E31-66F8-717B-FB32A0A8C6EB}"/>
              </a:ext>
            </a:extLst>
          </p:cNvPr>
          <p:cNvSpPr txBox="1"/>
          <p:nvPr/>
        </p:nvSpPr>
        <p:spPr>
          <a:xfrm>
            <a:off x="4046268" y="9701467"/>
            <a:ext cx="14219197"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2 : Pothole detected images for different road condition </a:t>
            </a:r>
            <a:endParaRPr lang="en-IN" sz="3958" b="1" dirty="0">
              <a:solidFill>
                <a:schemeClr val="accent5">
                  <a:lumMod val="50000"/>
                </a:schemeClr>
              </a:solidFill>
              <a:latin typeface="Imprint MT Shadow" panose="04020605060303030202" pitchFamily="82" charset="0"/>
            </a:endParaRPr>
          </a:p>
        </p:txBody>
      </p:sp>
      <p:sp>
        <p:nvSpPr>
          <p:cNvPr id="9" name="TextBox 8">
            <a:extLst>
              <a:ext uri="{FF2B5EF4-FFF2-40B4-BE49-F238E27FC236}">
                <a16:creationId xmlns:a16="http://schemas.microsoft.com/office/drawing/2014/main" id="{4BE75A56-3411-6EBE-958D-4AF72F386090}"/>
              </a:ext>
            </a:extLst>
          </p:cNvPr>
          <p:cNvSpPr txBox="1"/>
          <p:nvPr/>
        </p:nvSpPr>
        <p:spPr>
          <a:xfrm>
            <a:off x="755650" y="452502"/>
            <a:ext cx="14562746" cy="907941"/>
          </a:xfrm>
          <a:prstGeom prst="rect">
            <a:avLst/>
          </a:prstGeom>
          <a:noFill/>
        </p:spPr>
        <p:txBody>
          <a:bodyPr wrap="square" rtlCol="0">
            <a:spAutoFit/>
          </a:bodyPr>
          <a:lstStyle/>
          <a:p>
            <a:r>
              <a:rPr lang="en-IN" sz="5300" b="1" dirty="0">
                <a:solidFill>
                  <a:schemeClr val="accent5">
                    <a:lumMod val="75000"/>
                  </a:schemeClr>
                </a:solidFill>
                <a:latin typeface="Imprint MT Shadow" panose="04020605060303030202" pitchFamily="82" charset="0"/>
              </a:rPr>
              <a:t>RESULTS AND ANALYSIS</a:t>
            </a:r>
            <a:r>
              <a:rPr lang="en-IN" sz="5300" dirty="0">
                <a:latin typeface="Imprint MT Shadow" panose="04020605060303030202" pitchFamily="82" charset="0"/>
              </a:rPr>
              <a:t> </a:t>
            </a:r>
          </a:p>
        </p:txBody>
      </p:sp>
    </p:spTree>
    <p:extLst>
      <p:ext uri="{BB962C8B-B14F-4D97-AF65-F5344CB8AC3E}">
        <p14:creationId xmlns:p14="http://schemas.microsoft.com/office/powerpoint/2010/main" val="16132991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AD41908-BE89-488C-0637-5CF7B7C1F4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728" y="1735185"/>
            <a:ext cx="9816186" cy="7555250"/>
          </a:xfrm>
          <a:prstGeom prst="rect">
            <a:avLst/>
          </a:prstGeom>
        </p:spPr>
      </p:pic>
      <p:pic>
        <p:nvPicPr>
          <p:cNvPr id="13" name="Picture 12">
            <a:extLst>
              <a:ext uri="{FF2B5EF4-FFF2-40B4-BE49-F238E27FC236}">
                <a16:creationId xmlns:a16="http://schemas.microsoft.com/office/drawing/2014/main" id="{D1CDF5F9-B5BB-B174-D836-B9A8287F52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7914" y="1605481"/>
            <a:ext cx="9816186" cy="7555250"/>
          </a:xfrm>
          <a:prstGeom prst="rect">
            <a:avLst/>
          </a:prstGeom>
        </p:spPr>
      </p:pic>
      <p:sp>
        <p:nvSpPr>
          <p:cNvPr id="14" name="TextBox 13">
            <a:extLst>
              <a:ext uri="{FF2B5EF4-FFF2-40B4-BE49-F238E27FC236}">
                <a16:creationId xmlns:a16="http://schemas.microsoft.com/office/drawing/2014/main" id="{7A10614D-DF7D-79DD-6995-F2837EE763CF}"/>
              </a:ext>
            </a:extLst>
          </p:cNvPr>
          <p:cNvSpPr txBox="1"/>
          <p:nvPr/>
        </p:nvSpPr>
        <p:spPr>
          <a:xfrm>
            <a:off x="3645458" y="9703870"/>
            <a:ext cx="14333715"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3 : F1-confidence curve and precision-confidence curve </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35043580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0BFE3A-D069-00E1-6AC7-685B9D2E56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313650"/>
            <a:ext cx="10611913" cy="8009213"/>
          </a:xfrm>
          <a:prstGeom prst="rect">
            <a:avLst/>
          </a:prstGeom>
        </p:spPr>
      </p:pic>
      <p:pic>
        <p:nvPicPr>
          <p:cNvPr id="5" name="Picture 4">
            <a:extLst>
              <a:ext uri="{FF2B5EF4-FFF2-40B4-BE49-F238E27FC236}">
                <a16:creationId xmlns:a16="http://schemas.microsoft.com/office/drawing/2014/main" id="{51D019CB-257B-3A7E-F800-10916A691D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59223" y="1313648"/>
            <a:ext cx="9644878" cy="8009213"/>
          </a:xfrm>
          <a:prstGeom prst="rect">
            <a:avLst/>
          </a:prstGeom>
        </p:spPr>
      </p:pic>
      <p:sp>
        <p:nvSpPr>
          <p:cNvPr id="6" name="TextBox 5">
            <a:extLst>
              <a:ext uri="{FF2B5EF4-FFF2-40B4-BE49-F238E27FC236}">
                <a16:creationId xmlns:a16="http://schemas.microsoft.com/office/drawing/2014/main" id="{B024FFCB-116A-EA2F-DE17-225F08F0B30C}"/>
              </a:ext>
            </a:extLst>
          </p:cNvPr>
          <p:cNvSpPr txBox="1"/>
          <p:nvPr/>
        </p:nvSpPr>
        <p:spPr>
          <a:xfrm>
            <a:off x="3969926" y="9615068"/>
            <a:ext cx="14791781"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4 : Precision-Recall curve and Recall-Confidence Curve</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113243896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36A1192-61E7-93A0-1CB7-4634575D3391}"/>
              </a:ext>
            </a:extLst>
          </p:cNvPr>
          <p:cNvPicPr>
            <a:picLocks noChangeAspect="1"/>
          </p:cNvPicPr>
          <p:nvPr/>
        </p:nvPicPr>
        <p:blipFill>
          <a:blip r:embed="rId2">
            <a:extLst>
              <a:ext uri="{28A0092B-C50C-407E-A947-70E740481C1C}">
                <a14:useLocalDpi xmlns:a14="http://schemas.microsoft.com/office/drawing/2010/main" val="0"/>
              </a:ext>
            </a:extLst>
          </a:blip>
          <a:srcRect t="24295" b="10557"/>
          <a:stretch>
            <a:fillRect/>
          </a:stretch>
        </p:blipFill>
        <p:spPr>
          <a:xfrm>
            <a:off x="766628" y="1050135"/>
            <a:ext cx="18570844" cy="8598322"/>
          </a:xfrm>
          <a:prstGeom prst="rect">
            <a:avLst/>
          </a:prstGeom>
        </p:spPr>
      </p:pic>
      <p:sp>
        <p:nvSpPr>
          <p:cNvPr id="4" name="TextBox 3">
            <a:extLst>
              <a:ext uri="{FF2B5EF4-FFF2-40B4-BE49-F238E27FC236}">
                <a16:creationId xmlns:a16="http://schemas.microsoft.com/office/drawing/2014/main" id="{458AA1A6-5D5E-AEE4-31CC-025490723FB9}"/>
              </a:ext>
            </a:extLst>
          </p:cNvPr>
          <p:cNvSpPr txBox="1"/>
          <p:nvPr/>
        </p:nvSpPr>
        <p:spPr>
          <a:xfrm>
            <a:off x="5811738" y="10011094"/>
            <a:ext cx="15727004"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5 : Results CSV File Image</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12015758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5D1076A-E9A9-50DE-4791-1617A50FD4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698" y="342358"/>
            <a:ext cx="19130705" cy="9239297"/>
          </a:xfrm>
          <a:prstGeom prst="rect">
            <a:avLst/>
          </a:prstGeom>
        </p:spPr>
      </p:pic>
      <p:sp>
        <p:nvSpPr>
          <p:cNvPr id="9" name="TextBox 8">
            <a:extLst>
              <a:ext uri="{FF2B5EF4-FFF2-40B4-BE49-F238E27FC236}">
                <a16:creationId xmlns:a16="http://schemas.microsoft.com/office/drawing/2014/main" id="{0B1C2C4B-0642-2759-6A73-E08CF0381582}"/>
              </a:ext>
            </a:extLst>
          </p:cNvPr>
          <p:cNvSpPr txBox="1"/>
          <p:nvPr/>
        </p:nvSpPr>
        <p:spPr>
          <a:xfrm>
            <a:off x="3034702" y="9897449"/>
            <a:ext cx="16872175" cy="701410"/>
          </a:xfrm>
          <a:prstGeom prst="rect">
            <a:avLst/>
          </a:prstGeom>
          <a:noFill/>
        </p:spPr>
        <p:txBody>
          <a:bodyPr wrap="square">
            <a:spAutoFit/>
          </a:bodyPr>
          <a:lstStyle/>
          <a:p>
            <a:r>
              <a:rPr lang="en-US" sz="3958" b="1" dirty="0">
                <a:solidFill>
                  <a:schemeClr val="accent5">
                    <a:lumMod val="50000"/>
                  </a:schemeClr>
                </a:solidFill>
                <a:latin typeface="Imprint MT Shadow" panose="04020605060303030202" pitchFamily="82" charset="0"/>
              </a:rPr>
              <a:t>Fig 6: YOLOv8 Training Performance Metrics for Pothole Detection</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18971536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ECB2E4-8CF2-3338-92A7-56C291FBA7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0445" y="463236"/>
            <a:ext cx="15631574" cy="9557400"/>
          </a:xfrm>
          <a:prstGeom prst="rect">
            <a:avLst/>
          </a:prstGeom>
        </p:spPr>
      </p:pic>
      <p:sp>
        <p:nvSpPr>
          <p:cNvPr id="5" name="TextBox 4">
            <a:extLst>
              <a:ext uri="{FF2B5EF4-FFF2-40B4-BE49-F238E27FC236}">
                <a16:creationId xmlns:a16="http://schemas.microsoft.com/office/drawing/2014/main" id="{4CFC8CBB-FD39-E478-9A2E-61ACE1D577DD}"/>
              </a:ext>
            </a:extLst>
          </p:cNvPr>
          <p:cNvSpPr txBox="1"/>
          <p:nvPr/>
        </p:nvSpPr>
        <p:spPr>
          <a:xfrm>
            <a:off x="4370733" y="10020636"/>
            <a:ext cx="13279205" cy="701410"/>
          </a:xfrm>
          <a:prstGeom prst="rect">
            <a:avLst/>
          </a:prstGeom>
          <a:noFill/>
        </p:spPr>
        <p:txBody>
          <a:bodyPr wrap="square">
            <a:spAutoFit/>
          </a:bodyPr>
          <a:lstStyle/>
          <a:p>
            <a:r>
              <a:rPr lang="en-US" sz="3958" b="1" dirty="0">
                <a:solidFill>
                  <a:schemeClr val="accent5">
                    <a:lumMod val="50000"/>
                  </a:schemeClr>
                </a:solidFill>
                <a:latin typeface="Imprint MT Shadow" panose="04020605060303030202" pitchFamily="82" charset="0"/>
              </a:rPr>
              <a:t>Fig 7 :  Pothole Dataset Analysis and Label Distribution</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42006737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8743EF-8CC6-7298-3FDB-95B07C31C0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2325" y="945160"/>
            <a:ext cx="9865958" cy="8655579"/>
          </a:xfrm>
          <a:prstGeom prst="rect">
            <a:avLst/>
          </a:prstGeom>
        </p:spPr>
      </p:pic>
      <p:pic>
        <p:nvPicPr>
          <p:cNvPr id="5" name="Picture 4">
            <a:extLst>
              <a:ext uri="{FF2B5EF4-FFF2-40B4-BE49-F238E27FC236}">
                <a16:creationId xmlns:a16="http://schemas.microsoft.com/office/drawing/2014/main" id="{FF9435F3-1F62-55C2-D13F-119227BC2BB8}"/>
              </a:ext>
            </a:extLst>
          </p:cNvPr>
          <p:cNvPicPr>
            <a:picLocks noChangeAspect="1"/>
          </p:cNvPicPr>
          <p:nvPr/>
        </p:nvPicPr>
        <p:blipFill>
          <a:blip r:embed="rId3">
            <a:extLst>
              <a:ext uri="{28A0092B-C50C-407E-A947-70E740481C1C}">
                <a14:useLocalDpi xmlns:a14="http://schemas.microsoft.com/office/drawing/2010/main" val="0"/>
              </a:ext>
            </a:extLst>
          </a:blip>
          <a:srcRect r="25401"/>
          <a:stretch>
            <a:fillRect/>
          </a:stretch>
        </p:blipFill>
        <p:spPr>
          <a:xfrm>
            <a:off x="11488284" y="945159"/>
            <a:ext cx="7807836" cy="8655580"/>
          </a:xfrm>
          <a:prstGeom prst="rect">
            <a:avLst/>
          </a:prstGeom>
        </p:spPr>
      </p:pic>
      <p:sp>
        <p:nvSpPr>
          <p:cNvPr id="6" name="TextBox 5">
            <a:extLst>
              <a:ext uri="{FF2B5EF4-FFF2-40B4-BE49-F238E27FC236}">
                <a16:creationId xmlns:a16="http://schemas.microsoft.com/office/drawing/2014/main" id="{4BC0A021-C811-0D50-BA61-E2A89052FFFC}"/>
              </a:ext>
            </a:extLst>
          </p:cNvPr>
          <p:cNvSpPr txBox="1"/>
          <p:nvPr/>
        </p:nvSpPr>
        <p:spPr>
          <a:xfrm>
            <a:off x="6336609" y="10059684"/>
            <a:ext cx="16585883"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8 : Pothole detected images </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320090945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D7895A-88AA-D54D-9741-26F4170B88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89357" y="819593"/>
            <a:ext cx="15141697" cy="9059410"/>
          </a:xfrm>
          <a:prstGeom prst="rect">
            <a:avLst/>
          </a:prstGeom>
        </p:spPr>
      </p:pic>
      <p:sp>
        <p:nvSpPr>
          <p:cNvPr id="7" name="TextBox 6">
            <a:extLst>
              <a:ext uri="{FF2B5EF4-FFF2-40B4-BE49-F238E27FC236}">
                <a16:creationId xmlns:a16="http://schemas.microsoft.com/office/drawing/2014/main" id="{7AC7A502-8489-C544-E490-9E2A5BAFC044}"/>
              </a:ext>
            </a:extLst>
          </p:cNvPr>
          <p:cNvSpPr txBox="1"/>
          <p:nvPr/>
        </p:nvSpPr>
        <p:spPr>
          <a:xfrm>
            <a:off x="2589357" y="10109124"/>
            <a:ext cx="15141697" cy="701410"/>
          </a:xfrm>
          <a:prstGeom prst="rect">
            <a:avLst/>
          </a:prstGeom>
          <a:noFill/>
        </p:spPr>
        <p:txBody>
          <a:bodyPr wrap="square">
            <a:spAutoFit/>
          </a:bodyPr>
          <a:lstStyle/>
          <a:p>
            <a:r>
              <a:rPr lang="en-US" sz="3958" b="1" dirty="0">
                <a:solidFill>
                  <a:schemeClr val="accent5">
                    <a:lumMod val="50000"/>
                  </a:schemeClr>
                </a:solidFill>
                <a:latin typeface="Imprint MT Shadow" panose="04020605060303030202" pitchFamily="82" charset="0"/>
              </a:rPr>
              <a:t>Fig 9: Real-Time Collision Detection and Risk Visualization Output</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35516665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7320BE-6372-C2DD-0157-ADF3D18829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68306" y="973794"/>
            <a:ext cx="14200112" cy="8994357"/>
          </a:xfrm>
          <a:prstGeom prst="rect">
            <a:avLst/>
          </a:prstGeom>
        </p:spPr>
      </p:pic>
      <p:sp>
        <p:nvSpPr>
          <p:cNvPr id="5" name="TextBox 4">
            <a:extLst>
              <a:ext uri="{FF2B5EF4-FFF2-40B4-BE49-F238E27FC236}">
                <a16:creationId xmlns:a16="http://schemas.microsoft.com/office/drawing/2014/main" id="{43CBA4E0-EAE1-798F-3DC0-DB7EB917EB99}"/>
              </a:ext>
            </a:extLst>
          </p:cNvPr>
          <p:cNvSpPr txBox="1"/>
          <p:nvPr/>
        </p:nvSpPr>
        <p:spPr>
          <a:xfrm>
            <a:off x="4676112" y="10126483"/>
            <a:ext cx="14486401" cy="701410"/>
          </a:xfrm>
          <a:prstGeom prst="rect">
            <a:avLst/>
          </a:prstGeom>
          <a:noFill/>
        </p:spPr>
        <p:txBody>
          <a:bodyPr wrap="square">
            <a:spAutoFit/>
          </a:bodyPr>
          <a:lstStyle/>
          <a:p>
            <a:r>
              <a:rPr lang="en-US" sz="3958" b="1" dirty="0">
                <a:solidFill>
                  <a:schemeClr val="accent1">
                    <a:lumMod val="50000"/>
                  </a:schemeClr>
                </a:solidFill>
                <a:latin typeface="Imprint MT Shadow" panose="04020605060303030202" pitchFamily="82" charset="0"/>
              </a:rPr>
              <a:t>Fig 10: Annotated Training Dataset with Bounding Boxes</a:t>
            </a:r>
            <a:endParaRPr lang="en-IN" sz="3958" b="1" dirty="0">
              <a:solidFill>
                <a:schemeClr val="accent1">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22713169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D6CB06-3BAA-49B0-C0C9-09491C89E014}"/>
              </a:ext>
            </a:extLst>
          </p:cNvPr>
          <p:cNvPicPr>
            <a:picLocks noChangeAspect="1"/>
          </p:cNvPicPr>
          <p:nvPr/>
        </p:nvPicPr>
        <p:blipFill>
          <a:blip r:embed="rId2">
            <a:extLst>
              <a:ext uri="{28A0092B-C50C-407E-A947-70E740481C1C}">
                <a14:useLocalDpi xmlns:a14="http://schemas.microsoft.com/office/drawing/2010/main" val="0"/>
              </a:ext>
            </a:extLst>
          </a:blip>
          <a:srcRect l="2809" t="6353" r="69921" b="46253"/>
          <a:stretch>
            <a:fillRect/>
          </a:stretch>
        </p:blipFill>
        <p:spPr>
          <a:xfrm>
            <a:off x="1786147" y="1260084"/>
            <a:ext cx="7496094" cy="8230911"/>
          </a:xfrm>
          <a:prstGeom prst="rect">
            <a:avLst/>
          </a:prstGeom>
        </p:spPr>
      </p:pic>
      <p:pic>
        <p:nvPicPr>
          <p:cNvPr id="7" name="Picture 6">
            <a:extLst>
              <a:ext uri="{FF2B5EF4-FFF2-40B4-BE49-F238E27FC236}">
                <a16:creationId xmlns:a16="http://schemas.microsoft.com/office/drawing/2014/main" id="{D5E3E888-CB79-4AA4-E8B2-029381F18EE7}"/>
              </a:ext>
            </a:extLst>
          </p:cNvPr>
          <p:cNvPicPr>
            <a:picLocks noChangeAspect="1"/>
          </p:cNvPicPr>
          <p:nvPr/>
        </p:nvPicPr>
        <p:blipFill>
          <a:blip r:embed="rId2">
            <a:extLst>
              <a:ext uri="{28A0092B-C50C-407E-A947-70E740481C1C}">
                <a14:useLocalDpi xmlns:a14="http://schemas.microsoft.com/office/drawing/2010/main" val="0"/>
              </a:ext>
            </a:extLst>
          </a:blip>
          <a:srcRect l="36431" t="4713" r="32440" b="46328"/>
          <a:stretch>
            <a:fillRect/>
          </a:stretch>
        </p:blipFill>
        <p:spPr>
          <a:xfrm>
            <a:off x="10821860" y="1260085"/>
            <a:ext cx="8054362" cy="8071062"/>
          </a:xfrm>
          <a:prstGeom prst="rect">
            <a:avLst/>
          </a:prstGeom>
        </p:spPr>
      </p:pic>
      <p:sp>
        <p:nvSpPr>
          <p:cNvPr id="8" name="TextBox 7">
            <a:extLst>
              <a:ext uri="{FF2B5EF4-FFF2-40B4-BE49-F238E27FC236}">
                <a16:creationId xmlns:a16="http://schemas.microsoft.com/office/drawing/2014/main" id="{6852AF95-2764-42A3-ED34-95E9F95B3F92}"/>
              </a:ext>
            </a:extLst>
          </p:cNvPr>
          <p:cNvSpPr txBox="1"/>
          <p:nvPr/>
        </p:nvSpPr>
        <p:spPr>
          <a:xfrm>
            <a:off x="2276822" y="10049267"/>
            <a:ext cx="17090075"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11: Confusion Matrix voting Ensemble And Train vs Test F1 graph</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19700268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F80A45-B70B-5423-BDB9-48DBE91AD6D1}"/>
              </a:ext>
            </a:extLst>
          </p:cNvPr>
          <p:cNvPicPr>
            <a:picLocks noChangeAspect="1"/>
          </p:cNvPicPr>
          <p:nvPr/>
        </p:nvPicPr>
        <p:blipFill>
          <a:blip r:embed="rId2">
            <a:extLst>
              <a:ext uri="{28A0092B-C50C-407E-A947-70E740481C1C}">
                <a14:useLocalDpi xmlns:a14="http://schemas.microsoft.com/office/drawing/2010/main" val="0"/>
              </a:ext>
            </a:extLst>
          </a:blip>
          <a:srcRect l="67977" t="6076" b="49030"/>
          <a:stretch>
            <a:fillRect/>
          </a:stretch>
        </p:blipFill>
        <p:spPr>
          <a:xfrm>
            <a:off x="2004048" y="1431859"/>
            <a:ext cx="7481779" cy="7195487"/>
          </a:xfrm>
          <a:prstGeom prst="rect">
            <a:avLst/>
          </a:prstGeom>
        </p:spPr>
      </p:pic>
      <p:pic>
        <p:nvPicPr>
          <p:cNvPr id="5" name="Picture 4">
            <a:extLst>
              <a:ext uri="{FF2B5EF4-FFF2-40B4-BE49-F238E27FC236}">
                <a16:creationId xmlns:a16="http://schemas.microsoft.com/office/drawing/2014/main" id="{67608D0F-D7F8-D737-84AC-EA5874B52007}"/>
              </a:ext>
            </a:extLst>
          </p:cNvPr>
          <p:cNvPicPr>
            <a:picLocks noChangeAspect="1"/>
          </p:cNvPicPr>
          <p:nvPr/>
        </p:nvPicPr>
        <p:blipFill>
          <a:blip r:embed="rId2">
            <a:extLst>
              <a:ext uri="{28A0092B-C50C-407E-A947-70E740481C1C}">
                <a14:useLocalDpi xmlns:a14="http://schemas.microsoft.com/office/drawing/2010/main" val="0"/>
              </a:ext>
            </a:extLst>
          </a:blip>
          <a:srcRect l="479" t="54008" r="67498" b="2616"/>
          <a:stretch>
            <a:fillRect/>
          </a:stretch>
        </p:blipFill>
        <p:spPr>
          <a:xfrm>
            <a:off x="10840949" y="1431859"/>
            <a:ext cx="7882585" cy="7195487"/>
          </a:xfrm>
          <a:prstGeom prst="rect">
            <a:avLst/>
          </a:prstGeom>
        </p:spPr>
      </p:pic>
      <p:sp>
        <p:nvSpPr>
          <p:cNvPr id="6" name="TextBox 5">
            <a:extLst>
              <a:ext uri="{FF2B5EF4-FFF2-40B4-BE49-F238E27FC236}">
                <a16:creationId xmlns:a16="http://schemas.microsoft.com/office/drawing/2014/main" id="{8C012172-0352-B071-A1CD-C0C6C1D831EB}"/>
              </a:ext>
            </a:extLst>
          </p:cNvPr>
          <p:cNvSpPr txBox="1"/>
          <p:nvPr/>
        </p:nvSpPr>
        <p:spPr>
          <a:xfrm>
            <a:off x="5744939" y="9344823"/>
            <a:ext cx="16910346"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12: Overfit gap and Per Class F1 graph</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16010137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9DB7F12-13A5-8FD8-16AE-FFC495F2AB50}"/>
              </a:ext>
            </a:extLst>
          </p:cNvPr>
          <p:cNvPicPr>
            <a:picLocks noChangeAspect="1"/>
          </p:cNvPicPr>
          <p:nvPr/>
        </p:nvPicPr>
        <p:blipFill>
          <a:blip r:embed="rId2">
            <a:extLst>
              <a:ext uri="{28A0092B-C50C-407E-A947-70E740481C1C}">
                <a14:useLocalDpi xmlns:a14="http://schemas.microsoft.com/office/drawing/2010/main" val="0"/>
              </a:ext>
            </a:extLst>
          </a:blip>
          <a:srcRect l="33271" t="53502" r="33877" b="3628"/>
          <a:stretch>
            <a:fillRect/>
          </a:stretch>
        </p:blipFill>
        <p:spPr>
          <a:xfrm>
            <a:off x="2156739" y="1479574"/>
            <a:ext cx="7379984" cy="7472237"/>
          </a:xfrm>
          <a:prstGeom prst="rect">
            <a:avLst/>
          </a:prstGeom>
        </p:spPr>
      </p:pic>
      <p:pic>
        <p:nvPicPr>
          <p:cNvPr id="5" name="Picture 4">
            <a:extLst>
              <a:ext uri="{FF2B5EF4-FFF2-40B4-BE49-F238E27FC236}">
                <a16:creationId xmlns:a16="http://schemas.microsoft.com/office/drawing/2014/main" id="{EB5F0605-A96C-B271-89C8-1282297094C8}"/>
              </a:ext>
            </a:extLst>
          </p:cNvPr>
          <p:cNvPicPr>
            <a:picLocks noChangeAspect="1"/>
          </p:cNvPicPr>
          <p:nvPr/>
        </p:nvPicPr>
        <p:blipFill>
          <a:blip r:embed="rId2">
            <a:extLst>
              <a:ext uri="{28A0092B-C50C-407E-A947-70E740481C1C}">
                <a14:useLocalDpi xmlns:a14="http://schemas.microsoft.com/office/drawing/2010/main" val="0"/>
              </a:ext>
            </a:extLst>
          </a:blip>
          <a:srcRect l="72793" t="52659" r="-444"/>
          <a:stretch>
            <a:fillRect/>
          </a:stretch>
        </p:blipFill>
        <p:spPr>
          <a:xfrm>
            <a:off x="10567381" y="1479572"/>
            <a:ext cx="8080315" cy="7472237"/>
          </a:xfrm>
          <a:prstGeom prst="rect">
            <a:avLst/>
          </a:prstGeom>
        </p:spPr>
      </p:pic>
      <p:sp>
        <p:nvSpPr>
          <p:cNvPr id="6" name="TextBox 5">
            <a:extLst>
              <a:ext uri="{FF2B5EF4-FFF2-40B4-BE49-F238E27FC236}">
                <a16:creationId xmlns:a16="http://schemas.microsoft.com/office/drawing/2014/main" id="{A2C4284D-8729-EE70-AD08-6870A6F73C5F}"/>
              </a:ext>
            </a:extLst>
          </p:cNvPr>
          <p:cNvSpPr txBox="1"/>
          <p:nvPr/>
        </p:nvSpPr>
        <p:spPr>
          <a:xfrm>
            <a:off x="4294391" y="9449144"/>
            <a:ext cx="16337760" cy="701410"/>
          </a:xfrm>
          <a:prstGeom prst="rect">
            <a:avLst/>
          </a:prstGeom>
          <a:noFill/>
        </p:spPr>
        <p:txBody>
          <a:bodyPr wrap="square" rtlCol="0">
            <a:spAutoFit/>
          </a:bodyPr>
          <a:lstStyle/>
          <a:p>
            <a:r>
              <a:rPr lang="en-US" sz="3958" b="1" dirty="0">
                <a:solidFill>
                  <a:schemeClr val="accent5">
                    <a:lumMod val="50000"/>
                  </a:schemeClr>
                </a:solidFill>
                <a:latin typeface="Imprint MT Shadow" panose="04020605060303030202" pitchFamily="82" charset="0"/>
              </a:rPr>
              <a:t>Fig 13 : Test F1 Ranking and Training time Graph</a:t>
            </a:r>
            <a:endParaRPr lang="en-IN" sz="3958" b="1" dirty="0">
              <a:solidFill>
                <a:schemeClr val="accent5">
                  <a:lumMod val="50000"/>
                </a:schemeClr>
              </a:solidFill>
              <a:latin typeface="Imprint MT Shadow" panose="04020605060303030202" pitchFamily="82" charset="0"/>
            </a:endParaRPr>
          </a:p>
        </p:txBody>
      </p:sp>
    </p:spTree>
    <p:extLst>
      <p:ext uri="{BB962C8B-B14F-4D97-AF65-F5344CB8AC3E}">
        <p14:creationId xmlns:p14="http://schemas.microsoft.com/office/powerpoint/2010/main" val="136475588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EFED7-A53D-4007-8802-26E604B3CEA0}"/>
              </a:ext>
            </a:extLst>
          </p:cNvPr>
          <p:cNvSpPr>
            <a:spLocks noGrp="1"/>
          </p:cNvSpPr>
          <p:nvPr>
            <p:ph type="title"/>
          </p:nvPr>
        </p:nvSpPr>
        <p:spPr>
          <a:xfrm>
            <a:off x="603250" y="396875"/>
            <a:ext cx="5263515" cy="1408429"/>
          </a:xfrm>
        </p:spPr>
        <p:txBody>
          <a:bodyPr/>
          <a:lstStyle/>
          <a:p>
            <a:r>
              <a:rPr lang="en-IN" sz="5300" b="1" dirty="0">
                <a:solidFill>
                  <a:schemeClr val="accent5">
                    <a:lumMod val="75000"/>
                  </a:schemeClr>
                </a:solidFill>
                <a:latin typeface="Imprint MT Shadow" panose="04020605060303030202" pitchFamily="82" charset="0"/>
              </a:rPr>
              <a:t>CONCLUSION</a:t>
            </a:r>
            <a:r>
              <a:rPr lang="en-IN" sz="9600" b="1" dirty="0">
                <a:solidFill>
                  <a:schemeClr val="accent5">
                    <a:lumMod val="75000"/>
                  </a:schemeClr>
                </a:solidFill>
                <a:latin typeface="Imprint MT Shadow" panose="04020605060303030202" pitchFamily="82" charset="0"/>
              </a:rPr>
              <a:t> </a:t>
            </a:r>
            <a:br>
              <a:rPr lang="en-IN" sz="9600" dirty="0">
                <a:latin typeface="Imprint MT Shadow" panose="04020605060303030202" pitchFamily="82" charset="0"/>
              </a:rPr>
            </a:br>
            <a:endParaRPr lang="en-IN" dirty="0"/>
          </a:p>
        </p:txBody>
      </p:sp>
      <p:sp>
        <p:nvSpPr>
          <p:cNvPr id="8" name="TextBox 7">
            <a:extLst>
              <a:ext uri="{FF2B5EF4-FFF2-40B4-BE49-F238E27FC236}">
                <a16:creationId xmlns:a16="http://schemas.microsoft.com/office/drawing/2014/main" id="{7590C6B3-99E5-46F6-B8E1-E1EF1D0E0C36}"/>
              </a:ext>
            </a:extLst>
          </p:cNvPr>
          <p:cNvSpPr txBox="1"/>
          <p:nvPr/>
        </p:nvSpPr>
        <p:spPr>
          <a:xfrm>
            <a:off x="603250" y="2301875"/>
            <a:ext cx="18059400" cy="2308324"/>
          </a:xfrm>
          <a:prstGeom prst="rect">
            <a:avLst/>
          </a:prstGeom>
          <a:noFill/>
        </p:spPr>
        <p:txBody>
          <a:bodyPr wrap="square">
            <a:spAutoFit/>
          </a:bodyPr>
          <a:lstStyle/>
          <a:p>
            <a:pPr marL="285750" indent="-285750">
              <a:buFont typeface="Arial" panose="020B0604020202020204" pitchFamily="34" charset="0"/>
              <a:buChar char="•"/>
            </a:pPr>
            <a:r>
              <a:rPr lang="en-US" sz="3600" dirty="0">
                <a:latin typeface="Imprint MT Shadow" panose="04020605060303030202" pitchFamily="82" charset="0"/>
              </a:rPr>
              <a:t>The system integrates pothole detection and collision risk prediction into a unified real-time road safety solution. The pothole module, based on YOLOv8, accurately detects road damages from video input. The </a:t>
            </a:r>
            <a:r>
              <a:rPr lang="en-US" sz="3600" dirty="0" err="1">
                <a:latin typeface="Imprint MT Shadow" panose="04020605060303030202" pitchFamily="82" charset="0"/>
              </a:rPr>
              <a:t>CollisionAI</a:t>
            </a:r>
            <a:r>
              <a:rPr lang="en-US" sz="3600" dirty="0">
                <a:latin typeface="Imprint MT Shadow" panose="04020605060303030202" pitchFamily="82" charset="0"/>
              </a:rPr>
              <a:t> module detects vehicles, tracks movement, and analyzes their behavior effectively.</a:t>
            </a:r>
            <a:endParaRPr lang="en-IN" sz="3600" dirty="0">
              <a:latin typeface="Imprint MT Shadow" panose="04020605060303030202" pitchFamily="82" charset="0"/>
            </a:endParaRPr>
          </a:p>
        </p:txBody>
      </p:sp>
      <p:sp>
        <p:nvSpPr>
          <p:cNvPr id="10" name="TextBox 9">
            <a:extLst>
              <a:ext uri="{FF2B5EF4-FFF2-40B4-BE49-F238E27FC236}">
                <a16:creationId xmlns:a16="http://schemas.microsoft.com/office/drawing/2014/main" id="{B8A0BCE0-F57D-4F48-8C1F-F63A0D6BA646}"/>
              </a:ext>
            </a:extLst>
          </p:cNvPr>
          <p:cNvSpPr txBox="1"/>
          <p:nvPr/>
        </p:nvSpPr>
        <p:spPr>
          <a:xfrm>
            <a:off x="603250" y="5654675"/>
            <a:ext cx="17830800" cy="2308324"/>
          </a:xfrm>
          <a:prstGeom prst="rect">
            <a:avLst/>
          </a:prstGeom>
          <a:noFill/>
        </p:spPr>
        <p:txBody>
          <a:bodyPr wrap="square">
            <a:spAutoFit/>
          </a:bodyPr>
          <a:lstStyle/>
          <a:p>
            <a:pPr marL="285750" indent="-285750">
              <a:buFont typeface="Arial" panose="020B0604020202020204" pitchFamily="34" charset="0"/>
              <a:buChar char="•"/>
            </a:pPr>
            <a:r>
              <a:rPr lang="en-US" sz="3600" dirty="0">
                <a:latin typeface="Imprint MT Shadow" panose="04020605060303030202" pitchFamily="82" charset="0"/>
              </a:rPr>
              <a:t>The system uses features like distance estimation, speed calculation, and Time-to-Collision (TTC) to assess risk levels. It classifies situations into safe, warning, and danger while providing real-time alerts and visualization. Overall, the solution is efficient, scalable, and suitable for smart driving assistance applications.</a:t>
            </a:r>
            <a:endParaRPr lang="en-IN" sz="3600" dirty="0">
              <a:latin typeface="Imprint MT Shadow" panose="04020605060303030202" pitchFamily="82" charset="0"/>
            </a:endParaRPr>
          </a:p>
        </p:txBody>
      </p:sp>
      <p:sp>
        <p:nvSpPr>
          <p:cNvPr id="11" name="object 5">
            <a:extLst>
              <a:ext uri="{FF2B5EF4-FFF2-40B4-BE49-F238E27FC236}">
                <a16:creationId xmlns:a16="http://schemas.microsoft.com/office/drawing/2014/main" id="{E293A3EE-FDC6-4308-A83E-9F1CDB899D80}"/>
              </a:ext>
            </a:extLst>
          </p:cNvPr>
          <p:cNvSpPr/>
          <p:nvPr/>
        </p:nvSpPr>
        <p:spPr>
          <a:xfrm rot="10800000" flipV="1">
            <a:off x="-12873" y="8600916"/>
            <a:ext cx="20129846" cy="2708434"/>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39017948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49DEE-DD1C-484F-8EA5-46FE2BCDFFA0}"/>
              </a:ext>
            </a:extLst>
          </p:cNvPr>
          <p:cNvSpPr>
            <a:spLocks noGrp="1"/>
          </p:cNvSpPr>
          <p:nvPr>
            <p:ph type="ctrTitle"/>
          </p:nvPr>
        </p:nvSpPr>
        <p:spPr>
          <a:xfrm>
            <a:off x="603250" y="473075"/>
            <a:ext cx="15826948" cy="1295400"/>
          </a:xfrm>
        </p:spPr>
        <p:txBody>
          <a:bodyPr/>
          <a:lstStyle/>
          <a:p>
            <a:r>
              <a:rPr lang="en-IN" sz="5300" dirty="0">
                <a:solidFill>
                  <a:schemeClr val="tx2"/>
                </a:solidFill>
                <a:latin typeface="Imprint MT Shadow" panose="04020605060303030202" pitchFamily="82" charset="0"/>
              </a:rPr>
              <a:t>FUTURE WORK</a:t>
            </a:r>
          </a:p>
        </p:txBody>
      </p:sp>
      <p:sp>
        <p:nvSpPr>
          <p:cNvPr id="4" name="TextBox 3">
            <a:extLst>
              <a:ext uri="{FF2B5EF4-FFF2-40B4-BE49-F238E27FC236}">
                <a16:creationId xmlns:a16="http://schemas.microsoft.com/office/drawing/2014/main" id="{54320FFE-939C-4842-AD9D-7EFE32BEE79F}"/>
              </a:ext>
            </a:extLst>
          </p:cNvPr>
          <p:cNvSpPr txBox="1"/>
          <p:nvPr/>
        </p:nvSpPr>
        <p:spPr>
          <a:xfrm>
            <a:off x="603250" y="1768475"/>
            <a:ext cx="18135600" cy="7848302"/>
          </a:xfrm>
          <a:prstGeom prst="rect">
            <a:avLst/>
          </a:prstGeom>
          <a:noFill/>
        </p:spPr>
        <p:txBody>
          <a:bodyPr wrap="square">
            <a:spAutoFit/>
          </a:bodyPr>
          <a:lstStyle/>
          <a:p>
            <a:pPr>
              <a:buFont typeface="Arial" panose="020B0604020202020204" pitchFamily="34" charset="0"/>
              <a:buChar char="•"/>
            </a:pPr>
            <a:r>
              <a:rPr lang="en-IN" sz="3600" dirty="0">
                <a:latin typeface="Imprint MT Shadow" panose="04020605060303030202" pitchFamily="82" charset="0"/>
              </a:rPr>
              <a:t>Integrate lane detection and road segmentation to improve contextual understanding and reduce false alerts. </a:t>
            </a:r>
          </a:p>
          <a:p>
            <a:pPr>
              <a:buFont typeface="Arial" panose="020B0604020202020204" pitchFamily="34" charset="0"/>
              <a:buChar char="•"/>
            </a:pPr>
            <a:endParaRPr lang="en-IN" sz="3600" dirty="0">
              <a:latin typeface="Imprint MT Shadow" panose="04020605060303030202" pitchFamily="82" charset="0"/>
            </a:endParaRPr>
          </a:p>
          <a:p>
            <a:pPr>
              <a:buFont typeface="Arial" panose="020B0604020202020204" pitchFamily="34" charset="0"/>
              <a:buChar char="•"/>
            </a:pPr>
            <a:r>
              <a:rPr lang="en-IN" sz="3600" dirty="0">
                <a:latin typeface="Imprint MT Shadow" panose="04020605060303030202" pitchFamily="82" charset="0"/>
              </a:rPr>
              <a:t>Deploy the system on embedded hardware (e.g., edge devices) for real-time in-vehicle implementation. </a:t>
            </a:r>
          </a:p>
          <a:p>
            <a:pPr>
              <a:buFont typeface="Arial" panose="020B0604020202020204" pitchFamily="34" charset="0"/>
              <a:buChar char="•"/>
            </a:pPr>
            <a:endParaRPr lang="en-IN" sz="3600" dirty="0">
              <a:latin typeface="Imprint MT Shadow" panose="04020605060303030202" pitchFamily="82" charset="0"/>
            </a:endParaRPr>
          </a:p>
          <a:p>
            <a:pPr>
              <a:buFont typeface="Arial" panose="020B0604020202020204" pitchFamily="34" charset="0"/>
              <a:buChar char="•"/>
            </a:pPr>
            <a:r>
              <a:rPr lang="en-IN" sz="3600" dirty="0">
                <a:latin typeface="Imprint MT Shadow" panose="04020605060303030202" pitchFamily="82" charset="0"/>
              </a:rPr>
              <a:t>Enhance model accuracy by training on larger and more diverse datasets under different weather and lighting conditions.</a:t>
            </a:r>
          </a:p>
          <a:p>
            <a:pPr>
              <a:buFont typeface="Arial" panose="020B0604020202020204" pitchFamily="34" charset="0"/>
              <a:buChar char="•"/>
            </a:pPr>
            <a:endParaRPr lang="en-IN" sz="3600" dirty="0">
              <a:latin typeface="Imprint MT Shadow" panose="04020605060303030202" pitchFamily="82" charset="0"/>
            </a:endParaRPr>
          </a:p>
          <a:p>
            <a:pPr>
              <a:buFont typeface="Arial" panose="020B0604020202020204" pitchFamily="34" charset="0"/>
              <a:buChar char="•"/>
            </a:pPr>
            <a:r>
              <a:rPr lang="en-IN" sz="3600" dirty="0">
                <a:latin typeface="Imprint MT Shadow" panose="04020605060303030202" pitchFamily="82" charset="0"/>
              </a:rPr>
              <a:t>Incorporate driver </a:t>
            </a:r>
            <a:r>
              <a:rPr lang="en-IN" sz="3600" dirty="0" err="1">
                <a:latin typeface="Imprint MT Shadow" panose="04020605060303030202" pitchFamily="82" charset="0"/>
              </a:rPr>
              <a:t>behavior</a:t>
            </a:r>
            <a:r>
              <a:rPr lang="en-IN" sz="3600" dirty="0">
                <a:latin typeface="Imprint MT Shadow" panose="04020605060303030202" pitchFamily="82" charset="0"/>
              </a:rPr>
              <a:t> analysis (fatigue, distraction detection) for a more comprehensive safety system.</a:t>
            </a:r>
          </a:p>
          <a:p>
            <a:r>
              <a:rPr lang="en-IN" sz="3600" dirty="0">
                <a:latin typeface="Imprint MT Shadow" panose="04020605060303030202" pitchFamily="82" charset="0"/>
              </a:rPr>
              <a:t> </a:t>
            </a:r>
          </a:p>
          <a:p>
            <a:pPr>
              <a:buFont typeface="Arial" panose="020B0604020202020204" pitchFamily="34" charset="0"/>
              <a:buChar char="•"/>
            </a:pPr>
            <a:r>
              <a:rPr lang="en-IN" sz="3600" dirty="0">
                <a:latin typeface="Imprint MT Shadow" panose="04020605060303030202" pitchFamily="82" charset="0"/>
              </a:rPr>
              <a:t>Develop a mobile or cloud-based dashboard for live monitoring, analytics, and alert notifications. </a:t>
            </a:r>
          </a:p>
        </p:txBody>
      </p:sp>
      <p:sp>
        <p:nvSpPr>
          <p:cNvPr id="5" name="object 5">
            <a:extLst>
              <a:ext uri="{FF2B5EF4-FFF2-40B4-BE49-F238E27FC236}">
                <a16:creationId xmlns:a16="http://schemas.microsoft.com/office/drawing/2014/main" id="{E80FC640-A167-41E4-A1F6-982997769C44}"/>
              </a:ext>
            </a:extLst>
          </p:cNvPr>
          <p:cNvSpPr/>
          <p:nvPr/>
        </p:nvSpPr>
        <p:spPr>
          <a:xfrm rot="10800000" flipV="1">
            <a:off x="-12873" y="9083674"/>
            <a:ext cx="20129846" cy="2225675"/>
          </a:xfrm>
          <a:prstGeom prst="rect">
            <a:avLst/>
          </a:prstGeom>
          <a:blipFill>
            <a:blip r:embed="rId2" cstate="print"/>
            <a:stretch>
              <a:fillRect/>
            </a:stretch>
          </a:blipFill>
        </p:spPr>
        <p:txBody>
          <a:bodyPr wrap="square" lIns="0" tIns="0" rIns="0" bIns="0" rtlCol="0"/>
          <a:lstStyle/>
          <a:p>
            <a:endParaRPr dirty="0"/>
          </a:p>
        </p:txBody>
      </p:sp>
    </p:spTree>
    <p:extLst>
      <p:ext uri="{BB962C8B-B14F-4D97-AF65-F5344CB8AC3E}">
        <p14:creationId xmlns:p14="http://schemas.microsoft.com/office/powerpoint/2010/main" val="30134416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487" y="0"/>
            <a:ext cx="20104099" cy="11308556"/>
          </a:xfrm>
          <a:prstGeom prst="rect">
            <a:avLst/>
          </a:prstGeom>
          <a:solidFill>
            <a:schemeClr val="bg1"/>
          </a:solidFill>
        </p:spPr>
        <p:txBody>
          <a:bodyPr wrap="square" lIns="0" tIns="0" rIns="0" bIns="0" rtlCol="0"/>
          <a:lstStyle/>
          <a:p>
            <a:endParaRPr lang="en-IN" dirty="0"/>
          </a:p>
        </p:txBody>
      </p:sp>
      <p:sp>
        <p:nvSpPr>
          <p:cNvPr id="4" name="TextBox 3">
            <a:extLst>
              <a:ext uri="{FF2B5EF4-FFF2-40B4-BE49-F238E27FC236}">
                <a16:creationId xmlns:a16="http://schemas.microsoft.com/office/drawing/2014/main" id="{C039BCA6-6B6E-5952-7CD7-44DFCECDDA31}"/>
              </a:ext>
            </a:extLst>
          </p:cNvPr>
          <p:cNvSpPr txBox="1"/>
          <p:nvPr/>
        </p:nvSpPr>
        <p:spPr>
          <a:xfrm>
            <a:off x="222250" y="396875"/>
            <a:ext cx="6172200" cy="1015663"/>
          </a:xfrm>
          <a:prstGeom prst="rect">
            <a:avLst/>
          </a:prstGeom>
          <a:noFill/>
        </p:spPr>
        <p:txBody>
          <a:bodyPr wrap="square" rtlCol="0">
            <a:spAutoFit/>
          </a:bodyPr>
          <a:lstStyle/>
          <a:p>
            <a:r>
              <a:rPr lang="en-US" sz="6000" b="1" dirty="0">
                <a:solidFill>
                  <a:srgbClr val="0070C0"/>
                </a:solidFill>
                <a:effectLst>
                  <a:reflection blurRad="6350" stA="55000" endA="300" endPos="45500" dir="5400000" sy="-100000" algn="bl" rotWithShape="0"/>
                </a:effectLst>
                <a:latin typeface="Imprint MT Shadow" panose="04020605060303030202" pitchFamily="82" charset="0"/>
              </a:rPr>
              <a:t>REFERENCES</a:t>
            </a:r>
            <a:endParaRPr lang="en-IN" sz="6000" b="1" dirty="0">
              <a:latin typeface="Imprint MT Shadow" panose="04020605060303030202" pitchFamily="82" charset="0"/>
            </a:endParaRPr>
          </a:p>
        </p:txBody>
      </p:sp>
      <p:sp>
        <p:nvSpPr>
          <p:cNvPr id="9" name="Rectangle 3">
            <a:extLst>
              <a:ext uri="{FF2B5EF4-FFF2-40B4-BE49-F238E27FC236}">
                <a16:creationId xmlns:a16="http://schemas.microsoft.com/office/drawing/2014/main" id="{6B553857-F8C8-4A8F-9ABA-7874B9F7F34F}"/>
              </a:ext>
            </a:extLst>
          </p:cNvPr>
          <p:cNvSpPr>
            <a:spLocks noChangeArrowheads="1"/>
          </p:cNvSpPr>
          <p:nvPr/>
        </p:nvSpPr>
        <p:spPr bwMode="auto">
          <a:xfrm>
            <a:off x="411262" y="1893086"/>
            <a:ext cx="19278600" cy="8867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[1] Razak, W., Noman, A., &amp; Ale, S. Z., “Deep Learning YOLOv8 Fog-based Mobile Object Detection,” </a:t>
            </a:r>
            <a:r>
              <a:rPr kumimoji="0" lang="en-US" altLang="en-US" sz="3200" b="0" i="1"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Proceedings of the International Conference on Computer Technology</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pp. 1–6, 2024.</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[2] </a:t>
            </a:r>
            <a:r>
              <a:rPr kumimoji="0" lang="en-US" altLang="en-US" sz="3200" b="0" i="0" u="none" strike="noStrike" cap="none" normalizeH="0" baseline="0" dirty="0" err="1">
                <a:ln>
                  <a:noFill/>
                </a:ln>
                <a:solidFill>
                  <a:schemeClr val="tx1"/>
                </a:solidFill>
                <a:effectLst/>
                <a:latin typeface="Imprint MT Shadow" panose="04020605060303030202" pitchFamily="82" charset="0"/>
                <a:cs typeface="Times New Roman" panose="02020603050405020304" pitchFamily="18" charset="0"/>
              </a:rPr>
              <a:t>Neeza</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R., Ahmadi, A., &amp; </a:t>
            </a:r>
            <a:r>
              <a:rPr kumimoji="0" lang="en-US" altLang="en-US" sz="3200" b="0" i="0" u="none" strike="noStrike" cap="none" normalizeH="0" baseline="0" dirty="0" err="1">
                <a:ln>
                  <a:noFill/>
                </a:ln>
                <a:solidFill>
                  <a:schemeClr val="tx1"/>
                </a:solidFill>
                <a:effectLst/>
                <a:latin typeface="Imprint MT Shadow" panose="04020605060303030202" pitchFamily="82" charset="0"/>
                <a:cs typeface="Times New Roman" panose="02020603050405020304" pitchFamily="18" charset="0"/>
              </a:rPr>
              <a:t>Zulfikli</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A., “Deep Learning YOLOv8 Fog-based Mobile Object Detection,” </a:t>
            </a:r>
            <a:r>
              <a:rPr kumimoji="0" lang="en-US" altLang="en-US" sz="3200" b="0" i="1"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Proceedings of the International Conference on Engineering Technology</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pp. 45–52, 2025.</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[3] </a:t>
            </a:r>
            <a:r>
              <a:rPr kumimoji="0" lang="en-US" altLang="en-US" sz="3200" b="0" i="0" u="none" strike="noStrike" cap="none" normalizeH="0" baseline="0" dirty="0" err="1">
                <a:ln>
                  <a:noFill/>
                </a:ln>
                <a:solidFill>
                  <a:schemeClr val="tx1"/>
                </a:solidFill>
                <a:effectLst/>
                <a:latin typeface="Imprint MT Shadow" panose="04020605060303030202" pitchFamily="82" charset="0"/>
                <a:cs typeface="Times New Roman" panose="02020603050405020304" pitchFamily="18" charset="0"/>
              </a:rPr>
              <a:t>Mengyang</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X., Xu, C., &amp; Zhao, S., “Dynamic Obstacle Avoidance Using Artificial Potential Field,” </a:t>
            </a:r>
            <a:r>
              <a:rPr kumimoji="0" lang="en-US" altLang="en-US" sz="3200" b="0" i="1"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IEEE Transactions on Robotics</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vol. 37, no. 2, pp. 123–130, 2021.</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[4] </a:t>
            </a:r>
            <a:r>
              <a:rPr kumimoji="0" lang="en-US" altLang="en-US" sz="3200" b="0" i="0" u="none" strike="noStrike" cap="none" normalizeH="0" baseline="0" dirty="0" err="1">
                <a:ln>
                  <a:noFill/>
                </a:ln>
                <a:solidFill>
                  <a:schemeClr val="tx1"/>
                </a:solidFill>
                <a:effectLst/>
                <a:latin typeface="Imprint MT Shadow" panose="04020605060303030202" pitchFamily="82" charset="0"/>
                <a:cs typeface="Times New Roman" panose="02020603050405020304" pitchFamily="18" charset="0"/>
              </a:rPr>
              <a:t>Bhusanpally</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Y., Vanga, S., &amp; Reddy, K., “SROI+ GPS-GSM Pothole Detection System,” </a:t>
            </a:r>
            <a:r>
              <a:rPr kumimoji="0" lang="en-US" altLang="en-US" sz="3200" b="0" i="1"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Journal of Image Processing</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vol. 15, no. 3, pp. 200–210, 2024.</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[5] Rajitha, V., </a:t>
            </a:r>
            <a:r>
              <a:rPr kumimoji="0" lang="en-US" altLang="en-US" sz="3200" b="0" i="0" u="none" strike="noStrike" cap="none" normalizeH="0" baseline="0" dirty="0" err="1">
                <a:ln>
                  <a:noFill/>
                </a:ln>
                <a:solidFill>
                  <a:schemeClr val="tx1"/>
                </a:solidFill>
                <a:effectLst/>
                <a:latin typeface="Imprint MT Shadow" panose="04020605060303030202" pitchFamily="82" charset="0"/>
                <a:cs typeface="Times New Roman" panose="02020603050405020304" pitchFamily="18" charset="0"/>
              </a:rPr>
              <a:t>Vanka</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S., &amp; Sandesh, B., “Pothole Detection Using Edge Detection,” </a:t>
            </a:r>
            <a:r>
              <a:rPr kumimoji="0" lang="en-US" altLang="en-US" sz="3200" b="0" i="1"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Proceedings of the IEEE International Conference on Signal Processing</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pp. 78–85, 2024.</a:t>
            </a:r>
          </a:p>
          <a:p>
            <a:pPr marL="0" marR="0" lvl="0" indent="0" algn="just" defTabSz="914400" rtl="0" eaLnBrk="0" fontAlgn="base" latinLnBrk="0" hangingPunct="0">
              <a:lnSpc>
                <a:spcPct val="150000"/>
              </a:lnSpc>
              <a:spcBef>
                <a:spcPct val="0"/>
              </a:spcBef>
              <a:spcAft>
                <a:spcPct val="0"/>
              </a:spcAft>
              <a:buClrTx/>
              <a:buSzTx/>
              <a:tabLst/>
            </a:pP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[6] </a:t>
            </a:r>
            <a:r>
              <a:rPr kumimoji="0" lang="en-US" altLang="en-US" sz="3200" b="0" i="0" u="none" strike="noStrike" cap="none" normalizeH="0" baseline="0" dirty="0" err="1">
                <a:ln>
                  <a:noFill/>
                </a:ln>
                <a:solidFill>
                  <a:schemeClr val="tx1"/>
                </a:solidFill>
                <a:effectLst/>
                <a:latin typeface="Imprint MT Shadow" panose="04020605060303030202" pitchFamily="82" charset="0"/>
                <a:cs typeface="Times New Roman" panose="02020603050405020304" pitchFamily="18" charset="0"/>
              </a:rPr>
              <a:t>Houzhuai</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C., Chen, Z., &amp; Zhang, H., “Enhanced Damage Detection Using YOLO with RD2020,” </a:t>
            </a:r>
            <a:r>
              <a:rPr kumimoji="0" lang="en-US" altLang="en-US" sz="3200" b="0" i="1"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Computer Vision Analysis</a:t>
            </a:r>
            <a:r>
              <a:rPr kumimoji="0" lang="en-US" altLang="en-US" sz="3200" b="0" i="0" u="none" strike="noStrike" cap="none" normalizeH="0" baseline="0" dirty="0">
                <a:ln>
                  <a:noFill/>
                </a:ln>
                <a:solidFill>
                  <a:schemeClr val="tx1"/>
                </a:solidFill>
                <a:effectLst/>
                <a:latin typeface="Imprint MT Shadow" panose="04020605060303030202" pitchFamily="82" charset="0"/>
                <a:cs typeface="Times New Roman" panose="02020603050405020304" pitchFamily="18" charset="0"/>
              </a:rPr>
              <a:t>, vol. 28, no. 4, pp. 450–460, 2024.</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20104099" cy="1130855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4296443" y="9737180"/>
            <a:ext cx="5807645" cy="1571376"/>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17725967" y="1835430"/>
            <a:ext cx="2378132" cy="9473125"/>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0" y="10205522"/>
            <a:ext cx="15610833" cy="1103034"/>
          </a:xfrm>
          <a:prstGeom prst="rect">
            <a:avLst/>
          </a:prstGeom>
          <a:blipFill>
            <a:blip r:embed="rId5" cstate="print"/>
            <a:stretch>
              <a:fillRect/>
            </a:stretch>
          </a:blipFill>
        </p:spPr>
        <p:txBody>
          <a:bodyPr wrap="square" lIns="0" tIns="0" rIns="0" bIns="0" rtlCol="0"/>
          <a:lstStyle/>
          <a:p>
            <a:endParaRPr/>
          </a:p>
        </p:txBody>
      </p:sp>
      <p:sp>
        <p:nvSpPr>
          <p:cNvPr id="7" name="object 7"/>
          <p:cNvSpPr/>
          <p:nvPr/>
        </p:nvSpPr>
        <p:spPr>
          <a:xfrm>
            <a:off x="-11" y="0"/>
            <a:ext cx="20104099" cy="11308555"/>
          </a:xfrm>
          <a:prstGeom prst="rect">
            <a:avLst/>
          </a:prstGeom>
          <a:blipFill>
            <a:blip r:embed="rId6" cstate="print"/>
            <a:stretch>
              <a:fillRect/>
            </a:stretch>
          </a:blipFill>
        </p:spPr>
        <p:txBody>
          <a:bodyPr wrap="square" lIns="0" tIns="0" rIns="0" bIns="0" rtlCol="0"/>
          <a:lstStyle/>
          <a:p>
            <a:endParaRPr/>
          </a:p>
        </p:txBody>
      </p:sp>
      <p:sp>
        <p:nvSpPr>
          <p:cNvPr id="11" name="object 11"/>
          <p:cNvSpPr txBox="1">
            <a:spLocks noGrp="1"/>
          </p:cNvSpPr>
          <p:nvPr>
            <p:ph type="title"/>
          </p:nvPr>
        </p:nvSpPr>
        <p:spPr>
          <a:xfrm>
            <a:off x="1974850" y="4587875"/>
            <a:ext cx="5221809" cy="2800767"/>
          </a:xfrm>
          <a:prstGeom prst="rect">
            <a:avLst/>
          </a:prstGeom>
        </p:spPr>
        <p:txBody>
          <a:bodyPr vert="horz" wrap="square" lIns="0" tIns="15240" rIns="0" bIns="0" rtlCol="0">
            <a:spAutoFit/>
          </a:bodyPr>
          <a:lstStyle/>
          <a:p>
            <a:pPr marL="12700">
              <a:lnSpc>
                <a:spcPct val="100000"/>
              </a:lnSpc>
              <a:spcBef>
                <a:spcPts val="120"/>
              </a:spcBef>
            </a:pPr>
            <a:r>
              <a:rPr lang="en-IN" spc="375" dirty="0">
                <a:latin typeface="Imprint MT Shadow" panose="04020605060303030202" pitchFamily="82" charset="0"/>
              </a:rPr>
              <a:t>THANK YOU!</a:t>
            </a:r>
            <a:endParaRPr spc="375" dirty="0">
              <a:latin typeface="Imprint MT Shadow" panose="04020605060303030202" pitchFamily="82" charset="0"/>
            </a:endParaRPr>
          </a:p>
        </p:txBody>
      </p:sp>
      <p:pic>
        <p:nvPicPr>
          <p:cNvPr id="8" name="Picture 7">
            <a:extLst>
              <a:ext uri="{FF2B5EF4-FFF2-40B4-BE49-F238E27FC236}">
                <a16:creationId xmlns:a16="http://schemas.microsoft.com/office/drawing/2014/main" id="{A7574A97-2F0E-4B80-18CA-2EB4BBB31A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41098" y="1032902"/>
            <a:ext cx="8470107" cy="847010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21F1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1019</TotalTime>
  <Words>3706</Words>
  <Application>Microsoft Office PowerPoint</Application>
  <PresentationFormat>Custom</PresentationFormat>
  <Paragraphs>553</Paragraphs>
  <Slides>57</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57</vt:i4>
      </vt:variant>
    </vt:vector>
  </HeadingPairs>
  <TitlesOfParts>
    <vt:vector size="69" baseType="lpstr">
      <vt:lpstr>Arial</vt:lpstr>
      <vt:lpstr>Arial Black</vt:lpstr>
      <vt:lpstr>Arial Rounded MT Bold</vt:lpstr>
      <vt:lpstr>Calibri</vt:lpstr>
      <vt:lpstr>Cooper Black</vt:lpstr>
      <vt:lpstr>Courier New</vt:lpstr>
      <vt:lpstr>Imprint MT Shadow</vt:lpstr>
      <vt:lpstr>Rajdhani</vt:lpstr>
      <vt:lpstr>Source Sans Pro</vt:lpstr>
      <vt:lpstr>Times New Roman</vt:lpstr>
      <vt:lpstr>Times New Roman Medium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FLOW DIAGRAM :INPUT STAGE</vt:lpstr>
      <vt:lpstr>BLOCK DIAGRAM :PROCESSING STAGE</vt:lpstr>
      <vt:lpstr>BLOCK DIAGRAM :VALIDATION STAGE</vt:lpstr>
      <vt:lpstr>BLOCK DIAGRAM :PREDICTION STAGE</vt:lpstr>
      <vt:lpstr>BLOCK DIAGRAM :OUTPUT STAGE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FUTURE WORK</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Presentation_1</dc:title>
  <dc:creator>AYESHA</dc:creator>
  <cp:lastModifiedBy>ayesha A</cp:lastModifiedBy>
  <cp:revision>81</cp:revision>
  <dcterms:created xsi:type="dcterms:W3CDTF">2018-07-13T08:13:28Z</dcterms:created>
  <dcterms:modified xsi:type="dcterms:W3CDTF">2026-05-06T06:49:59Z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2018-07-12T00:00:00Z</vt:filetime>
  </property>
  <property fmtid="{D5CDD505-2E9C-101B-9397-08002B2CF9AE}" pid="3" name="Creator">
    <vt:lpwstr>Adobe Illustrator CC 2015.3 (Windows)</vt:lpwstr>
  </property>
  <property fmtid="{D5CDD505-2E9C-101B-9397-08002B2CF9AE}" pid="4" name="LastSaved">
    <vt:filetime>2018-07-13T00:00:00Z</vt:filetime>
  </property>
</Properties>
</file>