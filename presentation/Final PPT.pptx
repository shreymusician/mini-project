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6"/>
    <p:sldId id="262" r:id="rId7"/>
    <p:sldId id="263" r:id="rId8"/>
    <p:sldId id="260"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EEACF"/>
    <a:srgbClr val="FFCCCC"/>
    <a:srgbClr val="66FFFF"/>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49" autoAdjust="0"/>
    <p:restoredTop sz="94660"/>
  </p:normalViewPr>
  <p:slideViewPr>
    <p:cSldViewPr snapToGrid="0" snapToObjects="1">
      <p:cViewPr varScale="1">
        <p:scale>
          <a:sx n="78" d="100"/>
          <a:sy n="78" d="100"/>
        </p:scale>
        <p:origin x="662"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812800" y="6356350"/>
            <a:ext cx="3793067" cy="365125"/>
          </a:xfrm>
        </p:spPr>
        <p:txBody>
          <a:bodyPr/>
          <a:lstStyle/>
          <a:p>
            <a:fld id="{5BCAD085-E8A6-8845-BD4E-CB4CCA059FC4}" type="datetimeFigureOut">
              <a:rPr lang="en-US" smtClean="0"/>
              <a:t>10/13/2026</a:t>
            </a:fld>
            <a:endParaRPr lang="en-US" dirty="0"/>
          </a:p>
        </p:txBody>
      </p:sp>
      <p:sp>
        <p:nvSpPr>
          <p:cNvPr id="5" name="Footer Placeholder 4"/>
          <p:cNvSpPr>
            <a:spLocks noGrp="1"/>
          </p:cNvSpPr>
          <p:nvPr>
            <p:ph type="ftr" sz="quarter" idx="11"/>
          </p:nvPr>
        </p:nvSpPr>
        <p:spPr>
          <a:xfrm>
            <a:off x="5554133" y="6356350"/>
            <a:ext cx="5147733" cy="365125"/>
          </a:xfrm>
        </p:spPr>
        <p:txBody>
          <a:bodyPr/>
          <a:lstStyle/>
          <a:p>
            <a:endParaRPr lang="en-US" dirty="0"/>
          </a:p>
        </p:txBody>
      </p:sp>
      <p:sp>
        <p:nvSpPr>
          <p:cNvPr id="6" name="Slide Number Placeholder 5"/>
          <p:cNvSpPr>
            <a:spLocks noGrp="1"/>
          </p:cNvSpPr>
          <p:nvPr>
            <p:ph type="sldNum" sz="quarter" idx="12"/>
          </p:nvPr>
        </p:nvSpPr>
        <p:spPr>
          <a:xfrm>
            <a:off x="11650133" y="6356350"/>
            <a:ext cx="3793067" cy="365125"/>
          </a:xfrm>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36600" y="330200"/>
            <a:ext cx="10718800" cy="812800"/>
          </a:xfrm>
        </p:spPr>
        <p:txBody>
          <a:bodyPr anchor="ctr"/>
          <a:lstStyle>
            <a:lvl1pPr algn="ctr">
              <a:defRPr sz="3200" b="1">
                <a:solidFill>
                  <a:srgbClr val="000000"/>
                </a:solidFill>
                <a:latin typeface="Times New Roman" panose="02020603050405020304" pitchFamily="18" charset="0"/>
              </a:defRPr>
            </a:lvl1pPr>
          </a:lstStyle>
          <a:p>
            <a:r>
              <a:rPr lang="en-US"/>
              <a:t>Click to edit Master title style</a:t>
            </a:r>
          </a:p>
        </p:txBody>
      </p:sp>
      <p:sp>
        <p:nvSpPr>
          <p:cNvPr id="3" name="Content Placeholder 2"/>
          <p:cNvSpPr>
            <a:spLocks noGrp="1"/>
          </p:cNvSpPr>
          <p:nvPr>
            <p:ph idx="1"/>
          </p:nvPr>
        </p:nvSpPr>
        <p:spPr>
          <a:xfrm>
            <a:off x="736600" y="1396999"/>
            <a:ext cx="10718800" cy="4826000"/>
          </a:xfrm>
        </p:spPr>
        <p:txBody>
          <a:bodyPr/>
          <a:lstStyle>
            <a:lvl1pPr>
              <a:defRPr sz="2400" b="0">
                <a:solidFill>
                  <a:srgbClr val="000000"/>
                </a:solidFill>
                <a:latin typeface="Times New Roman" panose="02020603050405020304" pitchFamily="18" charset="0"/>
              </a:defRPr>
            </a:lvl1pPr>
            <a:lvl2pPr>
              <a:defRPr sz="2200" b="0">
                <a:solidFill>
                  <a:srgbClr val="000000"/>
                </a:solidFill>
                <a:latin typeface="Times New Roman" panose="02020603050405020304" pitchFamily="18" charset="0"/>
              </a:defRPr>
            </a:lvl2pPr>
            <a:lvl3pPr>
              <a:defRPr sz="2000" b="0">
                <a:solidFill>
                  <a:srgbClr val="000000"/>
                </a:solidFill>
                <a:latin typeface="Times New Roman" panose="02020603050405020304" pitchFamily="18" charset="0"/>
              </a:defRPr>
            </a:lvl3pPr>
            <a:lvl4pPr>
              <a:defRPr sz="1800" b="0">
                <a:solidFill>
                  <a:srgbClr val="000000"/>
                </a:solidFill>
                <a:latin typeface="Times New Roman" panose="02020603050405020304" pitchFamily="18" charset="0"/>
              </a:defRPr>
            </a:lvl4pPr>
            <a:lvl5pPr>
              <a:defRPr sz="1800" b="0">
                <a:solidFill>
                  <a:srgbClr val="000000"/>
                </a:solidFill>
                <a:latin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12800" y="6356350"/>
            <a:ext cx="3793067" cy="365125"/>
          </a:xfrm>
        </p:spPr>
        <p:txBody>
          <a:bodyPr/>
          <a:lstStyle/>
          <a:p>
            <a:fld id="{5BCAD085-E8A6-8845-BD4E-CB4CCA059FC4}" type="datetimeFigureOut">
              <a:rPr lang="en-US" smtClean="0"/>
              <a:t>10/13/2026</a:t>
            </a:fld>
            <a:endParaRPr lang="en-US" dirty="0"/>
          </a:p>
        </p:txBody>
      </p:sp>
      <p:sp>
        <p:nvSpPr>
          <p:cNvPr id="5" name="Footer Placeholder 4"/>
          <p:cNvSpPr>
            <a:spLocks noGrp="1"/>
          </p:cNvSpPr>
          <p:nvPr>
            <p:ph type="ftr" sz="quarter" idx="11"/>
          </p:nvPr>
        </p:nvSpPr>
        <p:spPr>
          <a:xfrm>
            <a:off x="736599" y="6388100"/>
            <a:ext cx="9144000" cy="304800"/>
          </a:xfrm>
        </p:spPr>
        <p:txBody>
          <a:bodyPr/>
          <a:lstStyle>
            <a:lvl1pPr algn="l">
              <a:defRPr sz="1200" b="0">
                <a:solidFill>
                  <a:srgbClr val="000000"/>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12"/>
          </p:nvPr>
        </p:nvSpPr>
        <p:spPr>
          <a:xfrm>
            <a:off x="10439400" y="6388100"/>
            <a:ext cx="1016000" cy="304800"/>
          </a:xfrm>
        </p:spPr>
        <p:txBody>
          <a:bodyPr/>
          <a:lstStyle>
            <a:lvl1pPr algn="r">
              <a:defRPr sz="1200" b="0">
                <a:solidFill>
                  <a:srgbClr val="000000"/>
                </a:solidFill>
                <a:latin typeface="Times New Roman" panose="02020603050405020304" pitchFamily="18" charset="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12800" y="6356350"/>
            <a:ext cx="3793067" cy="365125"/>
          </a:xfrm>
        </p:spPr>
        <p:txBody>
          <a:bodyPr/>
          <a:lstStyle/>
          <a:p>
            <a:fld id="{5BCAD085-E8A6-8845-BD4E-CB4CCA059FC4}" type="datetimeFigureOut">
              <a:rPr lang="en-US" smtClean="0"/>
              <a:t>10/13/2026</a:t>
            </a:fld>
            <a:endParaRPr lang="en-US" dirty="0"/>
          </a:p>
        </p:txBody>
      </p:sp>
      <p:sp>
        <p:nvSpPr>
          <p:cNvPr id="5" name="Footer Placeholder 4"/>
          <p:cNvSpPr>
            <a:spLocks noGrp="1"/>
          </p:cNvSpPr>
          <p:nvPr>
            <p:ph type="ftr" sz="quarter" idx="11"/>
          </p:nvPr>
        </p:nvSpPr>
        <p:spPr>
          <a:xfrm>
            <a:off x="5554133" y="6356350"/>
            <a:ext cx="5147733" cy="365125"/>
          </a:xfrm>
        </p:spPr>
        <p:txBody>
          <a:bodyPr/>
          <a:lstStyle/>
          <a:p>
            <a:endParaRPr lang="en-US" dirty="0"/>
          </a:p>
        </p:txBody>
      </p:sp>
      <p:sp>
        <p:nvSpPr>
          <p:cNvPr id="6" name="Slide Number Placeholder 5"/>
          <p:cNvSpPr>
            <a:spLocks noGrp="1"/>
          </p:cNvSpPr>
          <p:nvPr>
            <p:ph type="sldNum" sz="quarter" idx="12"/>
          </p:nvPr>
        </p:nvSpPr>
        <p:spPr>
          <a:xfrm>
            <a:off x="11650133" y="6356350"/>
            <a:ext cx="3793067" cy="365125"/>
          </a:xfrm>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4630400" cy="1143000"/>
          </a:xfrm>
        </p:spPr>
        <p:txBody>
          <a:bodyPr/>
          <a:lstStyle/>
          <a:p>
            <a:r>
              <a:rPr lang="en-US"/>
              <a:t>Click to edit Master title style</a:t>
            </a:r>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12800" y="6356350"/>
            <a:ext cx="3793067" cy="365125"/>
          </a:xfrm>
        </p:spPr>
        <p:txBody>
          <a:bodyPr/>
          <a:lstStyle/>
          <a:p>
            <a:fld id="{5BCAD085-E8A6-8845-BD4E-CB4CCA059FC4}" type="datetimeFigureOut">
              <a:rPr lang="en-US" smtClean="0"/>
              <a:t>10/13/2026</a:t>
            </a:fld>
            <a:endParaRPr lang="en-US" dirty="0"/>
          </a:p>
        </p:txBody>
      </p:sp>
      <p:sp>
        <p:nvSpPr>
          <p:cNvPr id="6" name="Footer Placeholder 5"/>
          <p:cNvSpPr>
            <a:spLocks noGrp="1"/>
          </p:cNvSpPr>
          <p:nvPr>
            <p:ph type="ftr" sz="quarter" idx="11"/>
          </p:nvPr>
        </p:nvSpPr>
        <p:spPr>
          <a:xfrm>
            <a:off x="5554133" y="6356350"/>
            <a:ext cx="5147733" cy="365125"/>
          </a:xfrm>
        </p:spPr>
        <p:txBody>
          <a:bodyPr/>
          <a:lstStyle/>
          <a:p>
            <a:endParaRPr lang="en-US" dirty="0"/>
          </a:p>
        </p:txBody>
      </p:sp>
      <p:sp>
        <p:nvSpPr>
          <p:cNvPr id="7" name="Slide Number Placeholder 6"/>
          <p:cNvSpPr>
            <a:spLocks noGrp="1"/>
          </p:cNvSpPr>
          <p:nvPr>
            <p:ph type="sldNum" sz="quarter" idx="12"/>
          </p:nvPr>
        </p:nvSpPr>
        <p:spPr>
          <a:xfrm>
            <a:off x="11650133" y="6356350"/>
            <a:ext cx="3793067" cy="365125"/>
          </a:xfrm>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4630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12800" y="6356350"/>
            <a:ext cx="3793067" cy="365125"/>
          </a:xfrm>
        </p:spPr>
        <p:txBody>
          <a:bodyPr/>
          <a:lstStyle/>
          <a:p>
            <a:fld id="{5BCAD085-E8A6-8845-BD4E-CB4CCA059FC4}" type="datetimeFigureOut">
              <a:rPr lang="en-US" smtClean="0"/>
              <a:t>10/13/2026</a:t>
            </a:fld>
            <a:endParaRPr lang="en-US" dirty="0"/>
          </a:p>
        </p:txBody>
      </p:sp>
      <p:sp>
        <p:nvSpPr>
          <p:cNvPr id="8" name="Footer Placeholder 7"/>
          <p:cNvSpPr>
            <a:spLocks noGrp="1"/>
          </p:cNvSpPr>
          <p:nvPr>
            <p:ph type="ftr" sz="quarter" idx="11"/>
          </p:nvPr>
        </p:nvSpPr>
        <p:spPr>
          <a:xfrm>
            <a:off x="5554133" y="6356350"/>
            <a:ext cx="5147733" cy="365125"/>
          </a:xfrm>
        </p:spPr>
        <p:txBody>
          <a:bodyPr/>
          <a:lstStyle/>
          <a:p>
            <a:endParaRPr lang="en-US" dirty="0"/>
          </a:p>
        </p:txBody>
      </p:sp>
      <p:sp>
        <p:nvSpPr>
          <p:cNvPr id="9" name="Slide Number Placeholder 8"/>
          <p:cNvSpPr>
            <a:spLocks noGrp="1"/>
          </p:cNvSpPr>
          <p:nvPr>
            <p:ph type="sldNum" sz="quarter" idx="12"/>
          </p:nvPr>
        </p:nvSpPr>
        <p:spPr>
          <a:xfrm>
            <a:off x="11650133" y="6356350"/>
            <a:ext cx="3793067" cy="365125"/>
          </a:xfrm>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36600" y="330200"/>
            <a:ext cx="10718800" cy="812800"/>
          </a:xfrm>
        </p:spPr>
        <p:txBody>
          <a:bodyPr anchor="ctr"/>
          <a:lstStyle>
            <a:lvl1pPr algn="ctr">
              <a:defRPr sz="3200" b="1">
                <a:solidFill>
                  <a:srgbClr val="000000"/>
                </a:solidFill>
                <a:latin typeface="Times New Roman" panose="02020603050405020304" pitchFamily="18" charset="0"/>
              </a:defRPr>
            </a:lvl1pPr>
          </a:lstStyle>
          <a:p>
            <a:r>
              <a:rPr lang="en-US"/>
              <a:t>Click to edit Master title style</a:t>
            </a:r>
          </a:p>
        </p:txBody>
      </p:sp>
      <p:sp>
        <p:nvSpPr>
          <p:cNvPr id="3" name="Date Placeholder 2"/>
          <p:cNvSpPr>
            <a:spLocks noGrp="1"/>
          </p:cNvSpPr>
          <p:nvPr>
            <p:ph type="dt" sz="half" idx="10"/>
          </p:nvPr>
        </p:nvSpPr>
        <p:spPr>
          <a:xfrm>
            <a:off x="812800" y="6356350"/>
            <a:ext cx="3793067" cy="365125"/>
          </a:xfrm>
        </p:spPr>
        <p:txBody>
          <a:bodyPr/>
          <a:lstStyle/>
          <a:p>
            <a:fld id="{5BCAD085-E8A6-8845-BD4E-CB4CCA059FC4}" type="datetimeFigureOut">
              <a:rPr lang="en-US" smtClean="0"/>
              <a:t>10/13/2026</a:t>
            </a:fld>
            <a:endParaRPr lang="en-US" dirty="0"/>
          </a:p>
        </p:txBody>
      </p:sp>
      <p:sp>
        <p:nvSpPr>
          <p:cNvPr id="4" name="Footer Placeholder 3"/>
          <p:cNvSpPr>
            <a:spLocks noGrp="1"/>
          </p:cNvSpPr>
          <p:nvPr>
            <p:ph type="ftr" sz="quarter" idx="11"/>
          </p:nvPr>
        </p:nvSpPr>
        <p:spPr>
          <a:xfrm>
            <a:off x="736599" y="6388100"/>
            <a:ext cx="9144000" cy="304800"/>
          </a:xfrm>
        </p:spPr>
        <p:txBody>
          <a:bodyPr/>
          <a:lstStyle>
            <a:lvl1pPr algn="l">
              <a:defRPr sz="1200" b="0">
                <a:solidFill>
                  <a:srgbClr val="000000"/>
                </a:solidFill>
                <a:latin typeface="Times New Roman" panose="02020603050405020304" pitchFamily="18" charset="0"/>
              </a:defRPr>
            </a:lvl1pPr>
          </a:lstStyle>
          <a:p>
            <a:endParaRPr lang="en-US" dirty="0"/>
          </a:p>
        </p:txBody>
      </p:sp>
      <p:sp>
        <p:nvSpPr>
          <p:cNvPr id="5" name="Slide Number Placeholder 4"/>
          <p:cNvSpPr>
            <a:spLocks noGrp="1"/>
          </p:cNvSpPr>
          <p:nvPr>
            <p:ph type="sldNum" sz="quarter" idx="12"/>
          </p:nvPr>
        </p:nvSpPr>
        <p:spPr>
          <a:xfrm>
            <a:off x="10439400" y="6388100"/>
            <a:ext cx="1016000" cy="304800"/>
          </a:xfrm>
        </p:spPr>
        <p:txBody>
          <a:bodyPr/>
          <a:lstStyle>
            <a:lvl1pPr algn="r">
              <a:defRPr sz="1200" b="0">
                <a:solidFill>
                  <a:srgbClr val="000000"/>
                </a:solidFill>
                <a:latin typeface="Times New Roman" panose="02020603050405020304" pitchFamily="18" charset="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12800" y="6356350"/>
            <a:ext cx="3793067" cy="365125"/>
          </a:xfrm>
        </p:spPr>
        <p:txBody>
          <a:bodyPr/>
          <a:lstStyle/>
          <a:p>
            <a:fld id="{5BCAD085-E8A6-8845-BD4E-CB4CCA059FC4}" type="datetimeFigureOut">
              <a:rPr lang="en-US" smtClean="0"/>
              <a:t>10/13/2026</a:t>
            </a:fld>
            <a:endParaRPr lang="en-US" dirty="0"/>
          </a:p>
        </p:txBody>
      </p:sp>
      <p:sp>
        <p:nvSpPr>
          <p:cNvPr id="3" name="Footer Placeholder 2"/>
          <p:cNvSpPr>
            <a:spLocks noGrp="1"/>
          </p:cNvSpPr>
          <p:nvPr>
            <p:ph type="ftr" sz="quarter" idx="11"/>
          </p:nvPr>
        </p:nvSpPr>
        <p:spPr>
          <a:xfrm>
            <a:off x="5554133" y="6356350"/>
            <a:ext cx="5147733" cy="365125"/>
          </a:xfrm>
        </p:spPr>
        <p:txBody>
          <a:bodyPr/>
          <a:lstStyle/>
          <a:p>
            <a:endParaRPr lang="en-US" dirty="0"/>
          </a:p>
        </p:txBody>
      </p:sp>
      <p:sp>
        <p:nvSpPr>
          <p:cNvPr id="4" name="Slide Number Placeholder 3"/>
          <p:cNvSpPr>
            <a:spLocks noGrp="1"/>
          </p:cNvSpPr>
          <p:nvPr>
            <p:ph type="sldNum" sz="quarter" idx="12"/>
          </p:nvPr>
        </p:nvSpPr>
        <p:spPr>
          <a:xfrm>
            <a:off x="11650133" y="6356350"/>
            <a:ext cx="3793067" cy="365125"/>
          </a:xfrm>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599"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812800" y="6356350"/>
            <a:ext cx="3793067" cy="365125"/>
          </a:xfrm>
        </p:spPr>
        <p:txBody>
          <a:bodyPr/>
          <a:lstStyle/>
          <a:p>
            <a:fld id="{5BCAD085-E8A6-8845-BD4E-CB4CCA059FC4}" type="datetimeFigureOut">
              <a:rPr lang="en-US" smtClean="0"/>
              <a:t>10/13/2026</a:t>
            </a:fld>
            <a:endParaRPr lang="en-US" dirty="0"/>
          </a:p>
        </p:txBody>
      </p:sp>
      <p:sp>
        <p:nvSpPr>
          <p:cNvPr id="6" name="Footer Placeholder 5"/>
          <p:cNvSpPr>
            <a:spLocks noGrp="1"/>
          </p:cNvSpPr>
          <p:nvPr>
            <p:ph type="ftr" sz="quarter" idx="11"/>
          </p:nvPr>
        </p:nvSpPr>
        <p:spPr>
          <a:xfrm>
            <a:off x="5554133" y="6356350"/>
            <a:ext cx="5147733" cy="365125"/>
          </a:xfrm>
        </p:spPr>
        <p:txBody>
          <a:bodyPr/>
          <a:lstStyle/>
          <a:p>
            <a:endParaRPr lang="en-US" dirty="0"/>
          </a:p>
        </p:txBody>
      </p:sp>
      <p:sp>
        <p:nvSpPr>
          <p:cNvPr id="7" name="Slide Number Placeholder 6"/>
          <p:cNvSpPr>
            <a:spLocks noGrp="1"/>
          </p:cNvSpPr>
          <p:nvPr>
            <p:ph type="sldNum" sz="quarter" idx="12"/>
          </p:nvPr>
        </p:nvSpPr>
        <p:spPr>
          <a:xfrm>
            <a:off x="11650133" y="6356350"/>
            <a:ext cx="3793067" cy="365125"/>
          </a:xfrm>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8"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238971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812800" y="6356350"/>
            <a:ext cx="3793067" cy="365125"/>
          </a:xfrm>
        </p:spPr>
        <p:txBody>
          <a:bodyPr/>
          <a:lstStyle/>
          <a:p>
            <a:fld id="{5BCAD085-E8A6-8845-BD4E-CB4CCA059FC4}" type="datetimeFigureOut">
              <a:rPr lang="en-US" smtClean="0"/>
              <a:t>10/13/2026</a:t>
            </a:fld>
            <a:endParaRPr lang="en-US" dirty="0"/>
          </a:p>
        </p:txBody>
      </p:sp>
      <p:sp>
        <p:nvSpPr>
          <p:cNvPr id="6" name="Footer Placeholder 5"/>
          <p:cNvSpPr>
            <a:spLocks noGrp="1"/>
          </p:cNvSpPr>
          <p:nvPr>
            <p:ph type="ftr" sz="quarter" idx="11"/>
          </p:nvPr>
        </p:nvSpPr>
        <p:spPr>
          <a:xfrm>
            <a:off x="5554133" y="6356350"/>
            <a:ext cx="5147733" cy="365125"/>
          </a:xfrm>
        </p:spPr>
        <p:txBody>
          <a:bodyPr/>
          <a:lstStyle/>
          <a:p>
            <a:endParaRPr lang="en-US" dirty="0"/>
          </a:p>
        </p:txBody>
      </p:sp>
      <p:sp>
        <p:nvSpPr>
          <p:cNvPr id="7" name="Slide Number Placeholder 6"/>
          <p:cNvSpPr>
            <a:spLocks noGrp="1"/>
          </p:cNvSpPr>
          <p:nvPr>
            <p:ph type="sldNum" sz="quarter" idx="12"/>
          </p:nvPr>
        </p:nvSpPr>
        <p:spPr>
          <a:xfrm>
            <a:off x="11650133" y="6356350"/>
            <a:ext cx="3793067" cy="365125"/>
          </a:xfrm>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4630400" cy="1143000"/>
          </a:xfrm>
        </p:spPr>
        <p:txBody>
          <a:bodyPr/>
          <a:lstStyle/>
          <a:p>
            <a:r>
              <a:rPr lang="en-US"/>
              <a:t>Click to edit Master title style</a:t>
            </a:r>
          </a:p>
        </p:txBody>
      </p:sp>
      <p:sp>
        <p:nvSpPr>
          <p:cNvPr id="3" name="Vertical Text Placeholder 2"/>
          <p:cNvSpPr>
            <a:spLocks noGrp="1"/>
          </p:cNvSpPr>
          <p:nvPr>
            <p:ph type="body" orient="vert" idx="1"/>
          </p:nvPr>
        </p:nvSpPr>
        <p:spPr>
          <a:xfrm>
            <a:off x="812800" y="1600200"/>
            <a:ext cx="14630400" cy="45259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12800" y="6356350"/>
            <a:ext cx="3793067" cy="365125"/>
          </a:xfrm>
        </p:spPr>
        <p:txBody>
          <a:bodyPr/>
          <a:lstStyle/>
          <a:p>
            <a:fld id="{5BCAD085-E8A6-8845-BD4E-CB4CCA059FC4}" type="datetimeFigureOut">
              <a:rPr lang="en-US" smtClean="0"/>
              <a:t>10/13/2026</a:t>
            </a:fld>
            <a:endParaRPr lang="en-US" dirty="0"/>
          </a:p>
        </p:txBody>
      </p:sp>
      <p:sp>
        <p:nvSpPr>
          <p:cNvPr id="5" name="Footer Placeholder 4"/>
          <p:cNvSpPr>
            <a:spLocks noGrp="1"/>
          </p:cNvSpPr>
          <p:nvPr>
            <p:ph type="ftr" sz="quarter" idx="11"/>
          </p:nvPr>
        </p:nvSpPr>
        <p:spPr>
          <a:xfrm>
            <a:off x="5554133" y="6356350"/>
            <a:ext cx="5147733" cy="365125"/>
          </a:xfrm>
        </p:spPr>
        <p:txBody>
          <a:bodyPr/>
          <a:lstStyle/>
          <a:p>
            <a:endParaRPr lang="en-US" dirty="0"/>
          </a:p>
        </p:txBody>
      </p:sp>
      <p:sp>
        <p:nvSpPr>
          <p:cNvPr id="6" name="Slide Number Placeholder 5"/>
          <p:cNvSpPr>
            <a:spLocks noGrp="1"/>
          </p:cNvSpPr>
          <p:nvPr>
            <p:ph type="sldNum" sz="quarter" idx="12"/>
          </p:nvPr>
        </p:nvSpPr>
        <p:spPr>
          <a:xfrm>
            <a:off x="11650133" y="6356350"/>
            <a:ext cx="3793067" cy="365125"/>
          </a:xfrm>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12800" y="6356350"/>
            <a:ext cx="3793067" cy="365125"/>
          </a:xfrm>
        </p:spPr>
        <p:txBody>
          <a:bodyPr/>
          <a:lstStyle/>
          <a:p>
            <a:fld id="{5BCAD085-E8A6-8845-BD4E-CB4CCA059FC4}" type="datetimeFigureOut">
              <a:rPr lang="en-US" smtClean="0"/>
              <a:t>10/13/2026</a:t>
            </a:fld>
            <a:endParaRPr lang="en-US" dirty="0"/>
          </a:p>
        </p:txBody>
      </p:sp>
      <p:sp>
        <p:nvSpPr>
          <p:cNvPr id="5" name="Footer Placeholder 4"/>
          <p:cNvSpPr>
            <a:spLocks noGrp="1"/>
          </p:cNvSpPr>
          <p:nvPr>
            <p:ph type="ftr" sz="quarter" idx="11"/>
          </p:nvPr>
        </p:nvSpPr>
        <p:spPr>
          <a:xfrm>
            <a:off x="5554133" y="6356350"/>
            <a:ext cx="5147733" cy="365125"/>
          </a:xfrm>
        </p:spPr>
        <p:txBody>
          <a:bodyPr/>
          <a:lstStyle/>
          <a:p>
            <a:endParaRPr lang="en-US" dirty="0"/>
          </a:p>
        </p:txBody>
      </p:sp>
      <p:sp>
        <p:nvSpPr>
          <p:cNvPr id="6" name="Slide Number Placeholder 5"/>
          <p:cNvSpPr>
            <a:spLocks noGrp="1"/>
          </p:cNvSpPr>
          <p:nvPr>
            <p:ph type="sldNum" sz="quarter" idx="12"/>
          </p:nvPr>
        </p:nvSpPr>
        <p:spPr>
          <a:xfrm>
            <a:off x="11650133" y="6356350"/>
            <a:ext cx="3793067" cy="365125"/>
          </a:xfrm>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6600" y="330200"/>
            <a:ext cx="10718800" cy="8128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36600" y="1396999"/>
            <a:ext cx="10718800" cy="4826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dirty="0"/>
          </a:p>
        </p:txBody>
      </p:sp>
      <p:sp>
        <p:nvSpPr>
          <p:cNvPr id="5" name="Footer Placeholder 4"/>
          <p:cNvSpPr>
            <a:spLocks noGrp="1"/>
          </p:cNvSpPr>
          <p:nvPr>
            <p:ph type="ftr" sz="quarter" idx="3"/>
          </p:nvPr>
        </p:nvSpPr>
        <p:spPr>
          <a:xfrm>
            <a:off x="736600" y="6388100"/>
            <a:ext cx="9144000" cy="304800"/>
          </a:xfrm>
          <a:prstGeom prst="rect">
            <a:avLst/>
          </a:prstGeom>
        </p:spPr>
        <p:txBody>
          <a:bodyPr vert="horz" lIns="91440" tIns="45720" rIns="91440" bIns="45720" rtlCol="0" anchor="ctr"/>
          <a:lstStyle>
            <a:lvl1pPr algn="l">
              <a:defRPr sz="1200" b="0">
                <a:solidFill>
                  <a:srgbClr val="000000"/>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0439400" y="6388100"/>
            <a:ext cx="1016000" cy="304800"/>
          </a:xfrm>
          <a:prstGeom prst="rect">
            <a:avLst/>
          </a:prstGeom>
        </p:spPr>
        <p:txBody>
          <a:bodyPr vert="horz" lIns="91440" tIns="45720" rIns="91440" bIns="45720" rtlCol="0" anchor="ctr"/>
          <a:lstStyle>
            <a:lvl1pPr algn="r">
              <a:defRPr sz="1200" b="0">
                <a:solidFill>
                  <a:srgbClr val="000000"/>
                </a:solidFill>
                <a:latin typeface="Times New Roman" panose="02020603050405020304" pitchFamily="18" charset="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3200" b="1" kern="1200">
          <a:solidFill>
            <a:srgbClr val="000000"/>
          </a:solidFill>
          <a:latin typeface="Times New Roman" panose="02020603050405020304" pitchFamily="18" charset="0"/>
          <a:ea typeface="+mj-ea"/>
          <a:cs typeface="+mj-cs"/>
        </a:defRPr>
      </a:lvl1pPr>
    </p:titleStyle>
    <p:bodyStyle>
      <a:lvl1pPr marL="342900" indent="-342900" algn="l" defTabSz="457200" rtl="0" eaLnBrk="1" latinLnBrk="0" hangingPunct="1">
        <a:spcBef>
          <a:spcPct val="20000"/>
        </a:spcBef>
        <a:buFont typeface="Arial"/>
        <a:buChar char="•"/>
        <a:defRPr sz="2400" b="0" kern="1200">
          <a:solidFill>
            <a:srgbClr val="000000"/>
          </a:solidFill>
          <a:latin typeface="Times New Roman" panose="02020603050405020304" pitchFamily="18" charset="0"/>
          <a:ea typeface="+mn-ea"/>
          <a:cs typeface="+mn-cs"/>
        </a:defRPr>
      </a:lvl1pPr>
      <a:lvl2pPr marL="742950" indent="-285750" algn="l" defTabSz="457200" rtl="0" eaLnBrk="1" latinLnBrk="0" hangingPunct="1">
        <a:spcBef>
          <a:spcPct val="20000"/>
        </a:spcBef>
        <a:buFont typeface="Arial"/>
        <a:buChar char="–"/>
        <a:defRPr sz="2200" b="0" kern="1200">
          <a:solidFill>
            <a:srgbClr val="000000"/>
          </a:solidFill>
          <a:latin typeface="Times New Roman" panose="02020603050405020304" pitchFamily="18" charset="0"/>
          <a:ea typeface="+mn-ea"/>
          <a:cs typeface="+mn-cs"/>
        </a:defRPr>
      </a:lvl2pPr>
      <a:lvl3pPr marL="1143000" indent="-228600" algn="l" defTabSz="457200" rtl="0" eaLnBrk="1" latinLnBrk="0" hangingPunct="1">
        <a:spcBef>
          <a:spcPct val="20000"/>
        </a:spcBef>
        <a:buFont typeface="Arial"/>
        <a:buChar char="•"/>
        <a:defRPr sz="2000" b="0" kern="1200">
          <a:solidFill>
            <a:srgbClr val="000000"/>
          </a:solidFill>
          <a:latin typeface="Times New Roman" panose="02020603050405020304" pitchFamily="18" charset="0"/>
          <a:ea typeface="+mn-ea"/>
          <a:cs typeface="+mn-cs"/>
        </a:defRPr>
      </a:lvl3pPr>
      <a:lvl4pPr marL="1600200" indent="-228600" algn="l" defTabSz="457200" rtl="0" eaLnBrk="1" latinLnBrk="0" hangingPunct="1">
        <a:spcBef>
          <a:spcPct val="20000"/>
        </a:spcBef>
        <a:buFont typeface="Arial"/>
        <a:buChar char="–"/>
        <a:defRPr sz="1800" b="0" kern="1200">
          <a:solidFill>
            <a:srgbClr val="000000"/>
          </a:solidFill>
          <a:latin typeface="Times New Roman" panose="02020603050405020304" pitchFamily="18" charset="0"/>
          <a:ea typeface="+mn-ea"/>
          <a:cs typeface="+mn-cs"/>
        </a:defRPr>
      </a:lvl4pPr>
      <a:lvl5pPr marL="2057400" indent="-228600" algn="l" defTabSz="457200" rtl="0" eaLnBrk="1" latinLnBrk="0" hangingPunct="1">
        <a:spcBef>
          <a:spcPct val="20000"/>
        </a:spcBef>
        <a:buFont typeface="Arial"/>
        <a:buChar char="»"/>
        <a:defRPr sz="1800" b="0" kern="1200">
          <a:solidFill>
            <a:srgbClr val="000000"/>
          </a:solidFill>
          <a:latin typeface="Times New Roman" panose="02020603050405020304" pitchFamily="18"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66FFFF"/>
            </a:gs>
            <a:gs pos="54000">
              <a:srgbClr val="AEEACF"/>
            </a:gs>
            <a:gs pos="100000">
              <a:schemeClr val="accent3">
                <a:lumMod val="20000"/>
                <a:lumOff val="80000"/>
              </a:schemeClr>
            </a:gs>
          </a:gsLst>
          <a:lin ang="5400000" scaled="0"/>
          <a:tileRect/>
        </a:gradFill>
        <a:effectLst/>
      </p:bgPr>
    </p:bg>
    <p:spTree>
      <p:nvGrpSpPr>
        <p:cNvPr id="1" name=""/>
        <p:cNvGrpSpPr/>
        <p:nvPr/>
      </p:nvGrpSpPr>
      <p:grpSpPr>
        <a:xfrm>
          <a:off x="0" y="0"/>
          <a:ext cx="0" cy="0"/>
          <a:chOff x="0" y="0"/>
          <a:chExt cx="0" cy="0"/>
        </a:xfrm>
      </p:grpSpPr>
      <p:grpSp>
        <p:nvGrpSpPr>
          <p:cNvPr id="2" name="Header - college"/>
          <p:cNvGrpSpPr/>
          <p:nvPr/>
        </p:nvGrpSpPr>
        <p:grpSpPr>
          <a:xfrm>
            <a:off x="731520" y="365760"/>
            <a:ext cx="10728960" cy="1119091"/>
            <a:chOff x="731520" y="365760"/>
            <a:chExt cx="10728960" cy="1280160"/>
          </a:xfrm>
        </p:grpSpPr>
        <p:pic>
          <p:nvPicPr>
            <p:cNvPr id="3" name="VTU emblem" descr="Visvesvaraya Technological University emblem"/>
            <p:cNvPicPr>
              <a:picLocks noChangeAspect="1"/>
            </p:cNvPicPr>
            <p:nvPr/>
          </p:nvPicPr>
          <p:blipFill>
            <a:blip r:embed="rId2"/>
            <a:stretch>
              <a:fillRect/>
            </a:stretch>
          </p:blipFill>
          <p:spPr>
            <a:xfrm>
              <a:off x="731520" y="411480"/>
              <a:ext cx="1153058" cy="1188720"/>
            </a:xfrm>
            <a:prstGeom prst="rect">
              <a:avLst/>
            </a:prstGeom>
          </p:spPr>
        </p:pic>
        <p:pic>
          <p:nvPicPr>
            <p:cNvPr id="4" name="AIT emblem" descr="Adichunchanagiri Institute of Technology emblem"/>
            <p:cNvPicPr>
              <a:picLocks noChangeAspect="1"/>
            </p:cNvPicPr>
            <p:nvPr/>
          </p:nvPicPr>
          <p:blipFill>
            <a:blip r:embed="rId3"/>
            <a:stretch>
              <a:fillRect/>
            </a:stretch>
          </p:blipFill>
          <p:spPr>
            <a:xfrm>
              <a:off x="10314214" y="411480"/>
              <a:ext cx="1146266" cy="1188720"/>
            </a:xfrm>
            <a:prstGeom prst="rect">
              <a:avLst/>
            </a:prstGeom>
          </p:spPr>
        </p:pic>
        <p:sp>
          <p:nvSpPr>
            <p:cNvPr id="5" name="College text"/>
            <p:cNvSpPr txBox="1"/>
            <p:nvPr/>
          </p:nvSpPr>
          <p:spPr>
            <a:xfrm>
              <a:off x="2194560" y="365760"/>
              <a:ext cx="7802880" cy="1280160"/>
            </a:xfrm>
            <a:prstGeom prst="rect">
              <a:avLst/>
            </a:prstGeom>
            <a:noFill/>
            <a:effectLst>
              <a:outerShdw blurRad="50800" dist="38100" dir="18900000" algn="bl" rotWithShape="0">
                <a:prstClr val="black">
                  <a:alpha val="40000"/>
                </a:prstClr>
              </a:outerShdw>
            </a:effectLst>
          </p:spPr>
          <p:txBody>
            <a:bodyPr wrap="square" lIns="0" tIns="0" rIns="0" bIns="0" anchor="ctr">
              <a:spAutoFit/>
            </a:bodyPr>
            <a:lstStyle/>
            <a:p>
              <a:pPr algn="ctr">
                <a:spcBef>
                  <a:spcPts val="0"/>
                </a:spcBef>
                <a:spcAft>
                  <a:spcPts val="400"/>
                </a:spcAft>
              </a:pPr>
              <a:r>
                <a:rPr sz="1400" b="1" i="0" u="none" dirty="0">
                  <a:solidFill>
                    <a:srgbClr val="000000"/>
                  </a:solidFill>
                  <a:latin typeface="Times New Roman"/>
                </a:rPr>
                <a:t>|| Jai Sri Gurudev ||</a:t>
              </a:r>
            </a:p>
            <a:p>
              <a:pPr algn="ctr">
                <a:spcBef>
                  <a:spcPts val="0"/>
                </a:spcBef>
                <a:spcAft>
                  <a:spcPts val="300"/>
                </a:spcAft>
              </a:pPr>
              <a:r>
                <a:rPr sz="2400" b="1" i="0" u="none" dirty="0">
                  <a:solidFill>
                    <a:srgbClr val="000000"/>
                  </a:solidFill>
                  <a:latin typeface="Times New Roman"/>
                </a:rPr>
                <a:t>ADICHUNCHANAGIRI INSTITUTE OF TECHNOLOGY</a:t>
              </a:r>
            </a:p>
            <a:p>
              <a:pPr algn="ctr">
                <a:spcBef>
                  <a:spcPts val="0"/>
                </a:spcBef>
                <a:spcAft>
                  <a:spcPts val="100"/>
                </a:spcAft>
              </a:pPr>
              <a:r>
                <a:rPr sz="1300" b="0" i="0" u="none" dirty="0">
                  <a:solidFill>
                    <a:srgbClr val="000000"/>
                  </a:solidFill>
                  <a:latin typeface="Times New Roman"/>
                </a:rPr>
                <a:t>(Affiliated to Visvesvaraya Technological University, Belagavi  |  Accredited by NAAC)</a:t>
              </a:r>
            </a:p>
            <a:p>
              <a:pPr algn="ctr">
                <a:spcBef>
                  <a:spcPts val="0"/>
                </a:spcBef>
                <a:spcAft>
                  <a:spcPts val="0"/>
                </a:spcAft>
              </a:pPr>
              <a:r>
                <a:rPr sz="1300" b="0" i="0" u="none" dirty="0">
                  <a:solidFill>
                    <a:srgbClr val="000000"/>
                  </a:solidFill>
                  <a:latin typeface="Times New Roman"/>
                </a:rPr>
                <a:t>Chikkamagaluru – 577 102, Karnataka</a:t>
              </a:r>
            </a:p>
          </p:txBody>
        </p:sp>
      </p:grpSp>
      <p:sp>
        <p:nvSpPr>
          <p:cNvPr id="6" name="Department"/>
          <p:cNvSpPr txBox="1"/>
          <p:nvPr/>
        </p:nvSpPr>
        <p:spPr>
          <a:xfrm>
            <a:off x="731520" y="1667731"/>
            <a:ext cx="10728960" cy="959237"/>
          </a:xfrm>
          <a:prstGeom prst="rect">
            <a:avLst/>
          </a:prstGeom>
          <a:noFill/>
        </p:spPr>
        <p:txBody>
          <a:bodyPr wrap="square" lIns="0" tIns="0" rIns="0" bIns="0" anchor="t">
            <a:spAutoFit/>
          </a:bodyPr>
          <a:lstStyle/>
          <a:p>
            <a:pPr algn="ctr">
              <a:spcBef>
                <a:spcPts val="0"/>
              </a:spcBef>
              <a:spcAft>
                <a:spcPts val="800"/>
              </a:spcAft>
            </a:pPr>
            <a:r>
              <a:rPr sz="2000" b="1" i="0" u="none" dirty="0">
                <a:solidFill>
                  <a:srgbClr val="C00000"/>
                </a:solidFill>
                <a:latin typeface="Times New Roman"/>
              </a:rPr>
              <a:t>DEPARTMENT OF ARTIFICIAL INTELLIGENCE AND MACHINE LEARNING</a:t>
            </a:r>
          </a:p>
          <a:p>
            <a:pPr algn="ctr">
              <a:spcBef>
                <a:spcPts val="0"/>
              </a:spcBef>
              <a:spcAft>
                <a:spcPts val="200"/>
              </a:spcAft>
            </a:pPr>
            <a:r>
              <a:rPr sz="1800" b="0" i="0" u="none" dirty="0">
                <a:solidFill>
                  <a:srgbClr val="000000"/>
                </a:solidFill>
                <a:latin typeface="Times New Roman"/>
              </a:rPr>
              <a:t>MINI PROJECT SYNOPSIS PRESENTATION [BAI586]</a:t>
            </a:r>
          </a:p>
          <a:p>
            <a:pPr algn="ctr">
              <a:spcBef>
                <a:spcPts val="0"/>
              </a:spcBef>
              <a:spcAft>
                <a:spcPts val="0"/>
              </a:spcAft>
            </a:pPr>
            <a:r>
              <a:rPr sz="1600" b="0" i="1" u="none" dirty="0">
                <a:solidFill>
                  <a:srgbClr val="000000"/>
                </a:solidFill>
                <a:latin typeface="Times New Roman"/>
              </a:rPr>
              <a:t>on</a:t>
            </a:r>
          </a:p>
        </p:txBody>
      </p:sp>
      <p:sp>
        <p:nvSpPr>
          <p:cNvPr id="7" name="Project title"/>
          <p:cNvSpPr txBox="1"/>
          <p:nvPr/>
        </p:nvSpPr>
        <p:spPr>
          <a:xfrm>
            <a:off x="792479" y="2576378"/>
            <a:ext cx="10728960" cy="984885"/>
          </a:xfrm>
          <a:prstGeom prst="rect">
            <a:avLst/>
          </a:prstGeom>
          <a:noFill/>
          <a:effectLst>
            <a:outerShdw blurRad="50800" dist="38100" dir="5400000" algn="t" rotWithShape="0">
              <a:prstClr val="black">
                <a:alpha val="40000"/>
              </a:prstClr>
            </a:outerShdw>
          </a:effectLst>
        </p:spPr>
        <p:txBody>
          <a:bodyPr wrap="square" lIns="0" tIns="0" rIns="0" bIns="0" anchor="t">
            <a:spAutoFit/>
          </a:bodyPr>
          <a:lstStyle/>
          <a:p>
            <a:pPr algn="ctr">
              <a:spcBef>
                <a:spcPts val="0"/>
              </a:spcBef>
              <a:spcAft>
                <a:spcPts val="0"/>
              </a:spcAft>
            </a:pPr>
            <a:r>
              <a:rPr sz="2400" b="1" i="0" u="none" dirty="0">
                <a:latin typeface="Times New Roman"/>
              </a:rPr>
              <a:t>DEVELOPMENT OF AN IOT AND AI-ENABLED ROVER</a:t>
            </a:r>
          </a:p>
          <a:p>
            <a:pPr algn="ctr">
              <a:spcBef>
                <a:spcPts val="0"/>
              </a:spcBef>
              <a:spcAft>
                <a:spcPts val="0"/>
              </a:spcAft>
            </a:pPr>
            <a:r>
              <a:rPr sz="2400" b="1" i="0" u="none" dirty="0">
                <a:latin typeface="Times New Roman"/>
              </a:rPr>
              <a:t>FOR REAL-TIME CROP HEALTH MONITORING</a:t>
            </a:r>
            <a:endParaRPr lang="en-US" sz="2400" b="1" i="0" u="none" dirty="0">
              <a:latin typeface="Times New Roman"/>
            </a:endParaRPr>
          </a:p>
          <a:p>
            <a:pPr algn="ctr">
              <a:spcBef>
                <a:spcPts val="0"/>
              </a:spcBef>
              <a:spcAft>
                <a:spcPts val="0"/>
              </a:spcAft>
            </a:pPr>
            <a:r>
              <a:rPr lang="en-IN" sz="1600" dirty="0">
                <a:solidFill>
                  <a:srgbClr val="000000"/>
                </a:solidFill>
              </a:rPr>
              <a:t>Academic Year : 2026 – 2027</a:t>
            </a:r>
            <a:endParaRPr sz="1600" b="1" i="0" u="none" dirty="0">
              <a:solidFill>
                <a:srgbClr val="000000"/>
              </a:solidFill>
              <a:latin typeface="Times New Roman"/>
            </a:endParaRPr>
          </a:p>
        </p:txBody>
      </p:sp>
      <p:sp>
        <p:nvSpPr>
          <p:cNvPr id="8" name="Guide"/>
          <p:cNvSpPr txBox="1"/>
          <p:nvPr/>
        </p:nvSpPr>
        <p:spPr>
          <a:xfrm>
            <a:off x="792479" y="4686418"/>
            <a:ext cx="3573044" cy="1390124"/>
          </a:xfrm>
          <a:prstGeom prst="rect">
            <a:avLst/>
          </a:prstGeom>
          <a:noFill/>
        </p:spPr>
        <p:txBody>
          <a:bodyPr wrap="square" lIns="0" tIns="0" rIns="0" bIns="0" anchor="t">
            <a:spAutoFit/>
          </a:bodyPr>
          <a:lstStyle/>
          <a:p>
            <a:pPr algn="l">
              <a:spcBef>
                <a:spcPts val="0"/>
              </a:spcBef>
              <a:spcAft>
                <a:spcPts val="400"/>
              </a:spcAft>
            </a:pPr>
            <a:r>
              <a:rPr sz="1600" b="1" i="0" u="sng" dirty="0">
                <a:solidFill>
                  <a:srgbClr val="000000"/>
                </a:solidFill>
                <a:latin typeface="Times New Roman"/>
              </a:rPr>
              <a:t>Under the guidance of</a:t>
            </a:r>
            <a:r>
              <a:rPr lang="en-US" sz="1600" b="1" i="0" u="sng" dirty="0">
                <a:solidFill>
                  <a:srgbClr val="000000"/>
                </a:solidFill>
                <a:latin typeface="Times New Roman"/>
              </a:rPr>
              <a:t> </a:t>
            </a:r>
            <a:r>
              <a:rPr sz="1600" b="1" i="0" u="sng" dirty="0">
                <a:solidFill>
                  <a:srgbClr val="000000"/>
                </a:solidFill>
                <a:latin typeface="Times New Roman"/>
              </a:rPr>
              <a:t>:</a:t>
            </a:r>
          </a:p>
          <a:p>
            <a:pPr lvl="1">
              <a:spcAft>
                <a:spcPts val="200"/>
              </a:spcAft>
            </a:pPr>
            <a:r>
              <a:rPr sz="1600" b="1" i="0" u="none" dirty="0">
                <a:solidFill>
                  <a:srgbClr val="000000"/>
                </a:solidFill>
                <a:latin typeface="Times New Roman"/>
              </a:rPr>
              <a:t>Ms. </a:t>
            </a:r>
            <a:r>
              <a:rPr sz="1600" b="1" i="0" u="none" dirty="0" err="1">
                <a:solidFill>
                  <a:srgbClr val="000000"/>
                </a:solidFill>
                <a:latin typeface="Times New Roman"/>
              </a:rPr>
              <a:t>Sathyabhama</a:t>
            </a:r>
            <a:r>
              <a:rPr sz="1600" b="1" i="0" u="none" dirty="0">
                <a:solidFill>
                  <a:srgbClr val="000000"/>
                </a:solidFill>
                <a:latin typeface="Times New Roman"/>
              </a:rPr>
              <a:t> R, </a:t>
            </a:r>
            <a:r>
              <a:rPr sz="1600" b="1" i="0" u="none" baseline="-25000" dirty="0">
                <a:solidFill>
                  <a:srgbClr val="000000"/>
                </a:solidFill>
                <a:latin typeface="Times New Roman"/>
              </a:rPr>
              <a:t>B.E., </a:t>
            </a:r>
            <a:r>
              <a:rPr sz="1600" b="1" i="0" u="none" baseline="-25000" dirty="0" err="1">
                <a:solidFill>
                  <a:srgbClr val="000000"/>
                </a:solidFill>
                <a:latin typeface="Times New Roman"/>
              </a:rPr>
              <a:t>M.Tech</a:t>
            </a:r>
            <a:endParaRPr sz="1600" b="1" i="0" u="none" baseline="-25000" dirty="0">
              <a:solidFill>
                <a:srgbClr val="000000"/>
              </a:solidFill>
              <a:latin typeface="Times New Roman"/>
            </a:endParaRPr>
          </a:p>
          <a:p>
            <a:pPr lvl="1">
              <a:spcAft>
                <a:spcPts val="200"/>
              </a:spcAft>
            </a:pPr>
            <a:r>
              <a:rPr sz="1600" b="0" i="0" u="none" dirty="0">
                <a:solidFill>
                  <a:srgbClr val="000000"/>
                </a:solidFill>
                <a:latin typeface="Times New Roman"/>
              </a:rPr>
              <a:t>Assistant Professor</a:t>
            </a:r>
            <a:r>
              <a:rPr lang="en-US" sz="1600" b="0" i="0" u="none" dirty="0">
                <a:solidFill>
                  <a:srgbClr val="000000"/>
                </a:solidFill>
                <a:latin typeface="Times New Roman"/>
              </a:rPr>
              <a:t>,</a:t>
            </a:r>
            <a:endParaRPr sz="1600" b="0" i="0" u="none" dirty="0">
              <a:solidFill>
                <a:srgbClr val="000000"/>
              </a:solidFill>
              <a:latin typeface="Times New Roman"/>
            </a:endParaRPr>
          </a:p>
          <a:p>
            <a:pPr lvl="1">
              <a:spcAft>
                <a:spcPts val="200"/>
              </a:spcAft>
            </a:pPr>
            <a:r>
              <a:rPr sz="1600" b="0" i="0" u="none" dirty="0">
                <a:solidFill>
                  <a:srgbClr val="000000"/>
                </a:solidFill>
                <a:latin typeface="Times New Roman"/>
              </a:rPr>
              <a:t>Dept. of AI &amp; ML</a:t>
            </a:r>
            <a:r>
              <a:rPr lang="en-US" sz="1600" b="0" i="0" u="none" dirty="0">
                <a:solidFill>
                  <a:srgbClr val="000000"/>
                </a:solidFill>
                <a:latin typeface="Times New Roman"/>
              </a:rPr>
              <a:t>,</a:t>
            </a:r>
            <a:endParaRPr sz="1600" b="0" i="0" u="none" dirty="0">
              <a:solidFill>
                <a:srgbClr val="000000"/>
              </a:solidFill>
              <a:latin typeface="Times New Roman"/>
            </a:endParaRPr>
          </a:p>
          <a:p>
            <a:pPr lvl="1"/>
            <a:r>
              <a:rPr sz="1600" b="0" i="0" u="none" dirty="0">
                <a:solidFill>
                  <a:srgbClr val="000000"/>
                </a:solidFill>
                <a:latin typeface="Times New Roman"/>
              </a:rPr>
              <a:t>AIT, Chikkamagaluru</a:t>
            </a:r>
            <a:r>
              <a:rPr lang="en-US" sz="1600" b="0" i="0" u="none" dirty="0">
                <a:solidFill>
                  <a:srgbClr val="000000"/>
                </a:solidFill>
                <a:latin typeface="Times New Roman"/>
              </a:rPr>
              <a:t>.</a:t>
            </a:r>
            <a:endParaRPr sz="1600" b="0" i="0" u="none" dirty="0">
              <a:solidFill>
                <a:srgbClr val="000000"/>
              </a:solidFill>
              <a:latin typeface="Times New Roman"/>
            </a:endParaRPr>
          </a:p>
        </p:txBody>
      </p:sp>
      <p:sp>
        <p:nvSpPr>
          <p:cNvPr id="10" name="Team"/>
          <p:cNvSpPr txBox="1"/>
          <p:nvPr/>
        </p:nvSpPr>
        <p:spPr>
          <a:xfrm>
            <a:off x="8031060" y="4695567"/>
            <a:ext cx="3749039" cy="2159566"/>
          </a:xfrm>
          <a:prstGeom prst="rect">
            <a:avLst/>
          </a:prstGeom>
          <a:noFill/>
        </p:spPr>
        <p:txBody>
          <a:bodyPr wrap="square" lIns="0" tIns="0" rIns="0" bIns="0" anchor="t">
            <a:spAutoFit/>
          </a:bodyPr>
          <a:lstStyle/>
          <a:p>
            <a:pPr algn="l">
              <a:spcBef>
                <a:spcPts val="0"/>
              </a:spcBef>
              <a:spcAft>
                <a:spcPts val="400"/>
              </a:spcAft>
            </a:pPr>
            <a:r>
              <a:rPr sz="1600" b="1" i="0" u="sng" dirty="0">
                <a:solidFill>
                  <a:srgbClr val="000000"/>
                </a:solidFill>
                <a:latin typeface="Times New Roman"/>
              </a:rPr>
              <a:t>Presented by</a:t>
            </a:r>
            <a:r>
              <a:rPr lang="en-US" sz="1600" b="1" i="0" u="sng" dirty="0">
                <a:solidFill>
                  <a:srgbClr val="000000"/>
                </a:solidFill>
                <a:latin typeface="Times New Roman"/>
              </a:rPr>
              <a:t> </a:t>
            </a:r>
            <a:r>
              <a:rPr sz="1600" b="1" i="0" u="sng" dirty="0">
                <a:solidFill>
                  <a:srgbClr val="000000"/>
                </a:solidFill>
                <a:latin typeface="Times New Roman"/>
              </a:rPr>
              <a:t>:</a:t>
            </a:r>
          </a:p>
          <a:p>
            <a:pPr lvl="1">
              <a:spcAft>
                <a:spcPts val="200"/>
              </a:spcAft>
            </a:pPr>
            <a:r>
              <a:rPr lang="en-IN" sz="1600" b="1" i="0" u="none" dirty="0">
                <a:solidFill>
                  <a:srgbClr val="000000"/>
                </a:solidFill>
                <a:latin typeface="Times New Roman"/>
              </a:rPr>
              <a:t>Navyashree B H  (4AI24AI035),</a:t>
            </a:r>
            <a:endParaRPr sz="1600" b="1" i="0" u="none" dirty="0">
              <a:solidFill>
                <a:srgbClr val="000000"/>
              </a:solidFill>
              <a:latin typeface="Times New Roman"/>
            </a:endParaRPr>
          </a:p>
          <a:p>
            <a:pPr lvl="1">
              <a:spcAft>
                <a:spcPts val="200"/>
              </a:spcAft>
            </a:pPr>
            <a:r>
              <a:rPr lang="en-IN" sz="1600" b="1" i="0" u="none" dirty="0">
                <a:solidFill>
                  <a:srgbClr val="000000"/>
                </a:solidFill>
                <a:latin typeface="Times New Roman"/>
              </a:rPr>
              <a:t>Shreyas R S  (4AI24AI048),</a:t>
            </a:r>
            <a:endParaRPr sz="1600" b="1" i="0" u="none" dirty="0">
              <a:solidFill>
                <a:srgbClr val="000000"/>
              </a:solidFill>
              <a:latin typeface="Times New Roman"/>
            </a:endParaRPr>
          </a:p>
          <a:p>
            <a:pPr lvl="1">
              <a:spcAft>
                <a:spcPts val="200"/>
              </a:spcAft>
            </a:pPr>
            <a:r>
              <a:rPr lang="en-IN" sz="1600" b="1" i="0" u="none" dirty="0">
                <a:solidFill>
                  <a:srgbClr val="000000"/>
                </a:solidFill>
                <a:latin typeface="Times New Roman"/>
              </a:rPr>
              <a:t>Sumaiya Firdoes  (4AI24AI051),</a:t>
            </a:r>
            <a:endParaRPr sz="1600" b="1" i="0" u="none" dirty="0">
              <a:solidFill>
                <a:srgbClr val="000000"/>
              </a:solidFill>
              <a:latin typeface="Times New Roman"/>
            </a:endParaRPr>
          </a:p>
          <a:p>
            <a:pPr lvl="1"/>
            <a:r>
              <a:rPr lang="en-IN" sz="1600" b="1" i="0" u="none" dirty="0">
                <a:solidFill>
                  <a:srgbClr val="000000"/>
                </a:solidFill>
                <a:latin typeface="Times New Roman"/>
              </a:rPr>
              <a:t>Tejaswini D  (4AI24AI055),</a:t>
            </a:r>
          </a:p>
          <a:p>
            <a:pPr lvl="1"/>
            <a:r>
              <a:rPr lang="en-US" sz="1600" dirty="0">
                <a:solidFill>
                  <a:srgbClr val="000000"/>
                </a:solidFill>
              </a:rPr>
              <a:t>5th Semester, </a:t>
            </a:r>
          </a:p>
          <a:p>
            <a:pPr lvl="1"/>
            <a:r>
              <a:rPr lang="en-US" sz="1600" dirty="0">
                <a:solidFill>
                  <a:srgbClr val="000000"/>
                </a:solidFill>
              </a:rPr>
              <a:t>Dept. of AI &amp; ML,</a:t>
            </a:r>
          </a:p>
          <a:p>
            <a:pPr lvl="1"/>
            <a:r>
              <a:rPr lang="en-US" sz="1600" b="0" i="0" u="none" dirty="0">
                <a:solidFill>
                  <a:srgbClr val="000000"/>
                </a:solidFill>
                <a:latin typeface="Times New Roman"/>
              </a:rPr>
              <a:t>AIT, Chikkamagaluru.</a:t>
            </a:r>
            <a:endParaRPr sz="1600" b="0" i="0" u="none" dirty="0">
              <a:solidFill>
                <a:srgbClr val="000000"/>
              </a:solidFill>
              <a:latin typeface="Times New Roman"/>
            </a:endParaRPr>
          </a:p>
        </p:txBody>
      </p:sp>
      <p:pic>
        <p:nvPicPr>
          <p:cNvPr id="13" name="Picture 12">
            <a:extLst>
              <a:ext uri="{FF2B5EF4-FFF2-40B4-BE49-F238E27FC236}">
                <a16:creationId xmlns:a16="http://schemas.microsoft.com/office/drawing/2014/main" id="{070DA5CC-94D9-6A18-59BE-D0BD27368865}"/>
              </a:ext>
            </a:extLst>
          </p:cNvPr>
          <p:cNvPicPr>
            <a:picLocks noChangeAspect="1"/>
          </p:cNvPicPr>
          <p:nvPr/>
        </p:nvPicPr>
        <p:blipFill>
          <a:blip r:embed="rId4"/>
          <a:stretch>
            <a:fillRect/>
          </a:stretch>
        </p:blipFill>
        <p:spPr>
          <a:xfrm>
            <a:off x="4759913" y="3684639"/>
            <a:ext cx="2672174" cy="2667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1B96A4A-E444-F8EF-2AF6-084827D751A4}"/>
              </a:ext>
            </a:extLst>
          </p:cNvPr>
          <p:cNvSpPr>
            <a:spLocks noGrp="1"/>
          </p:cNvSpPr>
          <p:nvPr>
            <p:ph type="title"/>
          </p:nvPr>
        </p:nvSpPr>
        <p:spPr/>
        <p:txBody>
          <a:bodyPr/>
          <a:lstStyle/>
          <a:p>
            <a:r>
              <a:rPr lang="en-IN"/>
              <a:t>AGENDA</a:t>
            </a:r>
          </a:p>
        </p:txBody>
      </p:sp>
      <p:sp>
        <p:nvSpPr>
          <p:cNvPr id="3" name="Agenda - left">
            <a:extLst>
              <a:ext uri="{FF2B5EF4-FFF2-40B4-BE49-F238E27FC236}">
                <a16:creationId xmlns:a16="http://schemas.microsoft.com/office/drawing/2014/main" id="{592A8C46-9DF0-CC40-7C00-D8E39F919967}"/>
              </a:ext>
            </a:extLst>
          </p:cNvPr>
          <p:cNvSpPr txBox="1"/>
          <p:nvPr/>
        </p:nvSpPr>
        <p:spPr>
          <a:xfrm>
            <a:off x="1143000" y="1714500"/>
            <a:ext cx="4318000" cy="4064000"/>
          </a:xfrm>
          <a:prstGeom prst="rect">
            <a:avLst/>
          </a:prstGeom>
          <a:noFill/>
        </p:spPr>
        <p:txBody>
          <a:bodyPr vert="horz" wrap="square" lIns="0" tIns="0" rIns="0" bIns="0" rtlCol="0">
            <a:noAutofit/>
          </a:bodyPr>
          <a:lstStyle/>
          <a:p>
            <a:pPr marL="508000" indent="-508000">
              <a:spcAft>
                <a:spcPts val="1400"/>
              </a:spcAft>
              <a:buFontTx/>
              <a:buAutoNum type="arabicPeriod"/>
            </a:pPr>
            <a:r>
              <a:rPr lang="en-US" sz="2400">
                <a:solidFill>
                  <a:srgbClr val="000000"/>
                </a:solidFill>
                <a:latin typeface="Times New Roman" panose="02020603050405020304" pitchFamily="18" charset="0"/>
              </a:rPr>
              <a:t>Abstract</a:t>
            </a:r>
          </a:p>
          <a:p>
            <a:pPr marL="508000" indent="-508000">
              <a:spcAft>
                <a:spcPts val="1400"/>
              </a:spcAft>
              <a:buFontTx/>
              <a:buAutoNum type="arabicPeriod"/>
            </a:pPr>
            <a:r>
              <a:rPr lang="en-US" sz="2400">
                <a:solidFill>
                  <a:srgbClr val="000000"/>
                </a:solidFill>
                <a:latin typeface="Times New Roman" panose="02020603050405020304" pitchFamily="18" charset="0"/>
              </a:rPr>
              <a:t>Introduction</a:t>
            </a:r>
          </a:p>
          <a:p>
            <a:pPr marL="508000" indent="-508000">
              <a:spcAft>
                <a:spcPts val="1400"/>
              </a:spcAft>
              <a:buFontTx/>
              <a:buAutoNum type="arabicPeriod"/>
            </a:pPr>
            <a:r>
              <a:rPr lang="en-US" sz="2400">
                <a:solidFill>
                  <a:srgbClr val="000000"/>
                </a:solidFill>
                <a:latin typeface="Times New Roman" panose="02020603050405020304" pitchFamily="18" charset="0"/>
              </a:rPr>
              <a:t>Literature Survey</a:t>
            </a:r>
          </a:p>
          <a:p>
            <a:pPr marL="508000" indent="-508000">
              <a:spcAft>
                <a:spcPts val="1400"/>
              </a:spcAft>
              <a:buFontTx/>
              <a:buAutoNum type="arabicPeriod"/>
            </a:pPr>
            <a:r>
              <a:rPr lang="en-US" sz="2400">
                <a:solidFill>
                  <a:srgbClr val="000000"/>
                </a:solidFill>
                <a:latin typeface="Times New Roman" panose="02020603050405020304" pitchFamily="18" charset="0"/>
              </a:rPr>
              <a:t>Motivation</a:t>
            </a:r>
          </a:p>
          <a:p>
            <a:pPr marL="508000" indent="-508000">
              <a:spcAft>
                <a:spcPts val="1400"/>
              </a:spcAft>
              <a:buFontTx/>
              <a:buAutoNum type="arabicPeriod"/>
            </a:pPr>
            <a:r>
              <a:rPr lang="en-US" sz="2400">
                <a:solidFill>
                  <a:srgbClr val="000000"/>
                </a:solidFill>
                <a:latin typeface="Times New Roman" panose="02020603050405020304" pitchFamily="18" charset="0"/>
              </a:rPr>
              <a:t>Problem Statement</a:t>
            </a:r>
          </a:p>
          <a:p>
            <a:pPr marL="508000" indent="-508000">
              <a:spcAft>
                <a:spcPts val="1400"/>
              </a:spcAft>
              <a:buFontTx/>
              <a:buAutoNum type="arabicPeriod"/>
            </a:pPr>
            <a:r>
              <a:rPr lang="en-US" sz="2400">
                <a:solidFill>
                  <a:srgbClr val="000000"/>
                </a:solidFill>
                <a:latin typeface="Times New Roman" panose="02020603050405020304" pitchFamily="18" charset="0"/>
              </a:rPr>
              <a:t>Objectives</a:t>
            </a:r>
          </a:p>
          <a:p>
            <a:pPr marL="508000" indent="-508000">
              <a:spcAft>
                <a:spcPts val="1400"/>
              </a:spcAft>
              <a:buFontTx/>
              <a:buAutoNum type="arabicPeriod"/>
            </a:pPr>
            <a:r>
              <a:rPr lang="en-US" sz="2400">
                <a:solidFill>
                  <a:srgbClr val="000000"/>
                </a:solidFill>
                <a:latin typeface="Times New Roman" panose="02020603050405020304" pitchFamily="18" charset="0"/>
              </a:rPr>
              <a:t>Scope of the Project</a:t>
            </a:r>
            <a:endParaRPr lang="en-IN" sz="2400">
              <a:solidFill>
                <a:srgbClr val="000000"/>
              </a:solidFill>
              <a:latin typeface="Times New Roman" panose="02020603050405020304" pitchFamily="18" charset="0"/>
            </a:endParaRPr>
          </a:p>
        </p:txBody>
      </p:sp>
      <p:sp>
        <p:nvSpPr>
          <p:cNvPr id="4" name="Agenda - right">
            <a:extLst>
              <a:ext uri="{FF2B5EF4-FFF2-40B4-BE49-F238E27FC236}">
                <a16:creationId xmlns:a16="http://schemas.microsoft.com/office/drawing/2014/main" id="{1655749A-9FDE-4833-85DF-70723E6AFB62}"/>
              </a:ext>
            </a:extLst>
          </p:cNvPr>
          <p:cNvSpPr txBox="1"/>
          <p:nvPr/>
        </p:nvSpPr>
        <p:spPr>
          <a:xfrm>
            <a:off x="6096000" y="1714500"/>
            <a:ext cx="5334000" cy="4064000"/>
          </a:xfrm>
          <a:prstGeom prst="rect">
            <a:avLst/>
          </a:prstGeom>
          <a:noFill/>
        </p:spPr>
        <p:txBody>
          <a:bodyPr vert="horz" wrap="square" lIns="0" tIns="0" rIns="0" bIns="0" rtlCol="0">
            <a:noAutofit/>
          </a:bodyPr>
          <a:lstStyle/>
          <a:p>
            <a:pPr marL="508000" indent="-508000">
              <a:spcAft>
                <a:spcPts val="1400"/>
              </a:spcAft>
              <a:buFontTx/>
              <a:buAutoNum type="arabicPeriod" startAt="8"/>
            </a:pPr>
            <a:r>
              <a:rPr lang="en-US" sz="2400">
                <a:solidFill>
                  <a:srgbClr val="000000"/>
                </a:solidFill>
                <a:latin typeface="Times New Roman" panose="02020603050405020304" pitchFamily="18" charset="0"/>
              </a:rPr>
              <a:t>Methodology</a:t>
            </a:r>
          </a:p>
          <a:p>
            <a:pPr marL="508000" indent="-508000">
              <a:spcAft>
                <a:spcPts val="1400"/>
              </a:spcAft>
              <a:buFontTx/>
              <a:buAutoNum type="arabicPeriod" startAt="8"/>
            </a:pPr>
            <a:r>
              <a:rPr lang="en-US" sz="2400">
                <a:solidFill>
                  <a:srgbClr val="000000"/>
                </a:solidFill>
                <a:latin typeface="Times New Roman" panose="02020603050405020304" pitchFamily="18" charset="0"/>
              </a:rPr>
              <a:t>Hardware &amp; Software Requirements</a:t>
            </a:r>
          </a:p>
          <a:p>
            <a:pPr marL="508000" indent="-508000">
              <a:spcAft>
                <a:spcPts val="1400"/>
              </a:spcAft>
              <a:buFontTx/>
              <a:buAutoNum type="arabicPeriod" startAt="8"/>
            </a:pPr>
            <a:r>
              <a:rPr lang="en-US" sz="2400">
                <a:solidFill>
                  <a:srgbClr val="000000"/>
                </a:solidFill>
                <a:latin typeface="Times New Roman" panose="02020603050405020304" pitchFamily="18" charset="0"/>
              </a:rPr>
              <a:t>System Architecture</a:t>
            </a:r>
          </a:p>
          <a:p>
            <a:pPr marL="508000" indent="-508000">
              <a:spcAft>
                <a:spcPts val="1400"/>
              </a:spcAft>
              <a:buFontTx/>
              <a:buAutoNum type="arabicPeriod" startAt="8"/>
            </a:pPr>
            <a:r>
              <a:rPr lang="en-US" sz="2400">
                <a:solidFill>
                  <a:srgbClr val="000000"/>
                </a:solidFill>
                <a:latin typeface="Times New Roman" panose="02020603050405020304" pitchFamily="18" charset="0"/>
              </a:rPr>
              <a:t>Applications &amp; Expected Outcomes</a:t>
            </a:r>
          </a:p>
          <a:p>
            <a:pPr marL="508000" indent="-508000">
              <a:spcAft>
                <a:spcPts val="1400"/>
              </a:spcAft>
              <a:buFontTx/>
              <a:buAutoNum type="arabicPeriod" startAt="8"/>
            </a:pPr>
            <a:r>
              <a:rPr lang="en-US" sz="2400">
                <a:solidFill>
                  <a:srgbClr val="000000"/>
                </a:solidFill>
                <a:latin typeface="Times New Roman" panose="02020603050405020304" pitchFamily="18" charset="0"/>
              </a:rPr>
              <a:t>Future Scope</a:t>
            </a:r>
          </a:p>
          <a:p>
            <a:pPr marL="508000" indent="-508000">
              <a:spcAft>
                <a:spcPts val="1400"/>
              </a:spcAft>
              <a:buFontTx/>
              <a:buAutoNum type="arabicPeriod" startAt="8"/>
            </a:pPr>
            <a:r>
              <a:rPr lang="en-US" sz="2400">
                <a:solidFill>
                  <a:srgbClr val="000000"/>
                </a:solidFill>
                <a:latin typeface="Times New Roman" panose="02020603050405020304" pitchFamily="18" charset="0"/>
              </a:rPr>
              <a:t>References</a:t>
            </a:r>
            <a:endParaRPr lang="en-IN" sz="2400">
              <a:solidFill>
                <a:srgbClr val="000000"/>
              </a:solidFill>
              <a:latin typeface="Times New Roman" panose="02020603050405020304" pitchFamily="18" charset="0"/>
            </a:endParaRPr>
          </a:p>
        </p:txBody>
      </p:sp>
      <p:sp>
        <p:nvSpPr>
          <p:cNvPr id="5" name="Footer Placeholder 4">
            <a:extLst>
              <a:ext uri="{FF2B5EF4-FFF2-40B4-BE49-F238E27FC236}">
                <a16:creationId xmlns:a16="http://schemas.microsoft.com/office/drawing/2014/main" id="{4AF19CF6-9BFA-A64E-B502-919EF0680F19}"/>
              </a:ext>
            </a:extLst>
          </p:cNvPr>
          <p:cNvSpPr>
            <a:spLocks noGrp="1"/>
          </p:cNvSpPr>
          <p:nvPr>
            <p:ph type="ftr" sz="quarter" idx="11"/>
          </p:nvPr>
        </p:nvSpPr>
        <p:spPr/>
        <p:txBody>
          <a:bodyPr/>
          <a:lstStyle/>
          <a:p>
            <a:r>
              <a:rPr lang="en-US"/>
              <a:t>IoT and AI-Enabled Rover for Crop Health Monitoring</a:t>
            </a:r>
            <a:endParaRPr lang="en-US" dirty="0"/>
          </a:p>
        </p:txBody>
      </p:sp>
      <p:sp>
        <p:nvSpPr>
          <p:cNvPr id="6" name="Slide Number Placeholder 5">
            <a:extLst>
              <a:ext uri="{FF2B5EF4-FFF2-40B4-BE49-F238E27FC236}">
                <a16:creationId xmlns:a16="http://schemas.microsoft.com/office/drawing/2014/main" id="{7D5BC06A-7B4E-4871-6CF5-C48292E06485}"/>
              </a:ext>
            </a:extLst>
          </p:cNvPr>
          <p:cNvSpPr>
            <a:spLocks noGrp="1"/>
          </p:cNvSpPr>
          <p:nvPr>
            <p:ph type="sldNum" sz="quarter" idx="12"/>
          </p:nvPr>
        </p:nvSpPr>
        <p:spPr/>
        <p:txBody>
          <a:bodyPr/>
          <a:lstStyle/>
          <a:p>
            <a:fld id="{C1FF6DA9-008F-8B48-92A6-B652298478BF}" type="slidenum">
              <a:rPr lang="en-US" smtClean="0"/>
              <a:pPr/>
              <a:t>2</a:t>
            </a:fld>
            <a:endParaRPr lang="en-US" dirty="0"/>
          </a:p>
        </p:txBody>
      </p:sp>
    </p:spTree>
    <p:extLst>
      <p:ext uri="{BB962C8B-B14F-4D97-AF65-F5344CB8AC3E}">
        <p14:creationId xmlns:p14="http://schemas.microsoft.com/office/powerpoint/2010/main" val="3381300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796648C-282A-8A23-8055-6EEDA466843F}"/>
              </a:ext>
            </a:extLst>
          </p:cNvPr>
          <p:cNvSpPr>
            <a:spLocks noGrp="1"/>
          </p:cNvSpPr>
          <p:nvPr>
            <p:ph type="title"/>
          </p:nvPr>
        </p:nvSpPr>
        <p:spPr/>
        <p:txBody>
          <a:bodyPr/>
          <a:lstStyle/>
          <a:p>
            <a:r>
              <a:rPr lang="en-IN"/>
              <a:t>ABSTRACT</a:t>
            </a:r>
          </a:p>
        </p:txBody>
      </p:sp>
      <p:sp>
        <p:nvSpPr>
          <p:cNvPr id="3" name="Abstract text">
            <a:extLst>
              <a:ext uri="{FF2B5EF4-FFF2-40B4-BE49-F238E27FC236}">
                <a16:creationId xmlns:a16="http://schemas.microsoft.com/office/drawing/2014/main" id="{F95542AD-3121-12A4-FF9B-88DF2EE7E9A9}"/>
              </a:ext>
            </a:extLst>
          </p:cNvPr>
          <p:cNvSpPr>
            <a:spLocks noGrp="1"/>
          </p:cNvSpPr>
          <p:nvPr>
            <p:ph idx="1"/>
          </p:nvPr>
        </p:nvSpPr>
        <p:spPr>
          <a:xfrm>
            <a:off x="736600" y="1524000"/>
            <a:ext cx="10718800" cy="4572000"/>
          </a:xfrm>
        </p:spPr>
        <p:txBody>
          <a:bodyPr wrap="square" anchor="t">
            <a:noAutofit/>
          </a:bodyPr>
          <a:lstStyle/>
          <a:p>
            <a:pPr marL="0" indent="0" algn="just">
              <a:lnSpc>
                <a:spcPct val="110000"/>
              </a:lnSpc>
              <a:spcBef>
                <a:spcPct val="0"/>
              </a:spcBef>
              <a:spcAft>
                <a:spcPts val="2000"/>
              </a:spcAft>
              <a:buNone/>
            </a:pPr>
            <a:r>
              <a:rPr lang="en-US"/>
              <a:t>Agriculture faces challenges such as crop diseases, pests, nutrient deficiencies, improper irrigation and changing weather conditions. Farmers often depend on manual inspection, making early detection difficult and increasing the risk of crop losses, water wastage and delayed decisions.</a:t>
            </a:r>
          </a:p>
          <a:p>
            <a:pPr marL="0" indent="0" algn="just">
              <a:lnSpc>
                <a:spcPct val="110000"/>
              </a:lnSpc>
              <a:spcBef>
                <a:spcPct val="0"/>
              </a:spcBef>
              <a:spcAft>
                <a:spcPts val="2000"/>
              </a:spcAft>
              <a:buNone/>
            </a:pPr>
            <a:r>
              <a:rPr lang="en-US"/>
              <a:t>The proposed IoT-Enabled AI-Based Smart Farming Rover uses cameras and sensors to collect crop and environmental data. AI/ML models analyze crop health, diseases, pests and nutrient deficiencies, while sensor data helps assess water stress and irrigation needs. Edge computing enables faster field-level analysis, with alerts and recommendations provided through a mobile application.</a:t>
            </a:r>
            <a:endParaRPr lang="en-IN"/>
          </a:p>
        </p:txBody>
      </p:sp>
      <p:sp>
        <p:nvSpPr>
          <p:cNvPr id="4" name="Footer Placeholder 3">
            <a:extLst>
              <a:ext uri="{FF2B5EF4-FFF2-40B4-BE49-F238E27FC236}">
                <a16:creationId xmlns:a16="http://schemas.microsoft.com/office/drawing/2014/main" id="{0E8291AE-F5A5-7C95-9DE7-F61E0775B698}"/>
              </a:ext>
            </a:extLst>
          </p:cNvPr>
          <p:cNvSpPr>
            <a:spLocks noGrp="1"/>
          </p:cNvSpPr>
          <p:nvPr>
            <p:ph type="ftr" sz="quarter" idx="11"/>
          </p:nvPr>
        </p:nvSpPr>
        <p:spPr/>
        <p:txBody>
          <a:bodyPr/>
          <a:lstStyle/>
          <a:p>
            <a:r>
              <a:rPr lang="en-US"/>
              <a:t>IoT and AI-Enabled Rover for Crop Health Monitoring</a:t>
            </a:r>
            <a:endParaRPr lang="en-US" dirty="0"/>
          </a:p>
        </p:txBody>
      </p:sp>
      <p:sp>
        <p:nvSpPr>
          <p:cNvPr id="5" name="Slide Number Placeholder 4">
            <a:extLst>
              <a:ext uri="{FF2B5EF4-FFF2-40B4-BE49-F238E27FC236}">
                <a16:creationId xmlns:a16="http://schemas.microsoft.com/office/drawing/2014/main" id="{4965E70B-80A4-4D51-58C8-195F57F540DE}"/>
              </a:ext>
            </a:extLst>
          </p:cNvPr>
          <p:cNvSpPr>
            <a:spLocks noGrp="1"/>
          </p:cNvSpPr>
          <p:nvPr>
            <p:ph type="sldNum" sz="quarter" idx="12"/>
          </p:nvPr>
        </p:nvSpPr>
        <p:spPr/>
        <p:txBody>
          <a:bodyPr/>
          <a:lstStyle/>
          <a:p>
            <a:fld id="{C1FF6DA9-008F-8B48-92A6-B652298478BF}" type="slidenum">
              <a:rPr lang="en-US" smtClean="0"/>
              <a:pPr/>
              <a:t>3</a:t>
            </a:fld>
            <a:endParaRPr lang="en-US" dirty="0"/>
          </a:p>
        </p:txBody>
      </p:sp>
    </p:spTree>
    <p:extLst>
      <p:ext uri="{BB962C8B-B14F-4D97-AF65-F5344CB8AC3E}">
        <p14:creationId xmlns:p14="http://schemas.microsoft.com/office/powerpoint/2010/main" val="3890971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AA90063-5F12-3F81-0B31-FADDDE9A148A}"/>
              </a:ext>
            </a:extLst>
          </p:cNvPr>
          <p:cNvSpPr>
            <a:spLocks noGrp="1"/>
          </p:cNvSpPr>
          <p:nvPr>
            <p:ph type="title"/>
          </p:nvPr>
        </p:nvSpPr>
        <p:spPr/>
        <p:txBody>
          <a:bodyPr/>
          <a:lstStyle/>
          <a:p>
            <a:r>
              <a:rPr lang="en-IN"/>
              <a:t>INTRODUCTION</a:t>
            </a:r>
          </a:p>
        </p:txBody>
      </p:sp>
      <p:sp>
        <p:nvSpPr>
          <p:cNvPr id="3" name="Introduction text">
            <a:extLst>
              <a:ext uri="{FF2B5EF4-FFF2-40B4-BE49-F238E27FC236}">
                <a16:creationId xmlns:a16="http://schemas.microsoft.com/office/drawing/2014/main" id="{AFFE8616-5FE6-5DB0-2181-72442B0D217E}"/>
              </a:ext>
            </a:extLst>
          </p:cNvPr>
          <p:cNvSpPr>
            <a:spLocks noGrp="1"/>
          </p:cNvSpPr>
          <p:nvPr>
            <p:ph idx="1"/>
          </p:nvPr>
        </p:nvSpPr>
        <p:spPr>
          <a:xfrm>
            <a:off x="736600" y="1422400"/>
            <a:ext cx="10718800" cy="4762500"/>
          </a:xfrm>
        </p:spPr>
        <p:txBody>
          <a:bodyPr wrap="square" anchor="t">
            <a:noAutofit/>
          </a:bodyPr>
          <a:lstStyle/>
          <a:p>
            <a:pPr marL="330200" indent="-330200">
              <a:spcBef>
                <a:spcPct val="0"/>
              </a:spcBef>
              <a:spcAft>
                <a:spcPts val="1000"/>
              </a:spcAft>
            </a:pPr>
            <a:r>
              <a:rPr lang="en-US" sz="2200"/>
              <a:t>Agriculture is a primary source of livelihood and food security, and its productivity depends on timely awareness of crop and field conditions.</a:t>
            </a:r>
          </a:p>
          <a:p>
            <a:pPr marL="330200" indent="-330200">
              <a:spcBef>
                <a:spcPct val="0"/>
              </a:spcBef>
              <a:spcAft>
                <a:spcPts val="1000"/>
              </a:spcAft>
            </a:pPr>
            <a:r>
              <a:rPr lang="en-US" sz="2200"/>
              <a:t>Crops are exposed to diseases, pest infestations, nutrient deficiencies and water stress, along with erratic rainfall, drought, flooding, heat stress and fire.</a:t>
            </a:r>
          </a:p>
          <a:p>
            <a:pPr marL="330200" indent="-330200">
              <a:spcBef>
                <a:spcPct val="0"/>
              </a:spcBef>
              <a:spcAft>
                <a:spcPts val="1000"/>
              </a:spcAft>
            </a:pPr>
            <a:r>
              <a:rPr lang="en-US" sz="2200"/>
              <a:t>Conventional monitoring relies largely on periodic manual inspection, which is labour-intensive, difficult to scale across large or remote fields and may delay the identification of emerging problems.</a:t>
            </a:r>
          </a:p>
          <a:p>
            <a:pPr marL="330200" indent="-330200">
              <a:spcBef>
                <a:spcPct val="0"/>
              </a:spcBef>
              <a:spcAft>
                <a:spcPts val="1000"/>
              </a:spcAft>
            </a:pPr>
            <a:r>
              <a:rPr lang="en-US" sz="2200"/>
              <a:t>IoT enables continuous, low-cost sensing; mobile robots carry sensors and cameras directly into the field; and AI with computer vision helps interpret field images and sensor data.</a:t>
            </a:r>
          </a:p>
          <a:p>
            <a:pPr marL="330200" indent="-330200">
              <a:spcBef>
                <a:spcPct val="0"/>
              </a:spcBef>
              <a:spcAft>
                <a:spcPts val="1000"/>
              </a:spcAft>
            </a:pPr>
            <a:r>
              <a:rPr lang="en-US" sz="2200"/>
              <a:t>Integrating these technologies into a single field-deployable rover provides real-time field information and decision support to farmers.</a:t>
            </a:r>
            <a:endParaRPr lang="en-IN" sz="2200"/>
          </a:p>
        </p:txBody>
      </p:sp>
      <p:sp>
        <p:nvSpPr>
          <p:cNvPr id="4" name="Footer Placeholder 3">
            <a:extLst>
              <a:ext uri="{FF2B5EF4-FFF2-40B4-BE49-F238E27FC236}">
                <a16:creationId xmlns:a16="http://schemas.microsoft.com/office/drawing/2014/main" id="{E4C62C94-0C5F-5988-CA5C-3ED63736B67E}"/>
              </a:ext>
            </a:extLst>
          </p:cNvPr>
          <p:cNvSpPr>
            <a:spLocks noGrp="1"/>
          </p:cNvSpPr>
          <p:nvPr>
            <p:ph type="ftr" sz="quarter" idx="11"/>
          </p:nvPr>
        </p:nvSpPr>
        <p:spPr/>
        <p:txBody>
          <a:bodyPr/>
          <a:lstStyle/>
          <a:p>
            <a:r>
              <a:rPr lang="en-US"/>
              <a:t>IoT and AI-Enabled Rover for Crop Health Monitoring</a:t>
            </a:r>
            <a:endParaRPr lang="en-US" dirty="0"/>
          </a:p>
        </p:txBody>
      </p:sp>
      <p:sp>
        <p:nvSpPr>
          <p:cNvPr id="5" name="Slide Number Placeholder 4">
            <a:extLst>
              <a:ext uri="{FF2B5EF4-FFF2-40B4-BE49-F238E27FC236}">
                <a16:creationId xmlns:a16="http://schemas.microsoft.com/office/drawing/2014/main" id="{8E8EB887-766D-1DAC-D472-58A23B3BD556}"/>
              </a:ext>
            </a:extLst>
          </p:cNvPr>
          <p:cNvSpPr>
            <a:spLocks noGrp="1"/>
          </p:cNvSpPr>
          <p:nvPr>
            <p:ph type="sldNum" sz="quarter" idx="12"/>
          </p:nvPr>
        </p:nvSpPr>
        <p:spPr/>
        <p:txBody>
          <a:bodyPr/>
          <a:lstStyle/>
          <a:p>
            <a:fld id="{C1FF6DA9-008F-8B48-92A6-B652298478BF}" type="slidenum">
              <a:rPr lang="en-US" smtClean="0"/>
              <a:pPr/>
              <a:t>4</a:t>
            </a:fld>
            <a:endParaRPr lang="en-US" dirty="0"/>
          </a:p>
        </p:txBody>
      </p:sp>
    </p:spTree>
    <p:extLst>
      <p:ext uri="{BB962C8B-B14F-4D97-AF65-F5344CB8AC3E}">
        <p14:creationId xmlns:p14="http://schemas.microsoft.com/office/powerpoint/2010/main" val="1084627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217B88C-ECD7-7278-4586-B4D39CD52AD8}"/>
              </a:ext>
            </a:extLst>
          </p:cNvPr>
          <p:cNvSpPr>
            <a:spLocks noGrp="1"/>
          </p:cNvSpPr>
          <p:nvPr>
            <p:ph type="title"/>
          </p:nvPr>
        </p:nvSpPr>
        <p:spPr/>
        <p:txBody>
          <a:bodyPr/>
          <a:lstStyle/>
          <a:p>
            <a:r>
              <a:rPr lang="en-IN"/>
              <a:t>LITERATURE SURVEY</a:t>
            </a:r>
          </a:p>
        </p:txBody>
      </p:sp>
      <p:sp>
        <p:nvSpPr>
          <p:cNvPr id="4" name="Footer Placeholder 3">
            <a:extLst>
              <a:ext uri="{FF2B5EF4-FFF2-40B4-BE49-F238E27FC236}">
                <a16:creationId xmlns:a16="http://schemas.microsoft.com/office/drawing/2014/main" id="{79A3341D-B8B6-DABF-1119-AB5E849F2E85}"/>
              </a:ext>
            </a:extLst>
          </p:cNvPr>
          <p:cNvSpPr>
            <a:spLocks noGrp="1"/>
          </p:cNvSpPr>
          <p:nvPr>
            <p:ph type="ftr" sz="quarter" idx="11"/>
          </p:nvPr>
        </p:nvSpPr>
        <p:spPr/>
        <p:txBody>
          <a:bodyPr/>
          <a:lstStyle/>
          <a:p>
            <a:r>
              <a:rPr lang="en-US"/>
              <a:t>IoT and AI-Enabled Rover for Crop Health Monitoring</a:t>
            </a:r>
            <a:endParaRPr lang="en-US" dirty="0"/>
          </a:p>
        </p:txBody>
      </p:sp>
      <p:sp>
        <p:nvSpPr>
          <p:cNvPr id="5" name="Slide Number Placeholder 4">
            <a:extLst>
              <a:ext uri="{FF2B5EF4-FFF2-40B4-BE49-F238E27FC236}">
                <a16:creationId xmlns:a16="http://schemas.microsoft.com/office/drawing/2014/main" id="{DB8FEEE5-98A4-4827-E9AC-55020FEEA054}"/>
              </a:ext>
            </a:extLst>
          </p:cNvPr>
          <p:cNvSpPr>
            <a:spLocks noGrp="1"/>
          </p:cNvSpPr>
          <p:nvPr>
            <p:ph type="sldNum" sz="quarter" idx="12"/>
          </p:nvPr>
        </p:nvSpPr>
        <p:spPr/>
        <p:txBody>
          <a:bodyPr/>
          <a:lstStyle/>
          <a:p>
            <a:fld id="{C1FF6DA9-008F-8B48-92A6-B652298478BF}" type="slidenum">
              <a:rPr lang="en-US" smtClean="0"/>
              <a:pPr/>
              <a:t>5</a:t>
            </a:fld>
            <a:endParaRPr lang="en-US" dirty="0"/>
          </a:p>
        </p:txBody>
      </p:sp>
      <p:graphicFrame>
        <p:nvGraphicFramePr>
          <p:cNvPr id="7" name="Literature survey table">
            <a:extLst>
              <a:ext uri="{FF2B5EF4-FFF2-40B4-BE49-F238E27FC236}">
                <a16:creationId xmlns:a16="http://schemas.microsoft.com/office/drawing/2014/main" id="{B3D463BA-EAF6-3EEA-21A5-17F347320678}"/>
              </a:ext>
            </a:extLst>
          </p:cNvPr>
          <p:cNvGraphicFramePr>
            <a:graphicFrameLocks noGrp="1"/>
          </p:cNvGraphicFramePr>
          <p:nvPr>
            <p:extLst>
              <p:ext uri="{D42A27DB-BD31-4B8C-83A1-F6EECF244321}">
                <p14:modId xmlns:p14="http://schemas.microsoft.com/office/powerpoint/2010/main" val="1149944593"/>
              </p:ext>
            </p:extLst>
          </p:nvPr>
        </p:nvGraphicFramePr>
        <p:xfrm>
          <a:off x="736600" y="1270000"/>
          <a:ext cx="10718800" cy="3429000"/>
        </p:xfrm>
        <a:graphic>
          <a:graphicData uri="http://schemas.openxmlformats.org/drawingml/2006/table">
            <a:tbl>
              <a:tblPr firstRow="1" bandRow="1">
                <a:tableStyleId>{5940675A-B579-460E-94D1-54222C63F5DA}</a:tableStyleId>
              </a:tblPr>
              <a:tblGrid>
                <a:gridCol w="939800">
                  <a:extLst>
                    <a:ext uri="{9D8B030D-6E8A-4147-A177-3AD203B41FA5}">
                      <a16:colId xmlns:a16="http://schemas.microsoft.com/office/drawing/2014/main" val="2616021155"/>
                    </a:ext>
                  </a:extLst>
                </a:gridCol>
                <a:gridCol w="2260600">
                  <a:extLst>
                    <a:ext uri="{9D8B030D-6E8A-4147-A177-3AD203B41FA5}">
                      <a16:colId xmlns:a16="http://schemas.microsoft.com/office/drawing/2014/main" val="836183260"/>
                    </a:ext>
                  </a:extLst>
                </a:gridCol>
                <a:gridCol w="2844800">
                  <a:extLst>
                    <a:ext uri="{9D8B030D-6E8A-4147-A177-3AD203B41FA5}">
                      <a16:colId xmlns:a16="http://schemas.microsoft.com/office/drawing/2014/main" val="1100127079"/>
                    </a:ext>
                  </a:extLst>
                </a:gridCol>
                <a:gridCol w="2692400">
                  <a:extLst>
                    <a:ext uri="{9D8B030D-6E8A-4147-A177-3AD203B41FA5}">
                      <a16:colId xmlns:a16="http://schemas.microsoft.com/office/drawing/2014/main" val="2372722112"/>
                    </a:ext>
                  </a:extLst>
                </a:gridCol>
                <a:gridCol w="1981200">
                  <a:extLst>
                    <a:ext uri="{9D8B030D-6E8A-4147-A177-3AD203B41FA5}">
                      <a16:colId xmlns:a16="http://schemas.microsoft.com/office/drawing/2014/main" val="2145224657"/>
                    </a:ext>
                  </a:extLst>
                </a:gridCol>
              </a:tblGrid>
              <a:tr h="381000">
                <a:tc>
                  <a:txBody>
                    <a:bodyPr/>
                    <a:lstStyle/>
                    <a:p>
                      <a:pPr algn="l"/>
                      <a:r>
                        <a:rPr lang="en-IN" sz="1600" b="1">
                          <a:solidFill>
                            <a:srgbClr val="000000"/>
                          </a:solidFill>
                          <a:latin typeface="Times New Roman" panose="02020603050405020304" pitchFamily="18" charset="0"/>
                        </a:rPr>
                        <a:t>SL.NO</a:t>
                      </a:r>
                    </a:p>
                  </a:txBody>
                  <a:tcPr marL="76200" marR="76200" marT="50800" marB="50800"/>
                </a:tc>
                <a:tc>
                  <a:txBody>
                    <a:bodyPr/>
                    <a:lstStyle/>
                    <a:p>
                      <a:pPr algn="l"/>
                      <a:r>
                        <a:rPr lang="en-IN" sz="1600" b="1">
                          <a:solidFill>
                            <a:srgbClr val="000000"/>
                          </a:solidFill>
                          <a:latin typeface="Times New Roman" panose="02020603050405020304" pitchFamily="18" charset="0"/>
                        </a:rPr>
                        <a:t>AUTHOR</a:t>
                      </a:r>
                    </a:p>
                  </a:txBody>
                  <a:tcPr marL="76200" marR="76200" marT="50800" marB="50800"/>
                </a:tc>
                <a:tc>
                  <a:txBody>
                    <a:bodyPr/>
                    <a:lstStyle/>
                    <a:p>
                      <a:pPr algn="l"/>
                      <a:r>
                        <a:rPr lang="en-IN" sz="1600" b="1">
                          <a:solidFill>
                            <a:srgbClr val="000000"/>
                          </a:solidFill>
                          <a:latin typeface="Times New Roman" panose="02020603050405020304" pitchFamily="18" charset="0"/>
                        </a:rPr>
                        <a:t>TITLE</a:t>
                      </a:r>
                    </a:p>
                  </a:txBody>
                  <a:tcPr marL="76200" marR="76200" marT="50800" marB="50800"/>
                </a:tc>
                <a:tc>
                  <a:txBody>
                    <a:bodyPr/>
                    <a:lstStyle/>
                    <a:p>
                      <a:pPr algn="l"/>
                      <a:r>
                        <a:rPr lang="en-IN" sz="1600" b="1">
                          <a:solidFill>
                            <a:srgbClr val="000000"/>
                          </a:solidFill>
                          <a:latin typeface="Times New Roman" panose="02020603050405020304" pitchFamily="18" charset="0"/>
                        </a:rPr>
                        <a:t>PROPOSED METHOD</a:t>
                      </a:r>
                    </a:p>
                  </a:txBody>
                  <a:tcPr marL="76200" marR="76200" marT="50800" marB="50800"/>
                </a:tc>
                <a:tc>
                  <a:txBody>
                    <a:bodyPr/>
                    <a:lstStyle/>
                    <a:p>
                      <a:pPr algn="l"/>
                      <a:r>
                        <a:rPr lang="en-IN" sz="1600" b="1">
                          <a:solidFill>
                            <a:srgbClr val="000000"/>
                          </a:solidFill>
                          <a:latin typeface="Times New Roman" panose="02020603050405020304" pitchFamily="18" charset="0"/>
                        </a:rPr>
                        <a:t>DRAWBACK</a:t>
                      </a:r>
                    </a:p>
                  </a:txBody>
                  <a:tcPr marL="76200" marR="76200" marT="50800" marB="50800"/>
                </a:tc>
                <a:extLst>
                  <a:ext uri="{0D108BD9-81ED-4DB2-BD59-A6C34878D82A}">
                    <a16:rowId xmlns:a16="http://schemas.microsoft.com/office/drawing/2014/main" val="2483447986"/>
                  </a:ext>
                </a:extLst>
              </a:tr>
              <a:tr h="254000">
                <a:tc>
                  <a:txBody>
                    <a:bodyPr/>
                    <a:lstStyle/>
                    <a:p>
                      <a:pPr algn="l"/>
                      <a:r>
                        <a:rPr lang="en-IN" sz="1500" b="1">
                          <a:solidFill>
                            <a:srgbClr val="000000"/>
                          </a:solidFill>
                          <a:latin typeface="Times New Roman" panose="02020603050405020304" pitchFamily="18" charset="0"/>
                        </a:rPr>
                        <a:t>1</a:t>
                      </a:r>
                    </a:p>
                  </a:txBody>
                  <a:tcPr marL="76200" marR="76200" marT="50800" marB="50800"/>
                </a:tc>
                <a:tc>
                  <a:txBody>
                    <a:bodyPr/>
                    <a:lstStyle/>
                    <a:p>
                      <a:pPr algn="l"/>
                      <a:r>
                        <a:rPr lang="en-IN" sz="1500" b="1">
                          <a:solidFill>
                            <a:srgbClr val="000000"/>
                          </a:solidFill>
                          <a:latin typeface="Times New Roman" panose="02020603050405020304" pitchFamily="18" charset="0"/>
                        </a:rPr>
                        <a:t>A. Tzounis, N. Katsoulas, T. Bartzanas and C. Kittas</a:t>
                      </a:r>
                    </a:p>
                  </a:txBody>
                  <a:tcPr marL="76200" marR="76200" marT="50800" marB="50800"/>
                </a:tc>
                <a:tc>
                  <a:txBody>
                    <a:bodyPr/>
                    <a:lstStyle/>
                    <a:p>
                      <a:pPr algn="l"/>
                      <a:r>
                        <a:rPr lang="en-US" sz="1500" b="1">
                          <a:solidFill>
                            <a:srgbClr val="000000"/>
                          </a:solidFill>
                          <a:latin typeface="Times New Roman" panose="02020603050405020304" pitchFamily="18" charset="0"/>
                        </a:rPr>
                        <a:t>Internet of Things in agriculture, recent advances and future challenges</a:t>
                      </a:r>
                      <a:endParaRPr lang="en-IN" sz="1500" b="1">
                        <a:solidFill>
                          <a:srgbClr val="000000"/>
                        </a:solidFill>
                        <a:latin typeface="Times New Roman" panose="02020603050405020304" pitchFamily="18" charset="0"/>
                      </a:endParaRPr>
                    </a:p>
                  </a:txBody>
                  <a:tcPr marL="76200" marR="76200" marT="50800" marB="50800"/>
                </a:tc>
                <a:tc rowSpan="2">
                  <a:txBody>
                    <a:bodyPr/>
                    <a:lstStyle/>
                    <a:p>
                      <a:pPr algn="l"/>
                      <a:r>
                        <a:rPr lang="en-US" sz="1500" b="1">
                          <a:solidFill>
                            <a:srgbClr val="000000"/>
                          </a:solidFill>
                          <a:latin typeface="Times New Roman" panose="02020603050405020304" pitchFamily="18" charset="0"/>
                        </a:rPr>
                        <a:t>IoT-Based Smart Agriculture</a:t>
                      </a:r>
                      <a:r>
                        <a:rPr lang="en-US" sz="1500" b="0">
                          <a:solidFill>
                            <a:srgbClr val="000000"/>
                          </a:solidFill>
                          <a:latin typeface="Times New Roman" panose="02020603050405020304" pitchFamily="18" charset="0"/>
                        </a:rPr>
                        <a:t>: Wireless sensor networks and IoT platforms are widely used to monitor soil, climate and crop parameters with remote data access.</a:t>
                      </a:r>
                      <a:endParaRPr lang="en-IN" sz="1500" b="0">
                        <a:solidFill>
                          <a:srgbClr val="000000"/>
                        </a:solidFill>
                        <a:latin typeface="Times New Roman" panose="02020603050405020304" pitchFamily="18" charset="0"/>
                      </a:endParaRPr>
                    </a:p>
                  </a:txBody>
                  <a:tcPr marL="76200" marR="76200" marT="50800" marB="50800"/>
                </a:tc>
                <a:tc rowSpan="2">
                  <a:txBody>
                    <a:bodyPr/>
                    <a:lstStyle/>
                    <a:p>
                      <a:pPr algn="l"/>
                      <a:r>
                        <a:rPr lang="en-US" sz="1500" b="0">
                          <a:solidFill>
                            <a:srgbClr val="000000"/>
                          </a:solidFill>
                          <a:latin typeface="Times New Roman" panose="02020603050405020304" pitchFamily="18" charset="0"/>
                        </a:rPr>
                        <a:t>Most deployments use fixed sensor nodes covering limited points and provide no visual crop information.</a:t>
                      </a:r>
                      <a:endParaRPr lang="en-IN" sz="1500" b="0">
                        <a:solidFill>
                          <a:srgbClr val="000000"/>
                        </a:solidFill>
                        <a:latin typeface="Times New Roman" panose="02020603050405020304" pitchFamily="18" charset="0"/>
                      </a:endParaRPr>
                    </a:p>
                  </a:txBody>
                  <a:tcPr marL="76200" marR="76200" marT="50800" marB="50800"/>
                </a:tc>
                <a:extLst>
                  <a:ext uri="{0D108BD9-81ED-4DB2-BD59-A6C34878D82A}">
                    <a16:rowId xmlns:a16="http://schemas.microsoft.com/office/drawing/2014/main" val="3488375257"/>
                  </a:ext>
                </a:extLst>
              </a:tr>
              <a:tr h="254000">
                <a:tc>
                  <a:txBody>
                    <a:bodyPr/>
                    <a:lstStyle/>
                    <a:p>
                      <a:pPr algn="l"/>
                      <a:r>
                        <a:rPr lang="en-IN" sz="1500" b="1">
                          <a:solidFill>
                            <a:srgbClr val="000000"/>
                          </a:solidFill>
                          <a:latin typeface="Times New Roman" panose="02020603050405020304" pitchFamily="18" charset="0"/>
                        </a:rPr>
                        <a:t>2</a:t>
                      </a:r>
                    </a:p>
                  </a:txBody>
                  <a:tcPr marL="76200" marR="76200" marT="50800" marB="50800"/>
                </a:tc>
                <a:tc>
                  <a:txBody>
                    <a:bodyPr/>
                    <a:lstStyle/>
                    <a:p>
                      <a:pPr algn="l"/>
                      <a:r>
                        <a:rPr lang="en-US" sz="1500" b="1">
                          <a:solidFill>
                            <a:srgbClr val="000000"/>
                          </a:solidFill>
                          <a:latin typeface="Times New Roman" panose="02020603050405020304" pitchFamily="18" charset="0"/>
                        </a:rPr>
                        <a:t>O. Elijah, T. A. Rahman, I. Orikumhi, C. Y. Leow and M. N. Hindia</a:t>
                      </a:r>
                      <a:endParaRPr lang="en-IN" sz="1500" b="1">
                        <a:solidFill>
                          <a:srgbClr val="000000"/>
                        </a:solidFill>
                        <a:latin typeface="Times New Roman" panose="02020603050405020304" pitchFamily="18" charset="0"/>
                      </a:endParaRPr>
                    </a:p>
                  </a:txBody>
                  <a:tcPr marL="76200" marR="76200" marT="50800" marB="50800"/>
                </a:tc>
                <a:tc>
                  <a:txBody>
                    <a:bodyPr/>
                    <a:lstStyle/>
                    <a:p>
                      <a:pPr algn="l"/>
                      <a:r>
                        <a:rPr lang="en-US" sz="1500" b="1">
                          <a:solidFill>
                            <a:srgbClr val="000000"/>
                          </a:solidFill>
                          <a:latin typeface="Times New Roman" panose="02020603050405020304" pitchFamily="18" charset="0"/>
                        </a:rPr>
                        <a:t>An overview of Internet of Things (IoT) and data analytics in agriculture: Benefits and challenges</a:t>
                      </a:r>
                      <a:endParaRPr lang="en-IN" sz="1500" b="1">
                        <a:solidFill>
                          <a:srgbClr val="000000"/>
                        </a:solidFill>
                        <a:latin typeface="Times New Roman" panose="02020603050405020304" pitchFamily="18" charset="0"/>
                      </a:endParaRPr>
                    </a:p>
                  </a:txBody>
                  <a:tcPr marL="76200" marR="76200" marT="50800" marB="50800"/>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2658275445"/>
                  </a:ext>
                </a:extLst>
              </a:tr>
              <a:tr h="254000">
                <a:tc>
                  <a:txBody>
                    <a:bodyPr/>
                    <a:lstStyle/>
                    <a:p>
                      <a:pPr algn="l"/>
                      <a:r>
                        <a:rPr lang="en-IN" sz="1500" b="1">
                          <a:solidFill>
                            <a:srgbClr val="000000"/>
                          </a:solidFill>
                          <a:latin typeface="Times New Roman" panose="02020603050405020304" pitchFamily="18" charset="0"/>
                        </a:rPr>
                        <a:t>3</a:t>
                      </a:r>
                    </a:p>
                  </a:txBody>
                  <a:tcPr marL="76200" marR="76200" marT="50800" marB="50800"/>
                </a:tc>
                <a:tc>
                  <a:txBody>
                    <a:bodyPr/>
                    <a:lstStyle/>
                    <a:p>
                      <a:pPr algn="l"/>
                      <a:r>
                        <a:rPr lang="en-US" sz="1500" b="1">
                          <a:solidFill>
                            <a:srgbClr val="000000"/>
                          </a:solidFill>
                          <a:latin typeface="Times New Roman" panose="02020603050405020304" pitchFamily="18" charset="0"/>
                        </a:rPr>
                        <a:t>S. P. Mohanty, D. P. Hughes and M. Salathé</a:t>
                      </a:r>
                      <a:endParaRPr lang="en-IN" sz="1500" b="1">
                        <a:solidFill>
                          <a:srgbClr val="000000"/>
                        </a:solidFill>
                        <a:latin typeface="Times New Roman" panose="02020603050405020304" pitchFamily="18" charset="0"/>
                      </a:endParaRPr>
                    </a:p>
                  </a:txBody>
                  <a:tcPr marL="76200" marR="76200" marT="50800" marB="50800"/>
                </a:tc>
                <a:tc>
                  <a:txBody>
                    <a:bodyPr/>
                    <a:lstStyle/>
                    <a:p>
                      <a:pPr algn="l"/>
                      <a:r>
                        <a:rPr lang="en-US" sz="1500" b="1">
                          <a:solidFill>
                            <a:srgbClr val="000000"/>
                          </a:solidFill>
                          <a:latin typeface="Times New Roman" panose="02020603050405020304" pitchFamily="18" charset="0"/>
                        </a:rPr>
                        <a:t>Using deep learning for image-based plant disease detection</a:t>
                      </a:r>
                      <a:endParaRPr lang="en-IN" sz="1500" b="1">
                        <a:solidFill>
                          <a:srgbClr val="000000"/>
                        </a:solidFill>
                        <a:latin typeface="Times New Roman" panose="02020603050405020304" pitchFamily="18" charset="0"/>
                      </a:endParaRPr>
                    </a:p>
                  </a:txBody>
                  <a:tcPr marL="76200" marR="76200" marT="50800" marB="50800"/>
                </a:tc>
                <a:tc rowSpan="2">
                  <a:txBody>
                    <a:bodyPr/>
                    <a:lstStyle/>
                    <a:p>
                      <a:pPr algn="l"/>
                      <a:r>
                        <a:rPr lang="en-US" sz="1500" b="1">
                          <a:solidFill>
                            <a:srgbClr val="000000"/>
                          </a:solidFill>
                          <a:latin typeface="Times New Roman" panose="02020603050405020304" pitchFamily="18" charset="0"/>
                        </a:rPr>
                        <a:t>AI / Computer Vision for Crop Monitoring</a:t>
                      </a:r>
                      <a:r>
                        <a:rPr lang="en-US" sz="1500" b="0">
                          <a:solidFill>
                            <a:srgbClr val="000000"/>
                          </a:solidFill>
                          <a:latin typeface="Times New Roman" panose="02020603050405020304" pitchFamily="18" charset="0"/>
                        </a:rPr>
                        <a:t>: Deep convolutional neural networks have shown strong results in identifying plant diseases from leaf images.</a:t>
                      </a:r>
                      <a:endParaRPr lang="en-IN" sz="1500" b="0">
                        <a:solidFill>
                          <a:srgbClr val="000000"/>
                        </a:solidFill>
                        <a:latin typeface="Times New Roman" panose="02020603050405020304" pitchFamily="18" charset="0"/>
                      </a:endParaRPr>
                    </a:p>
                  </a:txBody>
                  <a:tcPr marL="76200" marR="76200" marT="50800" marB="50800"/>
                </a:tc>
                <a:tc rowSpan="2">
                  <a:txBody>
                    <a:bodyPr/>
                    <a:lstStyle/>
                    <a:p>
                      <a:pPr algn="l"/>
                      <a:r>
                        <a:rPr lang="en-US" sz="1500" b="0">
                          <a:solidFill>
                            <a:srgbClr val="000000"/>
                          </a:solidFill>
                          <a:latin typeface="Times New Roman" panose="02020603050405020304" pitchFamily="18" charset="0"/>
                        </a:rPr>
                        <a:t>Many models are trained on controlled datasets and are seldom linked with live field sensing.</a:t>
                      </a:r>
                      <a:endParaRPr lang="en-IN" sz="1500" b="0">
                        <a:solidFill>
                          <a:srgbClr val="000000"/>
                        </a:solidFill>
                        <a:latin typeface="Times New Roman" panose="02020603050405020304" pitchFamily="18" charset="0"/>
                      </a:endParaRPr>
                    </a:p>
                  </a:txBody>
                  <a:tcPr marL="76200" marR="76200" marT="50800" marB="50800"/>
                </a:tc>
                <a:extLst>
                  <a:ext uri="{0D108BD9-81ED-4DB2-BD59-A6C34878D82A}">
                    <a16:rowId xmlns:a16="http://schemas.microsoft.com/office/drawing/2014/main" val="2983542695"/>
                  </a:ext>
                </a:extLst>
              </a:tr>
              <a:tr h="254000">
                <a:tc>
                  <a:txBody>
                    <a:bodyPr/>
                    <a:lstStyle/>
                    <a:p>
                      <a:pPr algn="l"/>
                      <a:r>
                        <a:rPr lang="en-IN" sz="1500" b="1">
                          <a:solidFill>
                            <a:srgbClr val="000000"/>
                          </a:solidFill>
                          <a:latin typeface="Times New Roman" panose="02020603050405020304" pitchFamily="18" charset="0"/>
                        </a:rPr>
                        <a:t>4</a:t>
                      </a:r>
                    </a:p>
                  </a:txBody>
                  <a:tcPr marL="76200" marR="76200" marT="50800" marB="50800"/>
                </a:tc>
                <a:tc>
                  <a:txBody>
                    <a:bodyPr/>
                    <a:lstStyle/>
                    <a:p>
                      <a:pPr algn="l"/>
                      <a:r>
                        <a:rPr lang="en-IN" sz="1500" b="1">
                          <a:solidFill>
                            <a:srgbClr val="000000"/>
                          </a:solidFill>
                          <a:latin typeface="Times New Roman" panose="02020603050405020304" pitchFamily="18" charset="0"/>
                        </a:rPr>
                        <a:t>K. P. Ferentinos</a:t>
                      </a:r>
                    </a:p>
                  </a:txBody>
                  <a:tcPr marL="76200" marR="76200" marT="50800" marB="50800"/>
                </a:tc>
                <a:tc>
                  <a:txBody>
                    <a:bodyPr/>
                    <a:lstStyle/>
                    <a:p>
                      <a:pPr algn="l"/>
                      <a:r>
                        <a:rPr lang="en-US" sz="1500" b="1">
                          <a:solidFill>
                            <a:srgbClr val="000000"/>
                          </a:solidFill>
                          <a:latin typeface="Times New Roman" panose="02020603050405020304" pitchFamily="18" charset="0"/>
                        </a:rPr>
                        <a:t>Deep learning models for plant disease detection and diagnosis</a:t>
                      </a:r>
                      <a:endParaRPr lang="en-IN" sz="1500" b="1">
                        <a:solidFill>
                          <a:srgbClr val="000000"/>
                        </a:solidFill>
                        <a:latin typeface="Times New Roman" panose="02020603050405020304" pitchFamily="18" charset="0"/>
                      </a:endParaRPr>
                    </a:p>
                  </a:txBody>
                  <a:tcPr marL="76200" marR="76200" marT="50800" marB="50800"/>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3823431366"/>
                  </a:ext>
                </a:extLst>
              </a:tr>
            </a:tbl>
          </a:graphicData>
        </a:graphic>
      </p:graphicFrame>
    </p:spTree>
    <p:extLst>
      <p:ext uri="{BB962C8B-B14F-4D97-AF65-F5344CB8AC3E}">
        <p14:creationId xmlns:p14="http://schemas.microsoft.com/office/powerpoint/2010/main" val="1244052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C3336AE-C819-F719-EF8E-4299278CD9E7}"/>
              </a:ext>
            </a:extLst>
          </p:cNvPr>
          <p:cNvSpPr>
            <a:spLocks noGrp="1"/>
          </p:cNvSpPr>
          <p:nvPr>
            <p:ph type="title"/>
          </p:nvPr>
        </p:nvSpPr>
        <p:spPr/>
        <p:txBody>
          <a:bodyPr/>
          <a:lstStyle/>
          <a:p>
            <a:r>
              <a:rPr lang="en-IN" dirty="0"/>
              <a:t>LITERATURE SURVEY </a:t>
            </a:r>
          </a:p>
        </p:txBody>
      </p:sp>
      <p:sp>
        <p:nvSpPr>
          <p:cNvPr id="4" name="Footer Placeholder 3">
            <a:extLst>
              <a:ext uri="{FF2B5EF4-FFF2-40B4-BE49-F238E27FC236}">
                <a16:creationId xmlns:a16="http://schemas.microsoft.com/office/drawing/2014/main" id="{295492A1-0543-AF9A-E192-B79463F0A489}"/>
              </a:ext>
            </a:extLst>
          </p:cNvPr>
          <p:cNvSpPr>
            <a:spLocks noGrp="1"/>
          </p:cNvSpPr>
          <p:nvPr>
            <p:ph type="ftr" sz="quarter" idx="11"/>
          </p:nvPr>
        </p:nvSpPr>
        <p:spPr/>
        <p:txBody>
          <a:bodyPr/>
          <a:lstStyle/>
          <a:p>
            <a:r>
              <a:rPr lang="en-US"/>
              <a:t>IoT and AI-Enabled Rover for Crop Health Monitoring</a:t>
            </a:r>
            <a:endParaRPr lang="en-US" dirty="0"/>
          </a:p>
        </p:txBody>
      </p:sp>
      <p:sp>
        <p:nvSpPr>
          <p:cNvPr id="5" name="Slide Number Placeholder 4">
            <a:extLst>
              <a:ext uri="{FF2B5EF4-FFF2-40B4-BE49-F238E27FC236}">
                <a16:creationId xmlns:a16="http://schemas.microsoft.com/office/drawing/2014/main" id="{51A5E4EE-4B66-9792-749E-A3C5D1B2C960}"/>
              </a:ext>
            </a:extLst>
          </p:cNvPr>
          <p:cNvSpPr>
            <a:spLocks noGrp="1"/>
          </p:cNvSpPr>
          <p:nvPr>
            <p:ph type="sldNum" sz="quarter" idx="12"/>
          </p:nvPr>
        </p:nvSpPr>
        <p:spPr/>
        <p:txBody>
          <a:bodyPr/>
          <a:lstStyle/>
          <a:p>
            <a:fld id="{C1FF6DA9-008F-8B48-92A6-B652298478BF}" type="slidenum">
              <a:rPr lang="en-US" smtClean="0"/>
              <a:pPr/>
              <a:t>6</a:t>
            </a:fld>
            <a:endParaRPr lang="en-US" dirty="0"/>
          </a:p>
        </p:txBody>
      </p:sp>
      <p:graphicFrame>
        <p:nvGraphicFramePr>
          <p:cNvPr id="7" name="Literature survey table">
            <a:extLst>
              <a:ext uri="{FF2B5EF4-FFF2-40B4-BE49-F238E27FC236}">
                <a16:creationId xmlns:a16="http://schemas.microsoft.com/office/drawing/2014/main" id="{A6B1D614-C5BD-F388-B852-C821B11897C4}"/>
              </a:ext>
            </a:extLst>
          </p:cNvPr>
          <p:cNvGraphicFramePr>
            <a:graphicFrameLocks noGrp="1"/>
          </p:cNvGraphicFramePr>
          <p:nvPr>
            <p:extLst>
              <p:ext uri="{D42A27DB-BD31-4B8C-83A1-F6EECF244321}">
                <p14:modId xmlns:p14="http://schemas.microsoft.com/office/powerpoint/2010/main" val="238343132"/>
              </p:ext>
            </p:extLst>
          </p:nvPr>
        </p:nvGraphicFramePr>
        <p:xfrm>
          <a:off x="736600" y="1270000"/>
          <a:ext cx="10718800" cy="3429000"/>
        </p:xfrm>
        <a:graphic>
          <a:graphicData uri="http://schemas.openxmlformats.org/drawingml/2006/table">
            <a:tbl>
              <a:tblPr firstRow="1" bandRow="1">
                <a:tableStyleId>{5940675A-B579-460E-94D1-54222C63F5DA}</a:tableStyleId>
              </a:tblPr>
              <a:tblGrid>
                <a:gridCol w="939800">
                  <a:extLst>
                    <a:ext uri="{9D8B030D-6E8A-4147-A177-3AD203B41FA5}">
                      <a16:colId xmlns:a16="http://schemas.microsoft.com/office/drawing/2014/main" val="3896851615"/>
                    </a:ext>
                  </a:extLst>
                </a:gridCol>
                <a:gridCol w="2260600">
                  <a:extLst>
                    <a:ext uri="{9D8B030D-6E8A-4147-A177-3AD203B41FA5}">
                      <a16:colId xmlns:a16="http://schemas.microsoft.com/office/drawing/2014/main" val="3899325564"/>
                    </a:ext>
                  </a:extLst>
                </a:gridCol>
                <a:gridCol w="2844800">
                  <a:extLst>
                    <a:ext uri="{9D8B030D-6E8A-4147-A177-3AD203B41FA5}">
                      <a16:colId xmlns:a16="http://schemas.microsoft.com/office/drawing/2014/main" val="663543679"/>
                    </a:ext>
                  </a:extLst>
                </a:gridCol>
                <a:gridCol w="2692400">
                  <a:extLst>
                    <a:ext uri="{9D8B030D-6E8A-4147-A177-3AD203B41FA5}">
                      <a16:colId xmlns:a16="http://schemas.microsoft.com/office/drawing/2014/main" val="574511594"/>
                    </a:ext>
                  </a:extLst>
                </a:gridCol>
                <a:gridCol w="1981200">
                  <a:extLst>
                    <a:ext uri="{9D8B030D-6E8A-4147-A177-3AD203B41FA5}">
                      <a16:colId xmlns:a16="http://schemas.microsoft.com/office/drawing/2014/main" val="2957003694"/>
                    </a:ext>
                  </a:extLst>
                </a:gridCol>
              </a:tblGrid>
              <a:tr h="381000">
                <a:tc>
                  <a:txBody>
                    <a:bodyPr/>
                    <a:lstStyle/>
                    <a:p>
                      <a:pPr algn="l"/>
                      <a:r>
                        <a:rPr lang="en-IN" sz="1600" b="1">
                          <a:solidFill>
                            <a:srgbClr val="000000"/>
                          </a:solidFill>
                          <a:latin typeface="Times New Roman" panose="02020603050405020304" pitchFamily="18" charset="0"/>
                        </a:rPr>
                        <a:t>SL.NO</a:t>
                      </a:r>
                    </a:p>
                  </a:txBody>
                  <a:tcPr marL="76200" marR="76200" marT="50800" marB="50800"/>
                </a:tc>
                <a:tc>
                  <a:txBody>
                    <a:bodyPr/>
                    <a:lstStyle/>
                    <a:p>
                      <a:pPr algn="l"/>
                      <a:r>
                        <a:rPr lang="en-IN" sz="1600" b="1">
                          <a:solidFill>
                            <a:srgbClr val="000000"/>
                          </a:solidFill>
                          <a:latin typeface="Times New Roman" panose="02020603050405020304" pitchFamily="18" charset="0"/>
                        </a:rPr>
                        <a:t>AUTHOR</a:t>
                      </a:r>
                    </a:p>
                  </a:txBody>
                  <a:tcPr marL="76200" marR="76200" marT="50800" marB="50800"/>
                </a:tc>
                <a:tc>
                  <a:txBody>
                    <a:bodyPr/>
                    <a:lstStyle/>
                    <a:p>
                      <a:pPr algn="l"/>
                      <a:r>
                        <a:rPr lang="en-IN" sz="1600" b="1">
                          <a:solidFill>
                            <a:srgbClr val="000000"/>
                          </a:solidFill>
                          <a:latin typeface="Times New Roman" panose="02020603050405020304" pitchFamily="18" charset="0"/>
                        </a:rPr>
                        <a:t>TITLE</a:t>
                      </a:r>
                    </a:p>
                  </a:txBody>
                  <a:tcPr marL="76200" marR="76200" marT="50800" marB="50800"/>
                </a:tc>
                <a:tc>
                  <a:txBody>
                    <a:bodyPr/>
                    <a:lstStyle/>
                    <a:p>
                      <a:pPr algn="l"/>
                      <a:r>
                        <a:rPr lang="en-IN" sz="1600" b="1">
                          <a:solidFill>
                            <a:srgbClr val="000000"/>
                          </a:solidFill>
                          <a:latin typeface="Times New Roman" panose="02020603050405020304" pitchFamily="18" charset="0"/>
                        </a:rPr>
                        <a:t>PROPOSED METHOD</a:t>
                      </a:r>
                    </a:p>
                  </a:txBody>
                  <a:tcPr marL="76200" marR="76200" marT="50800" marB="50800"/>
                </a:tc>
                <a:tc>
                  <a:txBody>
                    <a:bodyPr/>
                    <a:lstStyle/>
                    <a:p>
                      <a:pPr algn="l"/>
                      <a:r>
                        <a:rPr lang="en-IN" sz="1600" b="1">
                          <a:solidFill>
                            <a:srgbClr val="000000"/>
                          </a:solidFill>
                          <a:latin typeface="Times New Roman" panose="02020603050405020304" pitchFamily="18" charset="0"/>
                        </a:rPr>
                        <a:t>DRAWBACK</a:t>
                      </a:r>
                    </a:p>
                  </a:txBody>
                  <a:tcPr marL="76200" marR="76200" marT="50800" marB="50800"/>
                </a:tc>
                <a:extLst>
                  <a:ext uri="{0D108BD9-81ED-4DB2-BD59-A6C34878D82A}">
                    <a16:rowId xmlns:a16="http://schemas.microsoft.com/office/drawing/2014/main" val="2225104194"/>
                  </a:ext>
                </a:extLst>
              </a:tr>
              <a:tr h="254000">
                <a:tc>
                  <a:txBody>
                    <a:bodyPr/>
                    <a:lstStyle/>
                    <a:p>
                      <a:pPr algn="l"/>
                      <a:r>
                        <a:rPr lang="en-IN" sz="1500" b="1">
                          <a:solidFill>
                            <a:srgbClr val="000000"/>
                          </a:solidFill>
                          <a:latin typeface="Times New Roman" panose="02020603050405020304" pitchFamily="18" charset="0"/>
                        </a:rPr>
                        <a:t>5</a:t>
                      </a:r>
                    </a:p>
                  </a:txBody>
                  <a:tcPr marL="76200" marR="76200" marT="50800" marB="50800"/>
                </a:tc>
                <a:tc>
                  <a:txBody>
                    <a:bodyPr/>
                    <a:lstStyle/>
                    <a:p>
                      <a:pPr algn="l"/>
                      <a:r>
                        <a:rPr lang="en-US" sz="1500" b="1">
                          <a:solidFill>
                            <a:srgbClr val="000000"/>
                          </a:solidFill>
                          <a:latin typeface="Times New Roman" panose="02020603050405020304" pitchFamily="18" charset="0"/>
                        </a:rPr>
                        <a:t>M. Ayaz, M. Ammad-Uddin, Z. Sharif, A. Mansour and E.-H. M. Aggoune</a:t>
                      </a:r>
                      <a:endParaRPr lang="en-IN" sz="1500" b="1">
                        <a:solidFill>
                          <a:srgbClr val="000000"/>
                        </a:solidFill>
                        <a:latin typeface="Times New Roman" panose="02020603050405020304" pitchFamily="18" charset="0"/>
                      </a:endParaRPr>
                    </a:p>
                  </a:txBody>
                  <a:tcPr marL="76200" marR="76200" marT="50800" marB="50800"/>
                </a:tc>
                <a:tc>
                  <a:txBody>
                    <a:bodyPr/>
                    <a:lstStyle/>
                    <a:p>
                      <a:pPr algn="l"/>
                      <a:r>
                        <a:rPr lang="en-US" sz="1500" b="1">
                          <a:solidFill>
                            <a:srgbClr val="000000"/>
                          </a:solidFill>
                          <a:latin typeface="Times New Roman" panose="02020603050405020304" pitchFamily="18" charset="0"/>
                        </a:rPr>
                        <a:t>Internet-of-Things (IoT)-based smart agriculture: Toward making the fields talk</a:t>
                      </a:r>
                      <a:endParaRPr lang="en-IN" sz="1500" b="1">
                        <a:solidFill>
                          <a:srgbClr val="000000"/>
                        </a:solidFill>
                        <a:latin typeface="Times New Roman" panose="02020603050405020304" pitchFamily="18" charset="0"/>
                      </a:endParaRPr>
                    </a:p>
                  </a:txBody>
                  <a:tcPr marL="76200" marR="76200" marT="50800" marB="50800"/>
                </a:tc>
                <a:tc rowSpan="2">
                  <a:txBody>
                    <a:bodyPr/>
                    <a:lstStyle/>
                    <a:p>
                      <a:pPr algn="l"/>
                      <a:r>
                        <a:rPr lang="en-US" sz="1500" b="1">
                          <a:solidFill>
                            <a:srgbClr val="000000"/>
                          </a:solidFill>
                          <a:latin typeface="Times New Roman" panose="02020603050405020304" pitchFamily="18" charset="0"/>
                        </a:rPr>
                        <a:t>Sensor-Based Irrigation and Soil Monitoring</a:t>
                      </a:r>
                      <a:r>
                        <a:rPr lang="en-US" sz="1500" b="0">
                          <a:solidFill>
                            <a:srgbClr val="000000"/>
                          </a:solidFill>
                          <a:latin typeface="Times New Roman" panose="02020603050405020304" pitchFamily="18" charset="0"/>
                        </a:rPr>
                        <a:t>: Soil-moisture and weather sensing are used to schedule irrigation and reduce water wastage.</a:t>
                      </a:r>
                      <a:endParaRPr lang="en-IN" sz="1500" b="0">
                        <a:solidFill>
                          <a:srgbClr val="000000"/>
                        </a:solidFill>
                        <a:latin typeface="Times New Roman" panose="02020603050405020304" pitchFamily="18" charset="0"/>
                      </a:endParaRPr>
                    </a:p>
                  </a:txBody>
                  <a:tcPr marL="76200" marR="76200" marT="50800" marB="50800"/>
                </a:tc>
                <a:tc rowSpan="2">
                  <a:txBody>
                    <a:bodyPr/>
                    <a:lstStyle/>
                    <a:p>
                      <a:pPr algn="l"/>
                      <a:r>
                        <a:rPr lang="en-US" sz="1500" b="0">
                          <a:solidFill>
                            <a:srgbClr val="000000"/>
                          </a:solidFill>
                          <a:latin typeface="Times New Roman" panose="02020603050405020304" pitchFamily="18" charset="0"/>
                        </a:rPr>
                        <a:t>Decisions often depend on a single parameter without combining weather and crop condition.</a:t>
                      </a:r>
                      <a:endParaRPr lang="en-IN" sz="1500" b="0">
                        <a:solidFill>
                          <a:srgbClr val="000000"/>
                        </a:solidFill>
                        <a:latin typeface="Times New Roman" panose="02020603050405020304" pitchFamily="18" charset="0"/>
                      </a:endParaRPr>
                    </a:p>
                  </a:txBody>
                  <a:tcPr marL="76200" marR="76200" marT="50800" marB="50800"/>
                </a:tc>
                <a:extLst>
                  <a:ext uri="{0D108BD9-81ED-4DB2-BD59-A6C34878D82A}">
                    <a16:rowId xmlns:a16="http://schemas.microsoft.com/office/drawing/2014/main" val="2761410816"/>
                  </a:ext>
                </a:extLst>
              </a:tr>
              <a:tr h="254000">
                <a:tc>
                  <a:txBody>
                    <a:bodyPr/>
                    <a:lstStyle/>
                    <a:p>
                      <a:pPr algn="l"/>
                      <a:r>
                        <a:rPr lang="en-IN" sz="1500" b="1">
                          <a:solidFill>
                            <a:srgbClr val="000000"/>
                          </a:solidFill>
                          <a:latin typeface="Times New Roman" panose="02020603050405020304" pitchFamily="18" charset="0"/>
                        </a:rPr>
                        <a:t>6</a:t>
                      </a:r>
                    </a:p>
                  </a:txBody>
                  <a:tcPr marL="76200" marR="76200" marT="50800" marB="50800"/>
                </a:tc>
                <a:tc>
                  <a:txBody>
                    <a:bodyPr/>
                    <a:lstStyle/>
                    <a:p>
                      <a:pPr algn="l"/>
                      <a:r>
                        <a:rPr lang="en-US" sz="1500" b="1">
                          <a:solidFill>
                            <a:srgbClr val="000000"/>
                          </a:solidFill>
                          <a:latin typeface="Times New Roman" panose="02020603050405020304" pitchFamily="18" charset="0"/>
                        </a:rPr>
                        <a:t>K. G. Liakos, P. Busato, D. Moshou, S. Pearson and D. Bochtis</a:t>
                      </a:r>
                      <a:endParaRPr lang="en-IN" sz="1500" b="1">
                        <a:solidFill>
                          <a:srgbClr val="000000"/>
                        </a:solidFill>
                        <a:latin typeface="Times New Roman" panose="02020603050405020304" pitchFamily="18" charset="0"/>
                      </a:endParaRPr>
                    </a:p>
                  </a:txBody>
                  <a:tcPr marL="76200" marR="76200" marT="50800" marB="50800"/>
                </a:tc>
                <a:tc>
                  <a:txBody>
                    <a:bodyPr/>
                    <a:lstStyle/>
                    <a:p>
                      <a:pPr algn="l"/>
                      <a:r>
                        <a:rPr lang="en-US" sz="1500" b="1">
                          <a:solidFill>
                            <a:srgbClr val="000000"/>
                          </a:solidFill>
                          <a:latin typeface="Times New Roman" panose="02020603050405020304" pitchFamily="18" charset="0"/>
                        </a:rPr>
                        <a:t>Machine learning in agriculture: A review</a:t>
                      </a:r>
                      <a:endParaRPr lang="en-IN" sz="1500" b="1">
                        <a:solidFill>
                          <a:srgbClr val="000000"/>
                        </a:solidFill>
                        <a:latin typeface="Times New Roman" panose="02020603050405020304" pitchFamily="18" charset="0"/>
                      </a:endParaRPr>
                    </a:p>
                  </a:txBody>
                  <a:tcPr marL="76200" marR="76200" marT="50800" marB="50800"/>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1990115899"/>
                  </a:ext>
                </a:extLst>
              </a:tr>
              <a:tr h="254000">
                <a:tc>
                  <a:txBody>
                    <a:bodyPr/>
                    <a:lstStyle/>
                    <a:p>
                      <a:pPr algn="l"/>
                      <a:r>
                        <a:rPr lang="en-IN" sz="1500" b="1">
                          <a:solidFill>
                            <a:srgbClr val="000000"/>
                          </a:solidFill>
                          <a:latin typeface="Times New Roman" panose="02020603050405020304" pitchFamily="18" charset="0"/>
                        </a:rPr>
                        <a:t>7</a:t>
                      </a:r>
                    </a:p>
                  </a:txBody>
                  <a:tcPr marL="76200" marR="76200" marT="50800" marB="50800"/>
                </a:tc>
                <a:tc>
                  <a:txBody>
                    <a:bodyPr/>
                    <a:lstStyle/>
                    <a:p>
                      <a:pPr algn="l"/>
                      <a:r>
                        <a:rPr lang="en-US" sz="1500" b="1">
                          <a:solidFill>
                            <a:srgbClr val="000000"/>
                          </a:solidFill>
                          <a:latin typeface="Times New Roman" panose="02020603050405020304" pitchFamily="18" charset="0"/>
                        </a:rPr>
                        <a:t>A. Bechar and C. Vigneault</a:t>
                      </a:r>
                      <a:endParaRPr lang="en-IN" sz="1500" b="1">
                        <a:solidFill>
                          <a:srgbClr val="000000"/>
                        </a:solidFill>
                        <a:latin typeface="Times New Roman" panose="02020603050405020304" pitchFamily="18" charset="0"/>
                      </a:endParaRPr>
                    </a:p>
                  </a:txBody>
                  <a:tcPr marL="76200" marR="76200" marT="50800" marB="50800"/>
                </a:tc>
                <a:tc>
                  <a:txBody>
                    <a:bodyPr/>
                    <a:lstStyle/>
                    <a:p>
                      <a:pPr algn="l"/>
                      <a:r>
                        <a:rPr lang="en-US" sz="1500" b="1">
                          <a:solidFill>
                            <a:srgbClr val="000000"/>
                          </a:solidFill>
                          <a:latin typeface="Times New Roman" panose="02020603050405020304" pitchFamily="18" charset="0"/>
                        </a:rPr>
                        <a:t>Agricultural robots for field operations: Concepts and components</a:t>
                      </a:r>
                      <a:endParaRPr lang="en-IN" sz="1500" b="1">
                        <a:solidFill>
                          <a:srgbClr val="000000"/>
                        </a:solidFill>
                        <a:latin typeface="Times New Roman" panose="02020603050405020304" pitchFamily="18" charset="0"/>
                      </a:endParaRPr>
                    </a:p>
                  </a:txBody>
                  <a:tcPr marL="76200" marR="76200" marT="50800" marB="50800"/>
                </a:tc>
                <a:tc>
                  <a:txBody>
                    <a:bodyPr/>
                    <a:lstStyle/>
                    <a:p>
                      <a:pPr algn="l"/>
                      <a:r>
                        <a:rPr lang="en-US" sz="1500" b="1">
                          <a:solidFill>
                            <a:srgbClr val="000000"/>
                          </a:solidFill>
                          <a:latin typeface="Times New Roman" panose="02020603050405020304" pitchFamily="18" charset="0"/>
                        </a:rPr>
                        <a:t>Agricultural Robotics</a:t>
                      </a:r>
                      <a:r>
                        <a:rPr lang="en-US" sz="1500" b="0">
                          <a:solidFill>
                            <a:srgbClr val="000000"/>
                          </a:solidFill>
                          <a:latin typeface="Times New Roman" panose="02020603050405020304" pitchFamily="18" charset="0"/>
                        </a:rPr>
                        <a:t>: Field robots have been developed for inspection, spraying and harvesting.</a:t>
                      </a:r>
                      <a:endParaRPr lang="en-IN" sz="1500" b="0">
                        <a:solidFill>
                          <a:srgbClr val="000000"/>
                        </a:solidFill>
                        <a:latin typeface="Times New Roman" panose="02020603050405020304" pitchFamily="18" charset="0"/>
                      </a:endParaRPr>
                    </a:p>
                  </a:txBody>
                  <a:tcPr marL="76200" marR="76200" marT="50800" marB="50800"/>
                </a:tc>
                <a:tc>
                  <a:txBody>
                    <a:bodyPr/>
                    <a:lstStyle/>
                    <a:p>
                      <a:pPr algn="l"/>
                      <a:r>
                        <a:rPr lang="en-US" sz="1500" b="0">
                          <a:solidFill>
                            <a:srgbClr val="000000"/>
                          </a:solidFill>
                          <a:latin typeface="Times New Roman" panose="02020603050405020304" pitchFamily="18" charset="0"/>
                        </a:rPr>
                        <a:t>Many platforms are costly and target a single operation rather than integrated monitoring.</a:t>
                      </a:r>
                      <a:endParaRPr lang="en-IN" sz="1500" b="0">
                        <a:solidFill>
                          <a:srgbClr val="000000"/>
                        </a:solidFill>
                        <a:latin typeface="Times New Roman" panose="02020603050405020304" pitchFamily="18" charset="0"/>
                      </a:endParaRPr>
                    </a:p>
                  </a:txBody>
                  <a:tcPr marL="76200" marR="76200" marT="50800" marB="50800"/>
                </a:tc>
                <a:extLst>
                  <a:ext uri="{0D108BD9-81ED-4DB2-BD59-A6C34878D82A}">
                    <a16:rowId xmlns:a16="http://schemas.microsoft.com/office/drawing/2014/main" val="3337108810"/>
                  </a:ext>
                </a:extLst>
              </a:tr>
            </a:tbl>
          </a:graphicData>
        </a:graphic>
      </p:graphicFrame>
    </p:spTree>
    <p:extLst>
      <p:ext uri="{BB962C8B-B14F-4D97-AF65-F5344CB8AC3E}">
        <p14:creationId xmlns:p14="http://schemas.microsoft.com/office/powerpoint/2010/main" val="1535172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FC5650E-A3DB-442D-0FE7-55E290326FC6}"/>
              </a:ext>
            </a:extLst>
          </p:cNvPr>
          <p:cNvSpPr>
            <a:spLocks noGrp="1"/>
          </p:cNvSpPr>
          <p:nvPr>
            <p:ph type="title"/>
          </p:nvPr>
        </p:nvSpPr>
        <p:spPr/>
        <p:txBody>
          <a:bodyPr/>
          <a:lstStyle/>
          <a:p>
            <a:r>
              <a:rPr lang="en-IN"/>
              <a:t>LITERATURE SURVEY</a:t>
            </a:r>
          </a:p>
        </p:txBody>
      </p:sp>
      <p:sp>
        <p:nvSpPr>
          <p:cNvPr id="4" name="Footer Placeholder 3">
            <a:extLst>
              <a:ext uri="{FF2B5EF4-FFF2-40B4-BE49-F238E27FC236}">
                <a16:creationId xmlns:a16="http://schemas.microsoft.com/office/drawing/2014/main" id="{FDB888ED-FB27-C5D2-B217-CB2CE2ED0135}"/>
              </a:ext>
            </a:extLst>
          </p:cNvPr>
          <p:cNvSpPr>
            <a:spLocks noGrp="1"/>
          </p:cNvSpPr>
          <p:nvPr>
            <p:ph type="ftr" sz="quarter" idx="11"/>
          </p:nvPr>
        </p:nvSpPr>
        <p:spPr/>
        <p:txBody>
          <a:bodyPr/>
          <a:lstStyle/>
          <a:p>
            <a:r>
              <a:rPr lang="en-US"/>
              <a:t>IoT and AI-Enabled Rover for Crop Health Monitoring</a:t>
            </a:r>
            <a:endParaRPr lang="en-US" dirty="0"/>
          </a:p>
        </p:txBody>
      </p:sp>
      <p:sp>
        <p:nvSpPr>
          <p:cNvPr id="5" name="Slide Number Placeholder 4">
            <a:extLst>
              <a:ext uri="{FF2B5EF4-FFF2-40B4-BE49-F238E27FC236}">
                <a16:creationId xmlns:a16="http://schemas.microsoft.com/office/drawing/2014/main" id="{3DEC3E4D-3920-A76B-DA9F-311B97CE2B0F}"/>
              </a:ext>
            </a:extLst>
          </p:cNvPr>
          <p:cNvSpPr>
            <a:spLocks noGrp="1"/>
          </p:cNvSpPr>
          <p:nvPr>
            <p:ph type="sldNum" sz="quarter" idx="12"/>
          </p:nvPr>
        </p:nvSpPr>
        <p:spPr/>
        <p:txBody>
          <a:bodyPr/>
          <a:lstStyle/>
          <a:p>
            <a:fld id="{C1FF6DA9-008F-8B48-92A6-B652298478BF}" type="slidenum">
              <a:rPr lang="en-US" smtClean="0"/>
              <a:pPr/>
              <a:t>7</a:t>
            </a:fld>
            <a:endParaRPr lang="en-US" dirty="0"/>
          </a:p>
        </p:txBody>
      </p:sp>
      <p:graphicFrame>
        <p:nvGraphicFramePr>
          <p:cNvPr id="6" name="Literature survey table">
            <a:extLst>
              <a:ext uri="{FF2B5EF4-FFF2-40B4-BE49-F238E27FC236}">
                <a16:creationId xmlns:a16="http://schemas.microsoft.com/office/drawing/2014/main" id="{4CF35233-CFD9-E2C8-BD3A-3CF85E824CD4}"/>
              </a:ext>
            </a:extLst>
          </p:cNvPr>
          <p:cNvGraphicFramePr>
            <a:graphicFrameLocks noGrp="1"/>
          </p:cNvGraphicFramePr>
          <p:nvPr>
            <p:extLst>
              <p:ext uri="{D42A27DB-BD31-4B8C-83A1-F6EECF244321}">
                <p14:modId xmlns:p14="http://schemas.microsoft.com/office/powerpoint/2010/main" val="21025614"/>
              </p:ext>
            </p:extLst>
          </p:nvPr>
        </p:nvGraphicFramePr>
        <p:xfrm>
          <a:off x="736600" y="1270000"/>
          <a:ext cx="10718800" cy="3098800"/>
        </p:xfrm>
        <a:graphic>
          <a:graphicData uri="http://schemas.openxmlformats.org/drawingml/2006/table">
            <a:tbl>
              <a:tblPr firstRow="1" bandRow="1">
                <a:tableStyleId>{5940675A-B579-460E-94D1-54222C63F5DA}</a:tableStyleId>
              </a:tblPr>
              <a:tblGrid>
                <a:gridCol w="939800">
                  <a:extLst>
                    <a:ext uri="{9D8B030D-6E8A-4147-A177-3AD203B41FA5}">
                      <a16:colId xmlns:a16="http://schemas.microsoft.com/office/drawing/2014/main" val="866307065"/>
                    </a:ext>
                  </a:extLst>
                </a:gridCol>
                <a:gridCol w="2260600">
                  <a:extLst>
                    <a:ext uri="{9D8B030D-6E8A-4147-A177-3AD203B41FA5}">
                      <a16:colId xmlns:a16="http://schemas.microsoft.com/office/drawing/2014/main" val="927267052"/>
                    </a:ext>
                  </a:extLst>
                </a:gridCol>
                <a:gridCol w="2844800">
                  <a:extLst>
                    <a:ext uri="{9D8B030D-6E8A-4147-A177-3AD203B41FA5}">
                      <a16:colId xmlns:a16="http://schemas.microsoft.com/office/drawing/2014/main" val="3727502789"/>
                    </a:ext>
                  </a:extLst>
                </a:gridCol>
                <a:gridCol w="2692400">
                  <a:extLst>
                    <a:ext uri="{9D8B030D-6E8A-4147-A177-3AD203B41FA5}">
                      <a16:colId xmlns:a16="http://schemas.microsoft.com/office/drawing/2014/main" val="3896862991"/>
                    </a:ext>
                  </a:extLst>
                </a:gridCol>
                <a:gridCol w="1981200">
                  <a:extLst>
                    <a:ext uri="{9D8B030D-6E8A-4147-A177-3AD203B41FA5}">
                      <a16:colId xmlns:a16="http://schemas.microsoft.com/office/drawing/2014/main" val="2883950623"/>
                    </a:ext>
                  </a:extLst>
                </a:gridCol>
              </a:tblGrid>
              <a:tr h="381000">
                <a:tc>
                  <a:txBody>
                    <a:bodyPr/>
                    <a:lstStyle/>
                    <a:p>
                      <a:pPr algn="l"/>
                      <a:r>
                        <a:rPr lang="en-IN" sz="1600" b="1">
                          <a:solidFill>
                            <a:srgbClr val="000000"/>
                          </a:solidFill>
                          <a:latin typeface="Times New Roman" panose="02020603050405020304" pitchFamily="18" charset="0"/>
                        </a:rPr>
                        <a:t>SL.NO</a:t>
                      </a:r>
                    </a:p>
                  </a:txBody>
                  <a:tcPr marL="76200" marR="76200" marT="50800" marB="50800"/>
                </a:tc>
                <a:tc>
                  <a:txBody>
                    <a:bodyPr/>
                    <a:lstStyle/>
                    <a:p>
                      <a:pPr algn="l"/>
                      <a:r>
                        <a:rPr lang="en-IN" sz="1600" b="1">
                          <a:solidFill>
                            <a:srgbClr val="000000"/>
                          </a:solidFill>
                          <a:latin typeface="Times New Roman" panose="02020603050405020304" pitchFamily="18" charset="0"/>
                        </a:rPr>
                        <a:t>AUTHOR</a:t>
                      </a:r>
                    </a:p>
                  </a:txBody>
                  <a:tcPr marL="76200" marR="76200" marT="50800" marB="50800"/>
                </a:tc>
                <a:tc>
                  <a:txBody>
                    <a:bodyPr/>
                    <a:lstStyle/>
                    <a:p>
                      <a:pPr algn="l"/>
                      <a:r>
                        <a:rPr lang="en-IN" sz="1600" b="1">
                          <a:solidFill>
                            <a:srgbClr val="000000"/>
                          </a:solidFill>
                          <a:latin typeface="Times New Roman" panose="02020603050405020304" pitchFamily="18" charset="0"/>
                        </a:rPr>
                        <a:t>TITLE</a:t>
                      </a:r>
                    </a:p>
                  </a:txBody>
                  <a:tcPr marL="76200" marR="76200" marT="50800" marB="50800"/>
                </a:tc>
                <a:tc>
                  <a:txBody>
                    <a:bodyPr/>
                    <a:lstStyle/>
                    <a:p>
                      <a:pPr algn="l"/>
                      <a:r>
                        <a:rPr lang="en-IN" sz="1600" b="1">
                          <a:solidFill>
                            <a:srgbClr val="000000"/>
                          </a:solidFill>
                          <a:latin typeface="Times New Roman" panose="02020603050405020304" pitchFamily="18" charset="0"/>
                        </a:rPr>
                        <a:t>PROPOSED METHOD</a:t>
                      </a:r>
                    </a:p>
                  </a:txBody>
                  <a:tcPr marL="76200" marR="76200" marT="50800" marB="50800"/>
                </a:tc>
                <a:tc>
                  <a:txBody>
                    <a:bodyPr/>
                    <a:lstStyle/>
                    <a:p>
                      <a:pPr algn="l"/>
                      <a:r>
                        <a:rPr lang="en-IN" sz="1600" b="1">
                          <a:solidFill>
                            <a:srgbClr val="000000"/>
                          </a:solidFill>
                          <a:latin typeface="Times New Roman" panose="02020603050405020304" pitchFamily="18" charset="0"/>
                        </a:rPr>
                        <a:t>DRAWBACK</a:t>
                      </a:r>
                    </a:p>
                  </a:txBody>
                  <a:tcPr marL="76200" marR="76200" marT="50800" marB="50800"/>
                </a:tc>
                <a:extLst>
                  <a:ext uri="{0D108BD9-81ED-4DB2-BD59-A6C34878D82A}">
                    <a16:rowId xmlns:a16="http://schemas.microsoft.com/office/drawing/2014/main" val="3506628342"/>
                  </a:ext>
                </a:extLst>
              </a:tr>
              <a:tr h="254000">
                <a:tc>
                  <a:txBody>
                    <a:bodyPr/>
                    <a:lstStyle/>
                    <a:p>
                      <a:pPr algn="l"/>
                      <a:r>
                        <a:rPr lang="en-IN" sz="1500" b="1">
                          <a:solidFill>
                            <a:srgbClr val="000000"/>
                          </a:solidFill>
                          <a:latin typeface="Times New Roman" panose="02020603050405020304" pitchFamily="18" charset="0"/>
                        </a:rPr>
                        <a:t>8</a:t>
                      </a:r>
                    </a:p>
                  </a:txBody>
                  <a:tcPr marL="76200" marR="76200" marT="50800" marB="50800"/>
                </a:tc>
                <a:tc>
                  <a:txBody>
                    <a:bodyPr/>
                    <a:lstStyle/>
                    <a:p>
                      <a:pPr algn="l"/>
                      <a:r>
                        <a:rPr lang="en-IN" sz="1500" b="1">
                          <a:solidFill>
                            <a:srgbClr val="000000"/>
                          </a:solidFill>
                          <a:latin typeface="Times New Roman" panose="02020603050405020304" pitchFamily="18" charset="0"/>
                        </a:rPr>
                        <a:t>W. Shi, J. Cao, Q. Zhang, Y. Li and L. Xu</a:t>
                      </a:r>
                    </a:p>
                  </a:txBody>
                  <a:tcPr marL="76200" marR="76200" marT="50800" marB="50800"/>
                </a:tc>
                <a:tc>
                  <a:txBody>
                    <a:bodyPr/>
                    <a:lstStyle/>
                    <a:p>
                      <a:pPr algn="l"/>
                      <a:r>
                        <a:rPr lang="en-US" sz="1500" b="1">
                          <a:solidFill>
                            <a:srgbClr val="000000"/>
                          </a:solidFill>
                          <a:latin typeface="Times New Roman" panose="02020603050405020304" pitchFamily="18" charset="0"/>
                        </a:rPr>
                        <a:t>Edge computing: Vision and challenges</a:t>
                      </a:r>
                      <a:endParaRPr lang="en-IN" sz="1500" b="1">
                        <a:solidFill>
                          <a:srgbClr val="000000"/>
                        </a:solidFill>
                        <a:latin typeface="Times New Roman" panose="02020603050405020304" pitchFamily="18" charset="0"/>
                      </a:endParaRPr>
                    </a:p>
                  </a:txBody>
                  <a:tcPr marL="76200" marR="76200" marT="50800" marB="50800"/>
                </a:tc>
                <a:tc>
                  <a:txBody>
                    <a:bodyPr/>
                    <a:lstStyle/>
                    <a:p>
                      <a:pPr algn="l"/>
                      <a:r>
                        <a:rPr lang="en-US" sz="1500" b="1">
                          <a:solidFill>
                            <a:srgbClr val="000000"/>
                          </a:solidFill>
                          <a:latin typeface="Times New Roman" panose="02020603050405020304" pitchFamily="18" charset="0"/>
                        </a:rPr>
                        <a:t>Edge / Embedded Intelligence</a:t>
                      </a:r>
                      <a:r>
                        <a:rPr lang="en-US" sz="1500" b="0">
                          <a:solidFill>
                            <a:srgbClr val="000000"/>
                          </a:solidFill>
                          <a:latin typeface="Times New Roman" panose="02020603050405020304" pitchFamily="18" charset="0"/>
                        </a:rPr>
                        <a:t>: Edge computing processes data close to its source to reduce latency and bandwidth.</a:t>
                      </a:r>
                      <a:endParaRPr lang="en-IN" sz="1500" b="0">
                        <a:solidFill>
                          <a:srgbClr val="000000"/>
                        </a:solidFill>
                        <a:latin typeface="Times New Roman" panose="02020603050405020304" pitchFamily="18" charset="0"/>
                      </a:endParaRPr>
                    </a:p>
                  </a:txBody>
                  <a:tcPr marL="76200" marR="76200" marT="50800" marB="50800"/>
                </a:tc>
                <a:tc>
                  <a:txBody>
                    <a:bodyPr/>
                    <a:lstStyle/>
                    <a:p>
                      <a:pPr algn="l"/>
                      <a:r>
                        <a:rPr lang="en-US" sz="1500" b="0">
                          <a:solidFill>
                            <a:srgbClr val="000000"/>
                          </a:solidFill>
                          <a:latin typeface="Times New Roman" panose="02020603050405020304" pitchFamily="18" charset="0"/>
                        </a:rPr>
                        <a:t>Low-power microcontrollers limit on-device analysis, requiring a balanced edge–server design.</a:t>
                      </a:r>
                      <a:endParaRPr lang="en-IN" sz="1500" b="0">
                        <a:solidFill>
                          <a:srgbClr val="000000"/>
                        </a:solidFill>
                        <a:latin typeface="Times New Roman" panose="02020603050405020304" pitchFamily="18" charset="0"/>
                      </a:endParaRPr>
                    </a:p>
                  </a:txBody>
                  <a:tcPr marL="76200" marR="76200" marT="50800" marB="50800"/>
                </a:tc>
                <a:extLst>
                  <a:ext uri="{0D108BD9-81ED-4DB2-BD59-A6C34878D82A}">
                    <a16:rowId xmlns:a16="http://schemas.microsoft.com/office/drawing/2014/main" val="2788624629"/>
                  </a:ext>
                </a:extLst>
              </a:tr>
              <a:tr h="254000">
                <a:tc>
                  <a:txBody>
                    <a:bodyPr/>
                    <a:lstStyle/>
                    <a:p>
                      <a:pPr algn="l"/>
                      <a:r>
                        <a:rPr lang="en-IN" sz="1500" b="1">
                          <a:solidFill>
                            <a:srgbClr val="000000"/>
                          </a:solidFill>
                          <a:latin typeface="Times New Roman" panose="02020603050405020304" pitchFamily="18" charset="0"/>
                        </a:rPr>
                        <a:t>9</a:t>
                      </a:r>
                    </a:p>
                  </a:txBody>
                  <a:tcPr marL="76200" marR="76200" marT="50800" marB="50800"/>
                </a:tc>
                <a:tc>
                  <a:txBody>
                    <a:bodyPr/>
                    <a:lstStyle/>
                    <a:p>
                      <a:pPr algn="l"/>
                      <a:r>
                        <a:rPr lang="nl-NL" sz="1500" b="1">
                          <a:solidFill>
                            <a:srgbClr val="000000"/>
                          </a:solidFill>
                          <a:latin typeface="Times New Roman" panose="02020603050405020304" pitchFamily="18" charset="0"/>
                        </a:rPr>
                        <a:t>S. Wolfert, L. Ge, C. Verdouw and M.-J. Bogaardt</a:t>
                      </a:r>
                      <a:endParaRPr lang="en-IN" sz="1500" b="1">
                        <a:solidFill>
                          <a:srgbClr val="000000"/>
                        </a:solidFill>
                        <a:latin typeface="Times New Roman" panose="02020603050405020304" pitchFamily="18" charset="0"/>
                      </a:endParaRPr>
                    </a:p>
                  </a:txBody>
                  <a:tcPr marL="76200" marR="76200" marT="50800" marB="50800"/>
                </a:tc>
                <a:tc>
                  <a:txBody>
                    <a:bodyPr/>
                    <a:lstStyle/>
                    <a:p>
                      <a:pPr algn="l"/>
                      <a:r>
                        <a:rPr lang="en-US" sz="1500" b="1">
                          <a:solidFill>
                            <a:srgbClr val="000000"/>
                          </a:solidFill>
                          <a:latin typeface="Times New Roman" panose="02020603050405020304" pitchFamily="18" charset="0"/>
                        </a:rPr>
                        <a:t>Big data in smart farming – A review</a:t>
                      </a:r>
                      <a:endParaRPr lang="en-IN" sz="1500" b="1">
                        <a:solidFill>
                          <a:srgbClr val="000000"/>
                        </a:solidFill>
                        <a:latin typeface="Times New Roman" panose="02020603050405020304" pitchFamily="18" charset="0"/>
                      </a:endParaRPr>
                    </a:p>
                  </a:txBody>
                  <a:tcPr marL="76200" marR="76200" marT="50800" marB="50800"/>
                </a:tc>
                <a:tc rowSpan="2">
                  <a:txBody>
                    <a:bodyPr/>
                    <a:lstStyle/>
                    <a:p>
                      <a:pPr algn="l"/>
                      <a:r>
                        <a:rPr lang="en-US" sz="1500" b="1">
                          <a:solidFill>
                            <a:srgbClr val="000000"/>
                          </a:solidFill>
                          <a:latin typeface="Times New Roman" panose="02020603050405020304" pitchFamily="18" charset="0"/>
                        </a:rPr>
                        <a:t>Environmental Monitoring and Data-Driven Farming</a:t>
                      </a:r>
                      <a:r>
                        <a:rPr lang="en-US" sz="1500" b="0">
                          <a:solidFill>
                            <a:srgbClr val="000000"/>
                          </a:solidFill>
                          <a:latin typeface="Times New Roman" panose="02020603050405020304" pitchFamily="18" charset="0"/>
                        </a:rPr>
                        <a:t>: Big-data and deep-learning approaches combine weather, satellite and field data for farm decision support.</a:t>
                      </a:r>
                      <a:endParaRPr lang="en-IN" sz="1500" b="0">
                        <a:solidFill>
                          <a:srgbClr val="000000"/>
                        </a:solidFill>
                        <a:latin typeface="Times New Roman" panose="02020603050405020304" pitchFamily="18" charset="0"/>
                      </a:endParaRPr>
                    </a:p>
                  </a:txBody>
                  <a:tcPr marL="76200" marR="76200" marT="50800" marB="50800"/>
                </a:tc>
                <a:tc rowSpan="2">
                  <a:txBody>
                    <a:bodyPr/>
                    <a:lstStyle/>
                    <a:p>
                      <a:pPr algn="l"/>
                      <a:r>
                        <a:rPr lang="en-US" sz="1500" b="0">
                          <a:solidFill>
                            <a:srgbClr val="000000"/>
                          </a:solidFill>
                          <a:latin typeface="Times New Roman" panose="02020603050405020304" pitchFamily="18" charset="0"/>
                        </a:rPr>
                        <a:t>Such data are rarely combined with ground-level rover observations in low-cost systems.</a:t>
                      </a:r>
                      <a:endParaRPr lang="en-IN" sz="1500" b="0">
                        <a:solidFill>
                          <a:srgbClr val="000000"/>
                        </a:solidFill>
                        <a:latin typeface="Times New Roman" panose="02020603050405020304" pitchFamily="18" charset="0"/>
                      </a:endParaRPr>
                    </a:p>
                  </a:txBody>
                  <a:tcPr marL="76200" marR="76200" marT="50800" marB="50800"/>
                </a:tc>
                <a:extLst>
                  <a:ext uri="{0D108BD9-81ED-4DB2-BD59-A6C34878D82A}">
                    <a16:rowId xmlns:a16="http://schemas.microsoft.com/office/drawing/2014/main" val="3818625156"/>
                  </a:ext>
                </a:extLst>
              </a:tr>
              <a:tr h="254000">
                <a:tc>
                  <a:txBody>
                    <a:bodyPr/>
                    <a:lstStyle/>
                    <a:p>
                      <a:pPr algn="l"/>
                      <a:r>
                        <a:rPr lang="en-IN" sz="1500" b="1">
                          <a:solidFill>
                            <a:srgbClr val="000000"/>
                          </a:solidFill>
                          <a:latin typeface="Times New Roman" panose="02020603050405020304" pitchFamily="18" charset="0"/>
                        </a:rPr>
                        <a:t>10</a:t>
                      </a:r>
                    </a:p>
                  </a:txBody>
                  <a:tcPr marL="76200" marR="76200" marT="50800" marB="50800"/>
                </a:tc>
                <a:tc>
                  <a:txBody>
                    <a:bodyPr/>
                    <a:lstStyle/>
                    <a:p>
                      <a:pPr algn="l"/>
                      <a:r>
                        <a:rPr lang="en-US" sz="1500" b="1">
                          <a:solidFill>
                            <a:srgbClr val="000000"/>
                          </a:solidFill>
                          <a:latin typeface="Times New Roman" panose="02020603050405020304" pitchFamily="18" charset="0"/>
                        </a:rPr>
                        <a:t>A. Kamilaris and F. X. Prenafeta-Boldú</a:t>
                      </a:r>
                      <a:endParaRPr lang="en-IN" sz="1500" b="1">
                        <a:solidFill>
                          <a:srgbClr val="000000"/>
                        </a:solidFill>
                        <a:latin typeface="Times New Roman" panose="02020603050405020304" pitchFamily="18" charset="0"/>
                      </a:endParaRPr>
                    </a:p>
                  </a:txBody>
                  <a:tcPr marL="76200" marR="76200" marT="50800" marB="50800"/>
                </a:tc>
                <a:tc>
                  <a:txBody>
                    <a:bodyPr/>
                    <a:lstStyle/>
                    <a:p>
                      <a:pPr algn="l"/>
                      <a:r>
                        <a:rPr lang="en-US" sz="1500" b="1">
                          <a:solidFill>
                            <a:srgbClr val="000000"/>
                          </a:solidFill>
                          <a:latin typeface="Times New Roman" panose="02020603050405020304" pitchFamily="18" charset="0"/>
                        </a:rPr>
                        <a:t>Deep learning in agriculture: A survey</a:t>
                      </a:r>
                      <a:endParaRPr lang="en-IN" sz="1500" b="1">
                        <a:solidFill>
                          <a:srgbClr val="000000"/>
                        </a:solidFill>
                        <a:latin typeface="Times New Roman" panose="02020603050405020304" pitchFamily="18" charset="0"/>
                      </a:endParaRPr>
                    </a:p>
                  </a:txBody>
                  <a:tcPr marL="76200" marR="76200" marT="50800" marB="50800"/>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2455682766"/>
                  </a:ext>
                </a:extLst>
              </a:tr>
            </a:tbl>
          </a:graphicData>
        </a:graphic>
      </p:graphicFrame>
    </p:spTree>
    <p:extLst>
      <p:ext uri="{BB962C8B-B14F-4D97-AF65-F5344CB8AC3E}">
        <p14:creationId xmlns:p14="http://schemas.microsoft.com/office/powerpoint/2010/main" val="1035031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F2B8860-FD6C-E511-E8B1-79F4ED9C415B}"/>
              </a:ext>
            </a:extLst>
          </p:cNvPr>
          <p:cNvSpPr>
            <a:spLocks noGrp="1"/>
          </p:cNvSpPr>
          <p:nvPr>
            <p:ph type="title"/>
          </p:nvPr>
        </p:nvSpPr>
        <p:spPr/>
        <p:txBody>
          <a:bodyPr/>
          <a:lstStyle/>
          <a:p>
            <a:r>
              <a:rPr lang="en-US"/>
              <a:t>OVERVIEW OF THE PROPOSED SYSTEM</a:t>
            </a:r>
            <a:endParaRPr lang="en-IN"/>
          </a:p>
        </p:txBody>
      </p:sp>
      <p:sp>
        <p:nvSpPr>
          <p:cNvPr id="3" name="Overview text">
            <a:extLst>
              <a:ext uri="{FF2B5EF4-FFF2-40B4-BE49-F238E27FC236}">
                <a16:creationId xmlns:a16="http://schemas.microsoft.com/office/drawing/2014/main" id="{03BF2D55-FDF5-D4FE-CF8B-9CDA018F13D0}"/>
              </a:ext>
            </a:extLst>
          </p:cNvPr>
          <p:cNvSpPr>
            <a:spLocks noGrp="1"/>
          </p:cNvSpPr>
          <p:nvPr>
            <p:ph idx="1"/>
          </p:nvPr>
        </p:nvSpPr>
        <p:spPr>
          <a:xfrm>
            <a:off x="736600" y="1270000"/>
            <a:ext cx="10718800" cy="2222500"/>
          </a:xfrm>
        </p:spPr>
        <p:txBody>
          <a:bodyPr wrap="square" anchor="t">
            <a:noAutofit/>
          </a:bodyPr>
          <a:lstStyle/>
          <a:p>
            <a:pPr marL="330200" indent="-330200">
              <a:spcBef>
                <a:spcPct val="0"/>
              </a:spcBef>
              <a:spcAft>
                <a:spcPts val="800"/>
              </a:spcAft>
            </a:pPr>
            <a:r>
              <a:rPr lang="en-US" sz="2000"/>
              <a:t>An integrated IoT + AI + Robotics monitoring system built around a mobile farming rover.</a:t>
            </a:r>
            <a:endParaRPr lang="en-IN" sz="2000"/>
          </a:p>
          <a:p>
            <a:pPr marL="330200" indent="-330200">
              <a:spcBef>
                <a:spcPct val="0"/>
              </a:spcBef>
              <a:spcAft>
                <a:spcPts val="800"/>
              </a:spcAft>
            </a:pPr>
            <a:r>
              <a:rPr lang="en-IN" sz="2000"/>
              <a:t>The rover carries environmental sensors (temperature, humidity, soil moisture, rain and flame), ultrasonic sensors for obstacle detection and an ESP-CAM module.</a:t>
            </a:r>
          </a:p>
          <a:p>
            <a:pPr marL="330200" indent="-330200">
              <a:spcBef>
                <a:spcPct val="0"/>
              </a:spcBef>
              <a:spcAft>
                <a:spcPts val="800"/>
              </a:spcAft>
            </a:pPr>
            <a:r>
              <a:rPr lang="en-IN" sz="2000"/>
              <a:t>ESP32 controllers send data over Wi-Fi (WebSocket/HTTP) to a Node.js/Express backend, which stores it in MongoDB, combines it with public weather data and applies Python-based AI/computer vision analysis.</a:t>
            </a:r>
          </a:p>
        </p:txBody>
      </p:sp>
      <p:grpSp>
        <p:nvGrpSpPr>
          <p:cNvPr id="22" name="Figure 1 - data flow">
            <a:extLst>
              <a:ext uri="{FF2B5EF4-FFF2-40B4-BE49-F238E27FC236}">
                <a16:creationId xmlns:a16="http://schemas.microsoft.com/office/drawing/2014/main" id="{C029F0EA-2CB0-0AD5-1CAB-1E9BD5108616}"/>
              </a:ext>
            </a:extLst>
          </p:cNvPr>
          <p:cNvGrpSpPr/>
          <p:nvPr/>
        </p:nvGrpSpPr>
        <p:grpSpPr>
          <a:xfrm>
            <a:off x="736600" y="3708400"/>
            <a:ext cx="10718800" cy="1905000"/>
            <a:chOff x="736600" y="3708400"/>
            <a:chExt cx="10718800" cy="1905000"/>
          </a:xfrm>
        </p:grpSpPr>
        <p:sp>
          <p:nvSpPr>
            <p:cNvPr id="4" name="Fig1 - Agricultural Field">
              <a:extLst>
                <a:ext uri="{FF2B5EF4-FFF2-40B4-BE49-F238E27FC236}">
                  <a16:creationId xmlns:a16="http://schemas.microsoft.com/office/drawing/2014/main" id="{73E7AAE3-CBBC-16EB-3CE9-9D8F1C25A7D0}"/>
                </a:ext>
              </a:extLst>
            </p:cNvPr>
            <p:cNvSpPr/>
            <p:nvPr/>
          </p:nvSpPr>
          <p:spPr>
            <a:xfrm>
              <a:off x="736600" y="3708400"/>
              <a:ext cx="1879600" cy="685800"/>
            </a:xfrm>
            <a:prstGeom prst="roundRect">
              <a:avLst>
                <a:gd name="adj" fmla="val 18000"/>
              </a:avLst>
            </a:prstGeom>
            <a:solidFill>
              <a:srgbClr val="FFFFFF"/>
            </a:solidFill>
            <a:ln w="19050">
              <a:solidFill>
                <a:srgbClr val="00000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r>
                <a:rPr lang="en-IN" sz="1500">
                  <a:solidFill>
                    <a:srgbClr val="000000"/>
                  </a:solidFill>
                  <a:latin typeface="Times New Roman" panose="02020603050405020304" pitchFamily="18" charset="0"/>
                </a:rPr>
                <a:t>Agricultural Field</a:t>
              </a:r>
            </a:p>
          </p:txBody>
        </p:sp>
        <p:sp>
          <p:nvSpPr>
            <p:cNvPr id="5" name="Fig1 - Sensors &amp; ESP-CAM">
              <a:extLst>
                <a:ext uri="{FF2B5EF4-FFF2-40B4-BE49-F238E27FC236}">
                  <a16:creationId xmlns:a16="http://schemas.microsoft.com/office/drawing/2014/main" id="{32ADCF10-4CAF-E5AF-7204-C3B5B78B09E0}"/>
                </a:ext>
              </a:extLst>
            </p:cNvPr>
            <p:cNvSpPr/>
            <p:nvPr/>
          </p:nvSpPr>
          <p:spPr>
            <a:xfrm>
              <a:off x="2946400" y="3708400"/>
              <a:ext cx="1879600" cy="685800"/>
            </a:xfrm>
            <a:prstGeom prst="roundRect">
              <a:avLst>
                <a:gd name="adj" fmla="val 18000"/>
              </a:avLst>
            </a:prstGeom>
            <a:solidFill>
              <a:srgbClr val="FFFFFF"/>
            </a:solidFill>
            <a:ln w="19050">
              <a:solidFill>
                <a:srgbClr val="00000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r>
                <a:rPr lang="en-IN" sz="1500">
                  <a:solidFill>
                    <a:srgbClr val="000000"/>
                  </a:solidFill>
                  <a:latin typeface="Times New Roman" panose="02020603050405020304" pitchFamily="18" charset="0"/>
                </a:rPr>
                <a:t>Sensors &amp; ESP-CAM</a:t>
              </a:r>
            </a:p>
          </p:txBody>
        </p:sp>
        <p:sp>
          <p:nvSpPr>
            <p:cNvPr id="6" name="Fig1 - ESP32 Controller">
              <a:extLst>
                <a:ext uri="{FF2B5EF4-FFF2-40B4-BE49-F238E27FC236}">
                  <a16:creationId xmlns:a16="http://schemas.microsoft.com/office/drawing/2014/main" id="{A2F6DA20-1768-3C30-C891-91775B2DD1F5}"/>
                </a:ext>
              </a:extLst>
            </p:cNvPr>
            <p:cNvSpPr/>
            <p:nvPr/>
          </p:nvSpPr>
          <p:spPr>
            <a:xfrm>
              <a:off x="5156200" y="3708400"/>
              <a:ext cx="1879600" cy="685800"/>
            </a:xfrm>
            <a:prstGeom prst="roundRect">
              <a:avLst>
                <a:gd name="adj" fmla="val 18000"/>
              </a:avLst>
            </a:prstGeom>
            <a:solidFill>
              <a:srgbClr val="FFFFFF"/>
            </a:solidFill>
            <a:ln w="19050">
              <a:solidFill>
                <a:srgbClr val="00000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r>
                <a:rPr lang="en-IN" sz="1500">
                  <a:solidFill>
                    <a:srgbClr val="000000"/>
                  </a:solidFill>
                  <a:latin typeface="Times New Roman" panose="02020603050405020304" pitchFamily="18" charset="0"/>
                </a:rPr>
                <a:t>ESP32 Controller</a:t>
              </a:r>
            </a:p>
          </p:txBody>
        </p:sp>
        <p:sp>
          <p:nvSpPr>
            <p:cNvPr id="7" name="Fig1 - IoT Communication">
              <a:extLst>
                <a:ext uri="{FF2B5EF4-FFF2-40B4-BE49-F238E27FC236}">
                  <a16:creationId xmlns:a16="http://schemas.microsoft.com/office/drawing/2014/main" id="{32F56018-B8DD-9943-F34F-94BE72A83781}"/>
                </a:ext>
              </a:extLst>
            </p:cNvPr>
            <p:cNvSpPr/>
            <p:nvPr/>
          </p:nvSpPr>
          <p:spPr>
            <a:xfrm>
              <a:off x="7366000" y="3708400"/>
              <a:ext cx="1879600" cy="685800"/>
            </a:xfrm>
            <a:prstGeom prst="roundRect">
              <a:avLst>
                <a:gd name="adj" fmla="val 18000"/>
              </a:avLst>
            </a:prstGeom>
            <a:solidFill>
              <a:srgbClr val="FFFFFF"/>
            </a:solidFill>
            <a:ln w="19050">
              <a:solidFill>
                <a:srgbClr val="00000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r>
                <a:rPr lang="en-IN" sz="1500">
                  <a:solidFill>
                    <a:srgbClr val="000000"/>
                  </a:solidFill>
                  <a:latin typeface="Times New Roman" panose="02020603050405020304" pitchFamily="18" charset="0"/>
                </a:rPr>
                <a:t>IoT Communication</a:t>
              </a:r>
            </a:p>
          </p:txBody>
        </p:sp>
        <p:sp>
          <p:nvSpPr>
            <p:cNvPr id="8" name="Fig1 - Backend Server">
              <a:extLst>
                <a:ext uri="{FF2B5EF4-FFF2-40B4-BE49-F238E27FC236}">
                  <a16:creationId xmlns:a16="http://schemas.microsoft.com/office/drawing/2014/main" id="{F7231AFA-D941-7FBB-9583-60748CE0AE47}"/>
                </a:ext>
              </a:extLst>
            </p:cNvPr>
            <p:cNvSpPr/>
            <p:nvPr/>
          </p:nvSpPr>
          <p:spPr>
            <a:xfrm>
              <a:off x="9575800" y="3708400"/>
              <a:ext cx="1879600" cy="685800"/>
            </a:xfrm>
            <a:prstGeom prst="roundRect">
              <a:avLst>
                <a:gd name="adj" fmla="val 18000"/>
              </a:avLst>
            </a:prstGeom>
            <a:solidFill>
              <a:srgbClr val="FFFFFF"/>
            </a:solidFill>
            <a:ln w="19050">
              <a:solidFill>
                <a:srgbClr val="00000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r>
                <a:rPr lang="en-IN" sz="1500">
                  <a:solidFill>
                    <a:srgbClr val="000000"/>
                  </a:solidFill>
                  <a:latin typeface="Times New Roman" panose="02020603050405020304" pitchFamily="18" charset="0"/>
                </a:rPr>
                <a:t>Backend Server</a:t>
              </a:r>
            </a:p>
          </p:txBody>
        </p:sp>
        <p:sp>
          <p:nvSpPr>
            <p:cNvPr id="9" name="Fig1 - AI / Data Analysis">
              <a:extLst>
                <a:ext uri="{FF2B5EF4-FFF2-40B4-BE49-F238E27FC236}">
                  <a16:creationId xmlns:a16="http://schemas.microsoft.com/office/drawing/2014/main" id="{B21A30BA-C5BF-A079-4017-BA08FADC72FB}"/>
                </a:ext>
              </a:extLst>
            </p:cNvPr>
            <p:cNvSpPr/>
            <p:nvPr/>
          </p:nvSpPr>
          <p:spPr>
            <a:xfrm>
              <a:off x="9575800" y="4927600"/>
              <a:ext cx="1879600" cy="685800"/>
            </a:xfrm>
            <a:prstGeom prst="roundRect">
              <a:avLst>
                <a:gd name="adj" fmla="val 18000"/>
              </a:avLst>
            </a:prstGeom>
            <a:solidFill>
              <a:srgbClr val="FFFFFF"/>
            </a:solidFill>
            <a:ln w="19050">
              <a:solidFill>
                <a:srgbClr val="00000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r>
                <a:rPr lang="en-IN" sz="1500">
                  <a:solidFill>
                    <a:srgbClr val="000000"/>
                  </a:solidFill>
                  <a:latin typeface="Times New Roman" panose="02020603050405020304" pitchFamily="18" charset="0"/>
                </a:rPr>
                <a:t>AI / Data Analysis</a:t>
              </a:r>
            </a:p>
          </p:txBody>
        </p:sp>
        <p:sp>
          <p:nvSpPr>
            <p:cNvPr id="10" name="Fig1 - MongoDB Database">
              <a:extLst>
                <a:ext uri="{FF2B5EF4-FFF2-40B4-BE49-F238E27FC236}">
                  <a16:creationId xmlns:a16="http://schemas.microsoft.com/office/drawing/2014/main" id="{813CDD63-8C83-28A0-02DF-3F9367952D68}"/>
                </a:ext>
              </a:extLst>
            </p:cNvPr>
            <p:cNvSpPr/>
            <p:nvPr/>
          </p:nvSpPr>
          <p:spPr>
            <a:xfrm>
              <a:off x="7366000" y="4927600"/>
              <a:ext cx="1879600" cy="685800"/>
            </a:xfrm>
            <a:prstGeom prst="roundRect">
              <a:avLst>
                <a:gd name="adj" fmla="val 18000"/>
              </a:avLst>
            </a:prstGeom>
            <a:solidFill>
              <a:srgbClr val="FFFFFF"/>
            </a:solidFill>
            <a:ln w="19050">
              <a:solidFill>
                <a:srgbClr val="00000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r>
                <a:rPr lang="en-IN" sz="1500">
                  <a:solidFill>
                    <a:srgbClr val="000000"/>
                  </a:solidFill>
                  <a:latin typeface="Times New Roman" panose="02020603050405020304" pitchFamily="18" charset="0"/>
                </a:rPr>
                <a:t>MongoDB Database</a:t>
              </a:r>
            </a:p>
          </p:txBody>
        </p:sp>
        <p:sp>
          <p:nvSpPr>
            <p:cNvPr id="11" name="Fig1 - Web / Mobile Interface">
              <a:extLst>
                <a:ext uri="{FF2B5EF4-FFF2-40B4-BE49-F238E27FC236}">
                  <a16:creationId xmlns:a16="http://schemas.microsoft.com/office/drawing/2014/main" id="{A9B1FF83-BF1F-578D-7641-F0E1A2F902D2}"/>
                </a:ext>
              </a:extLst>
            </p:cNvPr>
            <p:cNvSpPr/>
            <p:nvPr/>
          </p:nvSpPr>
          <p:spPr>
            <a:xfrm>
              <a:off x="5156200" y="4927600"/>
              <a:ext cx="1879600" cy="685800"/>
            </a:xfrm>
            <a:prstGeom prst="roundRect">
              <a:avLst>
                <a:gd name="adj" fmla="val 18000"/>
              </a:avLst>
            </a:prstGeom>
            <a:solidFill>
              <a:srgbClr val="FFFFFF"/>
            </a:solidFill>
            <a:ln w="19050">
              <a:solidFill>
                <a:srgbClr val="00000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r>
                <a:rPr lang="en-IN" sz="1500">
                  <a:solidFill>
                    <a:srgbClr val="000000"/>
                  </a:solidFill>
                  <a:latin typeface="Times New Roman" panose="02020603050405020304" pitchFamily="18" charset="0"/>
                </a:rPr>
                <a:t>Web / Mobile Interface</a:t>
              </a:r>
            </a:p>
          </p:txBody>
        </p:sp>
        <p:sp>
          <p:nvSpPr>
            <p:cNvPr id="12" name="Fig1 - Alerts &amp; Insights">
              <a:extLst>
                <a:ext uri="{FF2B5EF4-FFF2-40B4-BE49-F238E27FC236}">
                  <a16:creationId xmlns:a16="http://schemas.microsoft.com/office/drawing/2014/main" id="{B3DE431E-4F05-DD46-34BB-335FD694450F}"/>
                </a:ext>
              </a:extLst>
            </p:cNvPr>
            <p:cNvSpPr/>
            <p:nvPr/>
          </p:nvSpPr>
          <p:spPr>
            <a:xfrm>
              <a:off x="2946400" y="4927600"/>
              <a:ext cx="1879600" cy="685800"/>
            </a:xfrm>
            <a:prstGeom prst="roundRect">
              <a:avLst>
                <a:gd name="adj" fmla="val 18000"/>
              </a:avLst>
            </a:prstGeom>
            <a:solidFill>
              <a:srgbClr val="FFFFFF"/>
            </a:solidFill>
            <a:ln w="19050">
              <a:solidFill>
                <a:srgbClr val="00000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r>
                <a:rPr lang="en-IN" sz="1500">
                  <a:solidFill>
                    <a:srgbClr val="000000"/>
                  </a:solidFill>
                  <a:latin typeface="Times New Roman" panose="02020603050405020304" pitchFamily="18" charset="0"/>
                </a:rPr>
                <a:t>Alerts &amp; Insights</a:t>
              </a:r>
            </a:p>
          </p:txBody>
        </p:sp>
        <p:cxnSp>
          <p:nvCxnSpPr>
            <p:cNvPr id="13" name="Fig1 - arrow 1">
              <a:extLst>
                <a:ext uri="{FF2B5EF4-FFF2-40B4-BE49-F238E27FC236}">
                  <a16:creationId xmlns:a16="http://schemas.microsoft.com/office/drawing/2014/main" id="{51F11CF5-C6F2-944B-B319-81AAF1BD393E}"/>
                </a:ext>
              </a:extLst>
            </p:cNvPr>
            <p:cNvCxnSpPr>
              <a:cxnSpLocks/>
              <a:stCxn id="4" idx="3"/>
              <a:endCxn id="5" idx="1"/>
            </p:cNvCxnSpPr>
            <p:nvPr/>
          </p:nvCxnSpPr>
          <p:spPr>
            <a:xfrm>
              <a:off x="2616200" y="4051300"/>
              <a:ext cx="330200" cy="0"/>
            </a:xfrm>
            <a:prstGeom prst="straightConnector1">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Fig1 - arrow 2">
              <a:extLst>
                <a:ext uri="{FF2B5EF4-FFF2-40B4-BE49-F238E27FC236}">
                  <a16:creationId xmlns:a16="http://schemas.microsoft.com/office/drawing/2014/main" id="{445EF664-B862-7B12-06C0-34BAF81D7450}"/>
                </a:ext>
              </a:extLst>
            </p:cNvPr>
            <p:cNvCxnSpPr>
              <a:cxnSpLocks/>
              <a:stCxn id="5" idx="3"/>
              <a:endCxn id="6" idx="1"/>
            </p:cNvCxnSpPr>
            <p:nvPr/>
          </p:nvCxnSpPr>
          <p:spPr>
            <a:xfrm>
              <a:off x="4826000" y="4051300"/>
              <a:ext cx="330200" cy="0"/>
            </a:xfrm>
            <a:prstGeom prst="straightConnector1">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Fig1 - arrow 3">
              <a:extLst>
                <a:ext uri="{FF2B5EF4-FFF2-40B4-BE49-F238E27FC236}">
                  <a16:creationId xmlns:a16="http://schemas.microsoft.com/office/drawing/2014/main" id="{9C96F72B-4C65-EDB7-0635-888760E91544}"/>
                </a:ext>
              </a:extLst>
            </p:cNvPr>
            <p:cNvCxnSpPr>
              <a:cxnSpLocks/>
              <a:stCxn id="6" idx="3"/>
              <a:endCxn id="7" idx="1"/>
            </p:cNvCxnSpPr>
            <p:nvPr/>
          </p:nvCxnSpPr>
          <p:spPr>
            <a:xfrm>
              <a:off x="7035800" y="4051300"/>
              <a:ext cx="330200" cy="0"/>
            </a:xfrm>
            <a:prstGeom prst="straightConnector1">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Fig1 - arrow 4">
              <a:extLst>
                <a:ext uri="{FF2B5EF4-FFF2-40B4-BE49-F238E27FC236}">
                  <a16:creationId xmlns:a16="http://schemas.microsoft.com/office/drawing/2014/main" id="{B112D360-3417-8C5D-1E0C-0729B18FFE85}"/>
                </a:ext>
              </a:extLst>
            </p:cNvPr>
            <p:cNvCxnSpPr>
              <a:cxnSpLocks/>
              <a:stCxn id="7" idx="3"/>
              <a:endCxn id="8" idx="1"/>
            </p:cNvCxnSpPr>
            <p:nvPr/>
          </p:nvCxnSpPr>
          <p:spPr>
            <a:xfrm>
              <a:off x="9245600" y="4051300"/>
              <a:ext cx="330200" cy="0"/>
            </a:xfrm>
            <a:prstGeom prst="straightConnector1">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17" name="Fig1 - arrow 5">
              <a:extLst>
                <a:ext uri="{FF2B5EF4-FFF2-40B4-BE49-F238E27FC236}">
                  <a16:creationId xmlns:a16="http://schemas.microsoft.com/office/drawing/2014/main" id="{D46ED673-F0F3-E131-A352-1E03EA6B5B72}"/>
                </a:ext>
              </a:extLst>
            </p:cNvPr>
            <p:cNvCxnSpPr>
              <a:cxnSpLocks/>
              <a:stCxn id="8" idx="2"/>
              <a:endCxn id="9" idx="0"/>
            </p:cNvCxnSpPr>
            <p:nvPr/>
          </p:nvCxnSpPr>
          <p:spPr>
            <a:xfrm>
              <a:off x="10515600" y="4394200"/>
              <a:ext cx="0" cy="533400"/>
            </a:xfrm>
            <a:prstGeom prst="straightConnector1">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18" name="Fig1 - arrow 6">
              <a:extLst>
                <a:ext uri="{FF2B5EF4-FFF2-40B4-BE49-F238E27FC236}">
                  <a16:creationId xmlns:a16="http://schemas.microsoft.com/office/drawing/2014/main" id="{A93838E4-A60E-9176-E0EE-851E3EFBD7AD}"/>
                </a:ext>
              </a:extLst>
            </p:cNvPr>
            <p:cNvCxnSpPr>
              <a:cxnSpLocks/>
              <a:stCxn id="9" idx="1"/>
              <a:endCxn id="10" idx="3"/>
            </p:cNvCxnSpPr>
            <p:nvPr/>
          </p:nvCxnSpPr>
          <p:spPr>
            <a:xfrm flipH="1">
              <a:off x="9245600" y="5270500"/>
              <a:ext cx="330200" cy="0"/>
            </a:xfrm>
            <a:prstGeom prst="straightConnector1">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Fig1 - arrow 7">
              <a:extLst>
                <a:ext uri="{FF2B5EF4-FFF2-40B4-BE49-F238E27FC236}">
                  <a16:creationId xmlns:a16="http://schemas.microsoft.com/office/drawing/2014/main" id="{618F1473-8C8A-DDA4-E94B-425350F2CD1F}"/>
                </a:ext>
              </a:extLst>
            </p:cNvPr>
            <p:cNvCxnSpPr>
              <a:cxnSpLocks/>
              <a:stCxn id="10" idx="1"/>
              <a:endCxn id="11" idx="3"/>
            </p:cNvCxnSpPr>
            <p:nvPr/>
          </p:nvCxnSpPr>
          <p:spPr>
            <a:xfrm flipH="1">
              <a:off x="7035800" y="5270500"/>
              <a:ext cx="330200" cy="0"/>
            </a:xfrm>
            <a:prstGeom prst="straightConnector1">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Fig1 - arrow 8">
              <a:extLst>
                <a:ext uri="{FF2B5EF4-FFF2-40B4-BE49-F238E27FC236}">
                  <a16:creationId xmlns:a16="http://schemas.microsoft.com/office/drawing/2014/main" id="{8857EE87-EE1C-8C92-E9AD-A7585FCDC679}"/>
                </a:ext>
              </a:extLst>
            </p:cNvPr>
            <p:cNvCxnSpPr>
              <a:cxnSpLocks/>
              <a:stCxn id="11" idx="1"/>
              <a:endCxn id="12" idx="3"/>
            </p:cNvCxnSpPr>
            <p:nvPr/>
          </p:nvCxnSpPr>
          <p:spPr>
            <a:xfrm flipH="1">
              <a:off x="4826000" y="5270500"/>
              <a:ext cx="330200" cy="0"/>
            </a:xfrm>
            <a:prstGeom prst="straightConnector1">
              <a:avLst/>
            </a:prstGeom>
            <a:ln w="19050">
              <a:solidFill>
                <a:srgbClr val="000000"/>
              </a:solidFill>
              <a:tailEnd type="triangle"/>
            </a:ln>
          </p:spPr>
          <p:style>
            <a:lnRef idx="2">
              <a:schemeClr val="accent1"/>
            </a:lnRef>
            <a:fillRef idx="0">
              <a:schemeClr val="accent1"/>
            </a:fillRef>
            <a:effectRef idx="1">
              <a:schemeClr val="accent1"/>
            </a:effectRef>
            <a:fontRef idx="minor">
              <a:schemeClr val="tx1"/>
            </a:fontRef>
          </p:style>
        </p:cxnSp>
      </p:grpSp>
      <p:sp>
        <p:nvSpPr>
          <p:cNvPr id="21" name="Fig1 - caption">
            <a:extLst>
              <a:ext uri="{FF2B5EF4-FFF2-40B4-BE49-F238E27FC236}">
                <a16:creationId xmlns:a16="http://schemas.microsoft.com/office/drawing/2014/main" id="{7D2FCAAD-5E1D-60E5-9434-10A0327025A5}"/>
              </a:ext>
            </a:extLst>
          </p:cNvPr>
          <p:cNvSpPr txBox="1"/>
          <p:nvPr/>
        </p:nvSpPr>
        <p:spPr>
          <a:xfrm>
            <a:off x="736600" y="5740400"/>
            <a:ext cx="10718800" cy="338554"/>
          </a:xfrm>
          <a:prstGeom prst="rect">
            <a:avLst/>
          </a:prstGeom>
          <a:noFill/>
        </p:spPr>
        <p:txBody>
          <a:bodyPr vert="horz" lIns="0" rIns="0" rtlCol="0">
            <a:spAutoFit/>
          </a:bodyPr>
          <a:lstStyle/>
          <a:p>
            <a:pPr algn="ctr"/>
            <a:r>
              <a:rPr lang="en-US" sz="1600" i="1">
                <a:solidFill>
                  <a:srgbClr val="000000"/>
                </a:solidFill>
                <a:latin typeface="Times New Roman" panose="02020603050405020304" pitchFamily="18" charset="0"/>
              </a:rPr>
              <a:t>Figure 1: Overall data flow of the proposed system</a:t>
            </a:r>
            <a:endParaRPr lang="en-IN" sz="1600" i="1">
              <a:solidFill>
                <a:srgbClr val="000000"/>
              </a:solidFill>
              <a:latin typeface="Times New Roman" panose="02020603050405020304" pitchFamily="18" charset="0"/>
            </a:endParaRPr>
          </a:p>
        </p:txBody>
      </p:sp>
      <p:sp>
        <p:nvSpPr>
          <p:cNvPr id="23" name="Footer Placeholder 22">
            <a:extLst>
              <a:ext uri="{FF2B5EF4-FFF2-40B4-BE49-F238E27FC236}">
                <a16:creationId xmlns:a16="http://schemas.microsoft.com/office/drawing/2014/main" id="{93BEAB08-B262-51A7-C3DE-16CC7D61CCA6}"/>
              </a:ext>
            </a:extLst>
          </p:cNvPr>
          <p:cNvSpPr>
            <a:spLocks noGrp="1"/>
          </p:cNvSpPr>
          <p:nvPr>
            <p:ph type="ftr" sz="quarter" idx="11"/>
          </p:nvPr>
        </p:nvSpPr>
        <p:spPr/>
        <p:txBody>
          <a:bodyPr/>
          <a:lstStyle/>
          <a:p>
            <a:r>
              <a:rPr lang="en-US"/>
              <a:t>IoT and AI-Enabled Rover for Crop Health Monitoring</a:t>
            </a:r>
            <a:endParaRPr lang="en-US" dirty="0"/>
          </a:p>
        </p:txBody>
      </p:sp>
      <p:sp>
        <p:nvSpPr>
          <p:cNvPr id="24" name="Slide Number Placeholder 23">
            <a:extLst>
              <a:ext uri="{FF2B5EF4-FFF2-40B4-BE49-F238E27FC236}">
                <a16:creationId xmlns:a16="http://schemas.microsoft.com/office/drawing/2014/main" id="{19A1C21A-06F5-3393-B76F-965685E45A9E}"/>
              </a:ext>
            </a:extLst>
          </p:cNvPr>
          <p:cNvSpPr>
            <a:spLocks noGrp="1"/>
          </p:cNvSpPr>
          <p:nvPr>
            <p:ph type="sldNum" sz="quarter" idx="12"/>
          </p:nvPr>
        </p:nvSpPr>
        <p:spPr/>
        <p:txBody>
          <a:bodyPr/>
          <a:lstStyle/>
          <a:p>
            <a:fld id="{C1FF6DA9-008F-8B48-92A6-B652298478BF}" type="slidenum">
              <a:rPr lang="en-US" smtClean="0"/>
              <a:pPr/>
              <a:t>8</a:t>
            </a:fld>
            <a:endParaRPr lang="en-US" dirty="0"/>
          </a:p>
        </p:txBody>
      </p:sp>
    </p:spTree>
    <p:extLst>
      <p:ext uri="{BB962C8B-B14F-4D97-AF65-F5344CB8AC3E}">
        <p14:creationId xmlns:p14="http://schemas.microsoft.com/office/powerpoint/2010/main" val="2865225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2A69BAF-E2A4-C12C-6505-EB2E1E4AF8C9}"/>
              </a:ext>
            </a:extLst>
          </p:cNvPr>
          <p:cNvSpPr>
            <a:spLocks noGrp="1"/>
          </p:cNvSpPr>
          <p:nvPr>
            <p:ph type="title"/>
          </p:nvPr>
        </p:nvSpPr>
        <p:spPr/>
        <p:txBody>
          <a:bodyPr/>
          <a:lstStyle/>
          <a:p>
            <a:r>
              <a:rPr lang="en-IN"/>
              <a:t>MOTIVATION</a:t>
            </a:r>
          </a:p>
        </p:txBody>
      </p:sp>
      <p:sp>
        <p:nvSpPr>
          <p:cNvPr id="3" name="Motivation text">
            <a:extLst>
              <a:ext uri="{FF2B5EF4-FFF2-40B4-BE49-F238E27FC236}">
                <a16:creationId xmlns:a16="http://schemas.microsoft.com/office/drawing/2014/main" id="{7D32E17D-9D1F-1280-F820-161C8D475752}"/>
              </a:ext>
            </a:extLst>
          </p:cNvPr>
          <p:cNvSpPr>
            <a:spLocks noGrp="1"/>
          </p:cNvSpPr>
          <p:nvPr>
            <p:ph idx="1"/>
          </p:nvPr>
        </p:nvSpPr>
        <p:spPr>
          <a:xfrm>
            <a:off x="736600" y="1422400"/>
            <a:ext cx="10718800" cy="4762500"/>
          </a:xfrm>
        </p:spPr>
        <p:txBody>
          <a:bodyPr wrap="square" anchor="t">
            <a:noAutofit/>
          </a:bodyPr>
          <a:lstStyle/>
          <a:p>
            <a:pPr marL="330200" indent="-330200">
              <a:spcBef>
                <a:spcPct val="0"/>
              </a:spcBef>
              <a:spcAft>
                <a:spcPts val="1000"/>
              </a:spcAft>
            </a:pPr>
            <a:r>
              <a:rPr lang="en-US" sz="2200"/>
              <a:t>Crop and environmental problems often develop gradually and are easier to manage when noticed early, yet continuous manual observation of every part of a field is impractical.</a:t>
            </a:r>
          </a:p>
          <a:p>
            <a:pPr marL="330200" indent="-330200">
              <a:spcBef>
                <a:spcPct val="0"/>
              </a:spcBef>
              <a:spcAft>
                <a:spcPts val="1000"/>
              </a:spcAft>
            </a:pPr>
            <a:r>
              <a:rPr lang="en-US" sz="2200"/>
              <a:t>Repetitive inspection is physically demanding, and some areas may be difficult or unsafe to access during fire or adverse weather.</a:t>
            </a:r>
          </a:p>
          <a:p>
            <a:pPr marL="330200" indent="-330200">
              <a:spcBef>
                <a:spcPct val="0"/>
              </a:spcBef>
              <a:spcAft>
                <a:spcPts val="1000"/>
              </a:spcAft>
            </a:pPr>
            <a:r>
              <a:rPr lang="en-US" sz="2200"/>
              <a:t>Irrigation decisions are frequently made without reliable soil-moisture or weather information.</a:t>
            </a:r>
          </a:p>
          <a:p>
            <a:pPr marL="330200" indent="-330200">
              <a:spcBef>
                <a:spcPct val="0"/>
              </a:spcBef>
              <a:spcAft>
                <a:spcPts val="1000"/>
              </a:spcAft>
            </a:pPr>
            <a:r>
              <a:rPr lang="en-US" sz="2200"/>
              <a:t>IoT sensing enables continuous, low-cost measurement of field parameters; AI-assisted image and data analysis can help identify possible crop and environmental risks; and a mobile rover provides remote visibility of the field.</a:t>
            </a:r>
          </a:p>
          <a:p>
            <a:pPr marL="330200" indent="-330200">
              <a:spcBef>
                <a:spcPct val="0"/>
              </a:spcBef>
              <a:spcAft>
                <a:spcPts val="1000"/>
              </a:spcAft>
            </a:pPr>
            <a:r>
              <a:rPr lang="en-US" sz="2200"/>
              <a:t>Integrating embedded hardware with backend, analytics and user-facing software is essential to convert raw readings into timely and understandable information for farmers.</a:t>
            </a:r>
            <a:endParaRPr lang="en-IN" sz="2200"/>
          </a:p>
        </p:txBody>
      </p:sp>
      <p:sp>
        <p:nvSpPr>
          <p:cNvPr id="4" name="Footer Placeholder 3">
            <a:extLst>
              <a:ext uri="{FF2B5EF4-FFF2-40B4-BE49-F238E27FC236}">
                <a16:creationId xmlns:a16="http://schemas.microsoft.com/office/drawing/2014/main" id="{870C6527-91AA-84DC-A982-B22D225C4049}"/>
              </a:ext>
            </a:extLst>
          </p:cNvPr>
          <p:cNvSpPr>
            <a:spLocks noGrp="1"/>
          </p:cNvSpPr>
          <p:nvPr>
            <p:ph type="ftr" sz="quarter" idx="11"/>
          </p:nvPr>
        </p:nvSpPr>
        <p:spPr/>
        <p:txBody>
          <a:bodyPr/>
          <a:lstStyle/>
          <a:p>
            <a:r>
              <a:rPr lang="en-US"/>
              <a:t>IoT and AI-Enabled Rover for Crop Health Monitoring</a:t>
            </a:r>
            <a:endParaRPr lang="en-US" dirty="0"/>
          </a:p>
        </p:txBody>
      </p:sp>
      <p:sp>
        <p:nvSpPr>
          <p:cNvPr id="5" name="Slide Number Placeholder 4">
            <a:extLst>
              <a:ext uri="{FF2B5EF4-FFF2-40B4-BE49-F238E27FC236}">
                <a16:creationId xmlns:a16="http://schemas.microsoft.com/office/drawing/2014/main" id="{863EBFF0-8352-23BA-62B1-BEB51622A7A6}"/>
              </a:ext>
            </a:extLst>
          </p:cNvPr>
          <p:cNvSpPr>
            <a:spLocks noGrp="1"/>
          </p:cNvSpPr>
          <p:nvPr>
            <p:ph type="sldNum" sz="quarter" idx="12"/>
          </p:nvPr>
        </p:nvSpPr>
        <p:spPr/>
        <p:txBody>
          <a:bodyPr/>
          <a:lstStyle/>
          <a:p>
            <a:fld id="{C1FF6DA9-008F-8B48-92A6-B652298478BF}" type="slidenum">
              <a:rPr lang="en-US" smtClean="0"/>
              <a:pPr/>
              <a:t>9</a:t>
            </a:fld>
            <a:endParaRPr lang="en-US" dirty="0"/>
          </a:p>
        </p:txBody>
      </p:sp>
    </p:spTree>
    <p:extLst>
      <p:ext uri="{BB962C8B-B14F-4D97-AF65-F5344CB8AC3E}">
        <p14:creationId xmlns:p14="http://schemas.microsoft.com/office/powerpoint/2010/main" val="1636589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588AD00-7C1F-37E2-43FF-104D14AFB96A}"/>
              </a:ext>
            </a:extLst>
          </p:cNvPr>
          <p:cNvSpPr>
            <a:spLocks noGrp="1"/>
          </p:cNvSpPr>
          <p:nvPr>
            <p:ph type="title"/>
          </p:nvPr>
        </p:nvSpPr>
        <p:spPr/>
        <p:txBody>
          <a:bodyPr/>
          <a:lstStyle/>
          <a:p>
            <a:r>
              <a:rPr lang="en-IN"/>
              <a:t>PROBLEM STATEMENT</a:t>
            </a:r>
          </a:p>
        </p:txBody>
      </p:sp>
      <p:sp>
        <p:nvSpPr>
          <p:cNvPr id="3" name="Problem statement text">
            <a:extLst>
              <a:ext uri="{FF2B5EF4-FFF2-40B4-BE49-F238E27FC236}">
                <a16:creationId xmlns:a16="http://schemas.microsoft.com/office/drawing/2014/main" id="{94B9404D-23E5-8CD4-C710-453B2884A863}"/>
              </a:ext>
            </a:extLst>
          </p:cNvPr>
          <p:cNvSpPr>
            <a:spLocks noGrp="1"/>
          </p:cNvSpPr>
          <p:nvPr>
            <p:ph idx="1"/>
          </p:nvPr>
        </p:nvSpPr>
        <p:spPr>
          <a:xfrm>
            <a:off x="736600" y="1422400"/>
            <a:ext cx="10718800" cy="4762500"/>
          </a:xfrm>
        </p:spPr>
        <p:txBody>
          <a:bodyPr wrap="square" anchor="t">
            <a:noAutofit/>
          </a:bodyPr>
          <a:lstStyle/>
          <a:p>
            <a:pPr marL="330200" indent="-330200">
              <a:spcBef>
                <a:spcPct val="0"/>
              </a:spcBef>
              <a:spcAft>
                <a:spcPts val="1200"/>
              </a:spcAft>
            </a:pPr>
            <a:r>
              <a:rPr lang="en-US" sz="2200"/>
              <a:t>Agricultural productivity is affected by crop diseases, pest infestations, nutrient deficiencies, water stress, erratic rainfall, droughts, floods, heat waves and other environmental risks.</a:t>
            </a:r>
          </a:p>
          <a:p>
            <a:pPr marL="330200" indent="-330200">
              <a:spcBef>
                <a:spcPct val="0"/>
              </a:spcBef>
              <a:spcAft>
                <a:spcPts val="1200"/>
              </a:spcAft>
            </a:pPr>
            <a:r>
              <a:rPr lang="en-US" sz="2200"/>
              <a:t>Conventional monitoring depends largely on periodic manual inspection, which may delay the identification of emerging problems and is difficult to scale across large or remote fields.</a:t>
            </a:r>
          </a:p>
          <a:p>
            <a:pPr marL="330200" indent="-330200">
              <a:spcBef>
                <a:spcPct val="0"/>
              </a:spcBef>
              <a:spcAft>
                <a:spcPts val="1200"/>
              </a:spcAft>
            </a:pPr>
            <a:r>
              <a:rPr lang="en-US" sz="2200"/>
              <a:t>There is therefore a need for a field-deployable intelligent monitoring system capable of continuously collecting and analysing crop and environmental information.</a:t>
            </a:r>
          </a:p>
          <a:p>
            <a:pPr marL="330200" indent="-330200">
              <a:spcBef>
                <a:spcPct val="0"/>
              </a:spcBef>
              <a:spcAft>
                <a:spcPts val="1200"/>
              </a:spcAft>
            </a:pPr>
            <a:r>
              <a:rPr lang="en-US" sz="2200"/>
              <a:t>This project develops an IoT-enabled, AI-based agricultural rover that integrates embedded sensors, camera-based monitoring, robotics, wireless communication, AI/computer vision and software analytics to provide real-time field information and actionable decision support.</a:t>
            </a:r>
            <a:endParaRPr lang="en-IN" sz="2200"/>
          </a:p>
        </p:txBody>
      </p:sp>
      <p:sp>
        <p:nvSpPr>
          <p:cNvPr id="4" name="Footer Placeholder 3">
            <a:extLst>
              <a:ext uri="{FF2B5EF4-FFF2-40B4-BE49-F238E27FC236}">
                <a16:creationId xmlns:a16="http://schemas.microsoft.com/office/drawing/2014/main" id="{A9135D0C-FCF5-1EF1-86D3-4E5918A29F16}"/>
              </a:ext>
            </a:extLst>
          </p:cNvPr>
          <p:cNvSpPr>
            <a:spLocks noGrp="1"/>
          </p:cNvSpPr>
          <p:nvPr>
            <p:ph type="ftr" sz="quarter" idx="11"/>
          </p:nvPr>
        </p:nvSpPr>
        <p:spPr/>
        <p:txBody>
          <a:bodyPr/>
          <a:lstStyle/>
          <a:p>
            <a:r>
              <a:rPr lang="en-US"/>
              <a:t>IoT and AI-Enabled Rover for Crop Health Monitoring</a:t>
            </a:r>
            <a:endParaRPr lang="en-US" dirty="0"/>
          </a:p>
        </p:txBody>
      </p:sp>
      <p:sp>
        <p:nvSpPr>
          <p:cNvPr id="5" name="Slide Number Placeholder 4">
            <a:extLst>
              <a:ext uri="{FF2B5EF4-FFF2-40B4-BE49-F238E27FC236}">
                <a16:creationId xmlns:a16="http://schemas.microsoft.com/office/drawing/2014/main" id="{1D75EEAF-2275-6CA1-CD10-5E20915DC33E}"/>
              </a:ext>
            </a:extLst>
          </p:cNvPr>
          <p:cNvSpPr>
            <a:spLocks noGrp="1"/>
          </p:cNvSpPr>
          <p:nvPr>
            <p:ph type="sldNum" sz="quarter" idx="12"/>
          </p:nvPr>
        </p:nvSpPr>
        <p:spPr/>
        <p:txBody>
          <a:bodyPr/>
          <a:lstStyle/>
          <a:p>
            <a:fld id="{C1FF6DA9-008F-8B48-92A6-B652298478BF}" type="slidenum">
              <a:rPr lang="en-US" smtClean="0"/>
              <a:pPr/>
              <a:t>10</a:t>
            </a:fld>
            <a:endParaRPr lang="en-US" dirty="0"/>
          </a:p>
        </p:txBody>
      </p:sp>
    </p:spTree>
    <p:extLst>
      <p:ext uri="{BB962C8B-B14F-4D97-AF65-F5344CB8AC3E}">
        <p14:creationId xmlns:p14="http://schemas.microsoft.com/office/powerpoint/2010/main" val="5227164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5EDEDD5-6782-3B40-B7E4-780CB6705A97}"/>
              </a:ext>
            </a:extLst>
          </p:cNvPr>
          <p:cNvSpPr>
            <a:spLocks noGrp="1"/>
          </p:cNvSpPr>
          <p:nvPr>
            <p:ph type="title"/>
          </p:nvPr>
        </p:nvSpPr>
        <p:spPr/>
        <p:txBody>
          <a:bodyPr/>
          <a:lstStyle/>
          <a:p>
            <a:r>
              <a:rPr lang="en-IN"/>
              <a:t>INPUT – PROCESS – OUTPUT</a:t>
            </a:r>
          </a:p>
        </p:txBody>
      </p:sp>
      <p:grpSp>
        <p:nvGrpSpPr>
          <p:cNvPr id="8" name="Input-Process-Output flow">
            <a:extLst>
              <a:ext uri="{FF2B5EF4-FFF2-40B4-BE49-F238E27FC236}">
                <a16:creationId xmlns:a16="http://schemas.microsoft.com/office/drawing/2014/main" id="{DF988337-DE3A-EFC0-AB4E-DBD88CAC1388}"/>
              </a:ext>
            </a:extLst>
          </p:cNvPr>
          <p:cNvGrpSpPr/>
          <p:nvPr/>
        </p:nvGrpSpPr>
        <p:grpSpPr>
          <a:xfrm>
            <a:off x="736600" y="1651000"/>
            <a:ext cx="10718800" cy="3810000"/>
            <a:chOff x="736600" y="1651000"/>
            <a:chExt cx="10718800" cy="3810000"/>
          </a:xfrm>
        </p:grpSpPr>
        <p:sp>
          <p:nvSpPr>
            <p:cNvPr id="3" name="IPO - INPUT">
              <a:extLst>
                <a:ext uri="{FF2B5EF4-FFF2-40B4-BE49-F238E27FC236}">
                  <a16:creationId xmlns:a16="http://schemas.microsoft.com/office/drawing/2014/main" id="{F6DBAF6C-ED93-247B-42C1-E502A98047FA}"/>
                </a:ext>
              </a:extLst>
            </p:cNvPr>
            <p:cNvSpPr/>
            <p:nvPr/>
          </p:nvSpPr>
          <p:spPr>
            <a:xfrm>
              <a:off x="736600" y="1651000"/>
              <a:ext cx="3098800" cy="3810000"/>
            </a:xfrm>
            <a:prstGeom prst="roundRect">
              <a:avLst>
                <a:gd name="adj" fmla="val 6000"/>
              </a:avLst>
            </a:prstGeom>
            <a:solidFill>
              <a:srgbClr val="FFFFFF"/>
            </a:solidFill>
            <a:ln w="22225">
              <a:solidFill>
                <a:srgbClr val="00000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177800" tIns="177800" rIns="152400" bIns="127000" rtlCol="0" anchor="t"/>
            <a:lstStyle/>
            <a:p>
              <a:pPr marL="254000" indent="-254000" algn="ctr">
                <a:spcAft>
                  <a:spcPts val="1400"/>
                </a:spcAft>
              </a:pPr>
              <a:r>
                <a:rPr lang="en-US" sz="2600" b="1">
                  <a:solidFill>
                    <a:srgbClr val="000000"/>
                  </a:solidFill>
                  <a:latin typeface="Times New Roman" panose="02020603050405020304" pitchFamily="18" charset="0"/>
                </a:rPr>
                <a:t>INPUT</a:t>
              </a:r>
            </a:p>
            <a:p>
              <a:pPr marL="254000" indent="-254000">
                <a:spcAft>
                  <a:spcPts val="1000"/>
                </a:spcAft>
                <a:buFont typeface="+mj-lt"/>
                <a:buChar char="•"/>
              </a:pPr>
              <a:r>
                <a:rPr lang="en-US" sz="2000">
                  <a:solidFill>
                    <a:srgbClr val="000000"/>
                  </a:solidFill>
                  <a:latin typeface="Times New Roman" panose="02020603050405020304" pitchFamily="18" charset="0"/>
                </a:rPr>
                <a:t>Environmental sensor readings</a:t>
              </a:r>
            </a:p>
            <a:p>
              <a:pPr marL="254000" indent="-254000">
                <a:spcAft>
                  <a:spcPts val="1000"/>
                </a:spcAft>
                <a:buFont typeface="+mj-lt"/>
                <a:buChar char="•"/>
              </a:pPr>
              <a:r>
                <a:rPr lang="en-US" sz="2000">
                  <a:solidFill>
                    <a:srgbClr val="000000"/>
                  </a:solidFill>
                  <a:latin typeface="Times New Roman" panose="02020603050405020304" pitchFamily="18" charset="0"/>
                </a:rPr>
                <a:t>ESP-CAM field images</a:t>
              </a:r>
            </a:p>
            <a:p>
              <a:pPr marL="254000" indent="-254000">
                <a:spcAft>
                  <a:spcPts val="1000"/>
                </a:spcAft>
                <a:buFont typeface="+mj-lt"/>
                <a:buChar char="•"/>
              </a:pPr>
              <a:r>
                <a:rPr lang="en-US" sz="2000">
                  <a:solidFill>
                    <a:srgbClr val="000000"/>
                  </a:solidFill>
                  <a:latin typeface="Times New Roman" panose="02020603050405020304" pitchFamily="18" charset="0"/>
                </a:rPr>
                <a:t>External weather / environmental data</a:t>
              </a:r>
              <a:endParaRPr lang="en-IN" sz="2000">
                <a:solidFill>
                  <a:srgbClr val="000000"/>
                </a:solidFill>
                <a:latin typeface="Times New Roman" panose="02020603050405020304" pitchFamily="18" charset="0"/>
              </a:endParaRPr>
            </a:p>
          </p:txBody>
        </p:sp>
        <p:sp>
          <p:nvSpPr>
            <p:cNvPr id="4" name="IPO - PROCESS">
              <a:extLst>
                <a:ext uri="{FF2B5EF4-FFF2-40B4-BE49-F238E27FC236}">
                  <a16:creationId xmlns:a16="http://schemas.microsoft.com/office/drawing/2014/main" id="{875B5FF9-AAB1-920E-A7EB-79D977AFE70B}"/>
                </a:ext>
              </a:extLst>
            </p:cNvPr>
            <p:cNvSpPr/>
            <p:nvPr/>
          </p:nvSpPr>
          <p:spPr>
            <a:xfrm>
              <a:off x="4546600" y="1651000"/>
              <a:ext cx="3098800" cy="3810000"/>
            </a:xfrm>
            <a:prstGeom prst="roundRect">
              <a:avLst>
                <a:gd name="adj" fmla="val 6000"/>
              </a:avLst>
            </a:prstGeom>
            <a:solidFill>
              <a:srgbClr val="FFFFFF"/>
            </a:solidFill>
            <a:ln w="22225">
              <a:solidFill>
                <a:srgbClr val="00000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177800" tIns="177800" rIns="152400" bIns="127000" rtlCol="0" anchor="t"/>
            <a:lstStyle/>
            <a:p>
              <a:pPr marL="254000" indent="-254000" algn="ctr">
                <a:spcAft>
                  <a:spcPts val="1400"/>
                </a:spcAft>
              </a:pPr>
              <a:r>
                <a:rPr lang="en-US" sz="2600" b="1">
                  <a:solidFill>
                    <a:srgbClr val="000000"/>
                  </a:solidFill>
                  <a:latin typeface="Times New Roman" panose="02020603050405020304" pitchFamily="18" charset="0"/>
                </a:rPr>
                <a:t>PROCESS</a:t>
              </a:r>
            </a:p>
            <a:p>
              <a:pPr marL="254000" indent="-254000">
                <a:spcAft>
                  <a:spcPts val="1000"/>
                </a:spcAft>
                <a:buFont typeface="+mj-lt"/>
                <a:buChar char="•"/>
              </a:pPr>
              <a:r>
                <a:rPr lang="en-US" sz="2000">
                  <a:solidFill>
                    <a:srgbClr val="000000"/>
                  </a:solidFill>
                  <a:latin typeface="Times New Roman" panose="02020603050405020304" pitchFamily="18" charset="0"/>
                </a:rPr>
                <a:t>Embedded data acquisition</a:t>
              </a:r>
            </a:p>
            <a:p>
              <a:pPr marL="254000" indent="-254000">
                <a:spcAft>
                  <a:spcPts val="1000"/>
                </a:spcAft>
                <a:buFont typeface="+mj-lt"/>
                <a:buChar char="•"/>
              </a:pPr>
              <a:r>
                <a:rPr lang="en-US" sz="2000">
                  <a:solidFill>
                    <a:srgbClr val="000000"/>
                  </a:solidFill>
                  <a:latin typeface="Times New Roman" panose="02020603050405020304" pitchFamily="18" charset="0"/>
                </a:rPr>
                <a:t>Wireless transmission</a:t>
              </a:r>
            </a:p>
            <a:p>
              <a:pPr marL="254000" indent="-254000">
                <a:spcAft>
                  <a:spcPts val="1000"/>
                </a:spcAft>
                <a:buFont typeface="+mj-lt"/>
                <a:buChar char="•"/>
              </a:pPr>
              <a:r>
                <a:rPr lang="en-US" sz="2000">
                  <a:solidFill>
                    <a:srgbClr val="000000"/>
                  </a:solidFill>
                  <a:latin typeface="Times New Roman" panose="02020603050405020304" pitchFamily="18" charset="0"/>
                </a:rPr>
                <a:t>Backend processing and storage</a:t>
              </a:r>
            </a:p>
            <a:p>
              <a:pPr marL="254000" indent="-254000">
                <a:spcAft>
                  <a:spcPts val="1000"/>
                </a:spcAft>
                <a:buFont typeface="+mj-lt"/>
                <a:buChar char="•"/>
              </a:pPr>
              <a:r>
                <a:rPr lang="en-US" sz="2000">
                  <a:solidFill>
                    <a:srgbClr val="000000"/>
                  </a:solidFill>
                  <a:latin typeface="Times New Roman" panose="02020603050405020304" pitchFamily="18" charset="0"/>
                </a:rPr>
                <a:t>AI / computer-vision-assisted analysis</a:t>
              </a:r>
              <a:endParaRPr lang="en-IN" sz="2000">
                <a:solidFill>
                  <a:srgbClr val="000000"/>
                </a:solidFill>
                <a:latin typeface="Times New Roman" panose="02020603050405020304" pitchFamily="18" charset="0"/>
              </a:endParaRPr>
            </a:p>
          </p:txBody>
        </p:sp>
        <p:sp>
          <p:nvSpPr>
            <p:cNvPr id="5" name="IPO - OUTPUT">
              <a:extLst>
                <a:ext uri="{FF2B5EF4-FFF2-40B4-BE49-F238E27FC236}">
                  <a16:creationId xmlns:a16="http://schemas.microsoft.com/office/drawing/2014/main" id="{F65ED2BD-C326-4298-87A4-72249E4D581B}"/>
                </a:ext>
              </a:extLst>
            </p:cNvPr>
            <p:cNvSpPr/>
            <p:nvPr/>
          </p:nvSpPr>
          <p:spPr>
            <a:xfrm>
              <a:off x="8356600" y="1651000"/>
              <a:ext cx="3098800" cy="3810000"/>
            </a:xfrm>
            <a:prstGeom prst="roundRect">
              <a:avLst>
                <a:gd name="adj" fmla="val 6000"/>
              </a:avLst>
            </a:prstGeom>
            <a:solidFill>
              <a:srgbClr val="FFFFFF"/>
            </a:solidFill>
            <a:ln w="22225">
              <a:solidFill>
                <a:srgbClr val="00000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177800" tIns="177800" rIns="152400" bIns="127000" rtlCol="0" anchor="t"/>
            <a:lstStyle/>
            <a:p>
              <a:pPr marL="254000" indent="-254000" algn="ctr">
                <a:spcAft>
                  <a:spcPts val="1400"/>
                </a:spcAft>
              </a:pPr>
              <a:r>
                <a:rPr lang="en-US" sz="2600" b="1">
                  <a:solidFill>
                    <a:srgbClr val="000000"/>
                  </a:solidFill>
                  <a:latin typeface="Times New Roman" panose="02020603050405020304" pitchFamily="18" charset="0"/>
                </a:rPr>
                <a:t>OUTPUT</a:t>
              </a:r>
            </a:p>
            <a:p>
              <a:pPr marL="254000" indent="-254000">
                <a:spcAft>
                  <a:spcPts val="1000"/>
                </a:spcAft>
                <a:buFont typeface="+mj-lt"/>
                <a:buChar char="•"/>
              </a:pPr>
              <a:r>
                <a:rPr lang="en-US" sz="2000">
                  <a:solidFill>
                    <a:srgbClr val="000000"/>
                  </a:solidFill>
                  <a:latin typeface="Times New Roman" panose="02020603050405020304" pitchFamily="18" charset="0"/>
                </a:rPr>
                <a:t>Real-time field status</a:t>
              </a:r>
            </a:p>
            <a:p>
              <a:pPr marL="254000" indent="-254000">
                <a:spcAft>
                  <a:spcPts val="1000"/>
                </a:spcAft>
                <a:buFont typeface="+mj-lt"/>
                <a:buChar char="•"/>
              </a:pPr>
              <a:r>
                <a:rPr lang="en-US" sz="2000">
                  <a:solidFill>
                    <a:srgbClr val="000000"/>
                  </a:solidFill>
                  <a:latin typeface="Times New Roman" panose="02020603050405020304" pitchFamily="18" charset="0"/>
                </a:rPr>
                <a:t>Alerts</a:t>
              </a:r>
            </a:p>
            <a:p>
              <a:pPr marL="254000" indent="-254000">
                <a:spcAft>
                  <a:spcPts val="1000"/>
                </a:spcAft>
                <a:buFont typeface="+mj-lt"/>
                <a:buChar char="•"/>
              </a:pPr>
              <a:r>
                <a:rPr lang="en-US" sz="2000">
                  <a:solidFill>
                    <a:srgbClr val="000000"/>
                  </a:solidFill>
                  <a:latin typeface="Times New Roman" panose="02020603050405020304" pitchFamily="18" charset="0"/>
                </a:rPr>
                <a:t>Decision-support information on web and mobile interfaces</a:t>
              </a:r>
              <a:endParaRPr lang="en-IN" sz="2000">
                <a:solidFill>
                  <a:srgbClr val="000000"/>
                </a:solidFill>
                <a:latin typeface="Times New Roman" panose="02020603050405020304" pitchFamily="18" charset="0"/>
              </a:endParaRPr>
            </a:p>
          </p:txBody>
        </p:sp>
        <p:cxnSp>
          <p:nvCxnSpPr>
            <p:cNvPr id="6" name="IPO - arrow 1">
              <a:extLst>
                <a:ext uri="{FF2B5EF4-FFF2-40B4-BE49-F238E27FC236}">
                  <a16:creationId xmlns:a16="http://schemas.microsoft.com/office/drawing/2014/main" id="{5B249DEA-A682-A341-3837-F8E6D1E1A890}"/>
                </a:ext>
              </a:extLst>
            </p:cNvPr>
            <p:cNvCxnSpPr>
              <a:cxnSpLocks/>
              <a:stCxn id="3" idx="3"/>
              <a:endCxn id="4" idx="1"/>
            </p:cNvCxnSpPr>
            <p:nvPr/>
          </p:nvCxnSpPr>
          <p:spPr>
            <a:xfrm>
              <a:off x="3835400" y="3556000"/>
              <a:ext cx="711200" cy="0"/>
            </a:xfrm>
            <a:prstGeom prst="straightConnector1">
              <a:avLst/>
            </a:prstGeom>
            <a:ln w="28575">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7" name="IPO - arrow 2">
              <a:extLst>
                <a:ext uri="{FF2B5EF4-FFF2-40B4-BE49-F238E27FC236}">
                  <a16:creationId xmlns:a16="http://schemas.microsoft.com/office/drawing/2014/main" id="{0A59FD86-8C7A-C467-4085-4BA1B4D6D037}"/>
                </a:ext>
              </a:extLst>
            </p:cNvPr>
            <p:cNvCxnSpPr>
              <a:cxnSpLocks/>
              <a:stCxn id="4" idx="3"/>
              <a:endCxn id="5" idx="1"/>
            </p:cNvCxnSpPr>
            <p:nvPr/>
          </p:nvCxnSpPr>
          <p:spPr>
            <a:xfrm>
              <a:off x="7645400" y="3556000"/>
              <a:ext cx="711200" cy="0"/>
            </a:xfrm>
            <a:prstGeom prst="straightConnector1">
              <a:avLst/>
            </a:prstGeom>
            <a:ln w="28575">
              <a:solidFill>
                <a:srgbClr val="000000"/>
              </a:solidFill>
              <a:tailEnd type="triangle"/>
            </a:ln>
          </p:spPr>
          <p:style>
            <a:lnRef idx="2">
              <a:schemeClr val="accent1"/>
            </a:lnRef>
            <a:fillRef idx="0">
              <a:schemeClr val="accent1"/>
            </a:fillRef>
            <a:effectRef idx="1">
              <a:schemeClr val="accent1"/>
            </a:effectRef>
            <a:fontRef idx="minor">
              <a:schemeClr val="tx1"/>
            </a:fontRef>
          </p:style>
        </p:cxnSp>
      </p:grpSp>
      <p:sp>
        <p:nvSpPr>
          <p:cNvPr id="9" name="Footer Placeholder 8">
            <a:extLst>
              <a:ext uri="{FF2B5EF4-FFF2-40B4-BE49-F238E27FC236}">
                <a16:creationId xmlns:a16="http://schemas.microsoft.com/office/drawing/2014/main" id="{6D8726C7-8850-FC3B-5A42-C1D1FCF2B7FD}"/>
              </a:ext>
            </a:extLst>
          </p:cNvPr>
          <p:cNvSpPr>
            <a:spLocks noGrp="1"/>
          </p:cNvSpPr>
          <p:nvPr>
            <p:ph type="ftr" sz="quarter" idx="11"/>
          </p:nvPr>
        </p:nvSpPr>
        <p:spPr/>
        <p:txBody>
          <a:bodyPr/>
          <a:lstStyle/>
          <a:p>
            <a:r>
              <a:rPr lang="en-US"/>
              <a:t>IoT and AI-Enabled Rover for Crop Health Monitoring</a:t>
            </a:r>
            <a:endParaRPr lang="en-US" dirty="0"/>
          </a:p>
        </p:txBody>
      </p:sp>
      <p:sp>
        <p:nvSpPr>
          <p:cNvPr id="10" name="Slide Number Placeholder 9">
            <a:extLst>
              <a:ext uri="{FF2B5EF4-FFF2-40B4-BE49-F238E27FC236}">
                <a16:creationId xmlns:a16="http://schemas.microsoft.com/office/drawing/2014/main" id="{DDB80593-9EFB-BC11-95A9-A09A478CF787}"/>
              </a:ext>
            </a:extLst>
          </p:cNvPr>
          <p:cNvSpPr>
            <a:spLocks noGrp="1"/>
          </p:cNvSpPr>
          <p:nvPr>
            <p:ph type="sldNum" sz="quarter" idx="12"/>
          </p:nvPr>
        </p:nvSpPr>
        <p:spPr/>
        <p:txBody>
          <a:bodyPr/>
          <a:lstStyle/>
          <a:p>
            <a:fld id="{C1FF6DA9-008F-8B48-92A6-B652298478BF}" type="slidenum">
              <a:rPr lang="en-US" smtClean="0"/>
              <a:pPr/>
              <a:t>11</a:t>
            </a:fld>
            <a:endParaRPr lang="en-US" dirty="0"/>
          </a:p>
        </p:txBody>
      </p:sp>
    </p:spTree>
    <p:extLst>
      <p:ext uri="{BB962C8B-B14F-4D97-AF65-F5344CB8AC3E}">
        <p14:creationId xmlns:p14="http://schemas.microsoft.com/office/powerpoint/2010/main" val="318720722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CCDADE4-F6D0-4426-BB62-050AE4B210DA}">
  <we:reference id="wa200005566" version="3.0.0.3" store="en-US" storeType="OMEX"/>
  <we:alternateReferences>
    <we:reference id="WA200005566" version="3.0.0.3"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73</TotalTime>
  <Words>1405</Words>
  <Application>Microsoft Office PowerPoint</Application>
  <PresentationFormat>Widescreen</PresentationFormat>
  <Paragraphs>165</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Times New Roman</vt:lpstr>
      <vt:lpstr>Office Theme</vt:lpstr>
      <vt:lpstr>PowerPoint Presentation</vt:lpstr>
      <vt:lpstr>AGENDA</vt:lpstr>
      <vt:lpstr>ABSTRACT</vt:lpstr>
      <vt:lpstr>INTRODUCTION</vt:lpstr>
      <vt:lpstr>LITERATURE SURVEY</vt:lpstr>
      <vt:lpstr>LITERATURE SURVEY </vt:lpstr>
      <vt:lpstr>LITERATURE SURVEY</vt:lpstr>
      <vt:lpstr>OVERVIEW OF THE PROPOSED SYSTEM</vt:lpstr>
      <vt:lpstr>MOTIVATION</vt:lpstr>
      <vt:lpstr>PROBLEM STATEMENT</vt:lpstr>
      <vt:lpstr>INPUT – PROCESS – OUTPUT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Development of an IoT and AI-Enabled Rover for Real-Time Crop Health Monitoring</dc:title>
  <dc:subject/>
  <dc:creator>Dept. of AI &amp; ML, AIT Chikkamagaluru</dc:creator>
  <cp:keywords/>
  <dc:description>generated using python-pptx</dc:description>
  <cp:lastModifiedBy>SHREYAS RANGADHOL</cp:lastModifiedBy>
  <cp:revision>15</cp:revision>
  <dcterms:created xsi:type="dcterms:W3CDTF">2013-01-27T09:14:16Z</dcterms:created>
  <dcterms:modified xsi:type="dcterms:W3CDTF">2026-10-13T16:26:05Z</dcterms:modified>
  <cp:category/>
</cp:coreProperties>
</file>