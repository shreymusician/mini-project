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3" r:id="rId8"/>
    <p:sldId id="260" r:id="rId9"/>
    <p:sldId id="264"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17B88C-ECD7-7278-4586-B4D39CD52AD8}"/>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79A3341D-B8B6-DABF-1119-AB5E849F2E8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DB8FEEE5-98A4-4827-E9AC-55020FEEA054}"/>
              </a:ext>
            </a:extLst>
          </p:cNvPr>
          <p:cNvSpPr>
            <a:spLocks noGrp="1"/>
          </p:cNvSpPr>
          <p:nvPr>
            <p:ph type="sldNum" sz="quarter" idx="12"/>
          </p:nvPr>
        </p:nvSpPr>
        <p:spPr/>
        <p:txBody>
          <a:bodyPr/>
          <a:lstStyle/>
          <a:p>
            <a:fld id="{C1FF6DA9-008F-8B48-92A6-B652298478BF}" type="slidenum">
              <a:rPr lang="en-US" smtClean="0"/>
              <a:pPr/>
              <a:t>5</a:t>
            </a:fld>
            <a:endParaRPr lang="en-US" dirty="0"/>
          </a:p>
        </p:txBody>
      </p:sp>
      <p:graphicFrame>
        <p:nvGraphicFramePr>
          <p:cNvPr id="7" name="Literature survey table">
            <a:extLst>
              <a:ext uri="{FF2B5EF4-FFF2-40B4-BE49-F238E27FC236}">
                <a16:creationId xmlns:a16="http://schemas.microsoft.com/office/drawing/2014/main" id="{B3D463BA-EAF6-3EEA-21A5-17F347320678}"/>
              </a:ext>
            </a:extLst>
          </p:cNvPr>
          <p:cNvGraphicFramePr>
            <a:graphicFrameLocks noGrp="1"/>
          </p:cNvGraphicFramePr>
          <p:nvPr>
            <p:extLst>
              <p:ext uri="{D42A27DB-BD31-4B8C-83A1-F6EECF244321}">
                <p14:modId xmlns:p14="http://schemas.microsoft.com/office/powerpoint/2010/main" val="1149944593"/>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2616021155"/>
                    </a:ext>
                  </a:extLst>
                </a:gridCol>
                <a:gridCol w="2260600">
                  <a:extLst>
                    <a:ext uri="{9D8B030D-6E8A-4147-A177-3AD203B41FA5}">
                      <a16:colId xmlns:a16="http://schemas.microsoft.com/office/drawing/2014/main" val="836183260"/>
                    </a:ext>
                  </a:extLst>
                </a:gridCol>
                <a:gridCol w="2844800">
                  <a:extLst>
                    <a:ext uri="{9D8B030D-6E8A-4147-A177-3AD203B41FA5}">
                      <a16:colId xmlns:a16="http://schemas.microsoft.com/office/drawing/2014/main" val="1100127079"/>
                    </a:ext>
                  </a:extLst>
                </a:gridCol>
                <a:gridCol w="2692400">
                  <a:extLst>
                    <a:ext uri="{9D8B030D-6E8A-4147-A177-3AD203B41FA5}">
                      <a16:colId xmlns:a16="http://schemas.microsoft.com/office/drawing/2014/main" val="2372722112"/>
                    </a:ext>
                  </a:extLst>
                </a:gridCol>
                <a:gridCol w="1981200">
                  <a:extLst>
                    <a:ext uri="{9D8B030D-6E8A-4147-A177-3AD203B41FA5}">
                      <a16:colId xmlns:a16="http://schemas.microsoft.com/office/drawing/2014/main" val="2145224657"/>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483447986"/>
                  </a:ext>
                </a:extLst>
              </a:tr>
              <a:tr h="254000">
                <a:tc>
                  <a:txBody>
                    <a:bodyPr/>
                    <a:lstStyle/>
                    <a:p>
                      <a:pPr algn="l"/>
                      <a:r>
                        <a:rPr lang="en-IN" sz="1500" b="1">
                          <a:solidFill>
                            <a:srgbClr val="000000"/>
                          </a:solidFill>
                          <a:latin typeface="Times New Roman" panose="02020603050405020304" pitchFamily="18" charset="0"/>
                        </a:rPr>
                        <a:t>1</a:t>
                      </a:r>
                    </a:p>
                  </a:txBody>
                  <a:tcPr marL="76200" marR="76200" marT="50800" marB="50800"/>
                </a:tc>
                <a:tc>
                  <a:txBody>
                    <a:bodyPr/>
                    <a:lstStyle/>
                    <a:p>
                      <a:pPr algn="l"/>
                      <a:r>
                        <a:rPr lang="en-IN" sz="1500" b="1">
                          <a:solidFill>
                            <a:srgbClr val="000000"/>
                          </a:solidFill>
                          <a:latin typeface="Times New Roman" panose="02020603050405020304" pitchFamily="18" charset="0"/>
                        </a:rPr>
                        <a:t>A. Tzounis, N. Katsoulas, T. Bartzanas and C. Kittas</a:t>
                      </a:r>
                    </a:p>
                  </a:txBody>
                  <a:tcPr marL="76200" marR="76200" marT="50800" marB="50800"/>
                </a:tc>
                <a:tc>
                  <a:txBody>
                    <a:bodyPr/>
                    <a:lstStyle/>
                    <a:p>
                      <a:pPr algn="l"/>
                      <a:r>
                        <a:rPr lang="en-US" sz="1500" b="1">
                          <a:solidFill>
                            <a:srgbClr val="000000"/>
                          </a:solidFill>
                          <a:latin typeface="Times New Roman" panose="02020603050405020304" pitchFamily="18" charset="0"/>
                        </a:rPr>
                        <a:t>Internet of Things in agriculture, recent advances and future challenges</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IoT-Based Smart Agriculture</a:t>
                      </a:r>
                      <a:r>
                        <a:rPr lang="en-US" sz="1500" b="0">
                          <a:solidFill>
                            <a:srgbClr val="000000"/>
                          </a:solidFill>
                          <a:latin typeface="Times New Roman" panose="02020603050405020304" pitchFamily="18" charset="0"/>
                        </a:rPr>
                        <a:t>: Wireless sensor networks and IoT platforms are widely used to monitor soil, climate and crop parameters with remote data access.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Most deployments use fixed sensor nodes covering limited points and provide no visual crop information.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488375257"/>
                  </a:ext>
                </a:extLst>
              </a:tr>
              <a:tr h="254000">
                <a:tc>
                  <a:txBody>
                    <a:bodyPr/>
                    <a:lstStyle/>
                    <a:p>
                      <a:pPr algn="l"/>
                      <a:r>
                        <a:rPr lang="en-IN" sz="1500" b="1">
                          <a:solidFill>
                            <a:srgbClr val="000000"/>
                          </a:solidFill>
                          <a:latin typeface="Times New Roman" panose="02020603050405020304" pitchFamily="18" charset="0"/>
                        </a:rPr>
                        <a:t>2</a:t>
                      </a:r>
                    </a:p>
                  </a:txBody>
                  <a:tcPr marL="76200" marR="76200" marT="50800" marB="50800"/>
                </a:tc>
                <a:tc>
                  <a:txBody>
                    <a:bodyPr/>
                    <a:lstStyle/>
                    <a:p>
                      <a:pPr algn="l"/>
                      <a:r>
                        <a:rPr lang="en-US" sz="1500" b="1">
                          <a:solidFill>
                            <a:srgbClr val="000000"/>
                          </a:solidFill>
                          <a:latin typeface="Times New Roman" panose="02020603050405020304" pitchFamily="18" charset="0"/>
                        </a:rPr>
                        <a:t>O. Elijah, T. A. Rahman, I. Orikumhi, C. Y. Leow and M. N. Hindia</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An overview of Internet of Things (IoT) and data analytics in agriculture: Benefits and challenges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658275445"/>
                  </a:ext>
                </a:extLst>
              </a:tr>
              <a:tr h="254000">
                <a:tc>
                  <a:txBody>
                    <a:bodyPr/>
                    <a:lstStyle/>
                    <a:p>
                      <a:pPr algn="l"/>
                      <a:r>
                        <a:rPr lang="en-IN" sz="1500" b="1">
                          <a:solidFill>
                            <a:srgbClr val="000000"/>
                          </a:solidFill>
                          <a:latin typeface="Times New Roman" panose="02020603050405020304" pitchFamily="18" charset="0"/>
                        </a:rPr>
                        <a:t>3</a:t>
                      </a:r>
                    </a:p>
                  </a:txBody>
                  <a:tcPr marL="76200" marR="76200" marT="50800" marB="50800"/>
                </a:tc>
                <a:tc>
                  <a:txBody>
                    <a:bodyPr/>
                    <a:lstStyle/>
                    <a:p>
                      <a:pPr algn="l"/>
                      <a:r>
                        <a:rPr lang="en-US" sz="1500" b="1">
                          <a:solidFill>
                            <a:srgbClr val="000000"/>
                          </a:solidFill>
                          <a:latin typeface="Times New Roman" panose="02020603050405020304" pitchFamily="18" charset="0"/>
                        </a:rPr>
                        <a:t>S. P. Mohanty, D. P. Hughes and M. Salathé</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Using deep learning for image-based plant disease detection</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AI / Computer Vision for Crop Monitoring</a:t>
                      </a:r>
                      <a:r>
                        <a:rPr lang="en-US" sz="1500" b="0">
                          <a:solidFill>
                            <a:srgbClr val="000000"/>
                          </a:solidFill>
                          <a:latin typeface="Times New Roman" panose="02020603050405020304" pitchFamily="18" charset="0"/>
                        </a:rPr>
                        <a:t>: Deep convolutional neural networks have shown strong results in identifying plant diseases from leaf images.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Many models are trained on controlled datasets and are seldom linked with live field sensing.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983542695"/>
                  </a:ext>
                </a:extLst>
              </a:tr>
              <a:tr h="254000">
                <a:tc>
                  <a:txBody>
                    <a:bodyPr/>
                    <a:lstStyle/>
                    <a:p>
                      <a:pPr algn="l"/>
                      <a:r>
                        <a:rPr lang="en-IN" sz="1500" b="1">
                          <a:solidFill>
                            <a:srgbClr val="000000"/>
                          </a:solidFill>
                          <a:latin typeface="Times New Roman" panose="02020603050405020304" pitchFamily="18" charset="0"/>
                        </a:rPr>
                        <a:t>4</a:t>
                      </a:r>
                    </a:p>
                  </a:txBody>
                  <a:tcPr marL="76200" marR="76200" marT="50800" marB="50800"/>
                </a:tc>
                <a:tc>
                  <a:txBody>
                    <a:bodyPr/>
                    <a:lstStyle/>
                    <a:p>
                      <a:pPr algn="l"/>
                      <a:r>
                        <a:rPr lang="en-IN" sz="1500" b="1">
                          <a:solidFill>
                            <a:srgbClr val="000000"/>
                          </a:solidFill>
                          <a:latin typeface="Times New Roman" panose="02020603050405020304" pitchFamily="18" charset="0"/>
                        </a:rPr>
                        <a:t>K. P. Ferentinos</a:t>
                      </a:r>
                    </a:p>
                  </a:txBody>
                  <a:tcPr marL="76200" marR="76200" marT="50800" marB="50800"/>
                </a:tc>
                <a:tc>
                  <a:txBody>
                    <a:bodyPr/>
                    <a:lstStyle/>
                    <a:p>
                      <a:pPr algn="l"/>
                      <a:r>
                        <a:rPr lang="en-US" sz="1500" b="1">
                          <a:solidFill>
                            <a:srgbClr val="000000"/>
                          </a:solidFill>
                          <a:latin typeface="Times New Roman" panose="02020603050405020304" pitchFamily="18" charset="0"/>
                        </a:rPr>
                        <a:t>Deep learning models for plant disease detection and diagnosis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3823431366"/>
                  </a:ext>
                </a:extLst>
              </a:tr>
            </a:tbl>
          </a:graphicData>
        </a:graphic>
      </p:graphicFrame>
    </p:spTree>
    <p:extLst>
      <p:ext uri="{BB962C8B-B14F-4D97-AF65-F5344CB8AC3E}">
        <p14:creationId xmlns:p14="http://schemas.microsoft.com/office/powerpoint/2010/main" val="1244052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C3336AE-C819-F719-EF8E-4299278CD9E7}"/>
              </a:ext>
            </a:extLst>
          </p:cNvPr>
          <p:cNvSpPr>
            <a:spLocks noGrp="1"/>
          </p:cNvSpPr>
          <p:nvPr>
            <p:ph type="title"/>
          </p:nvPr>
        </p:nvSpPr>
        <p:spPr/>
        <p:txBody>
          <a:bodyPr/>
          <a:lstStyle/>
          <a:p>
            <a:r>
              <a:rPr lang="en-IN" dirty="0"/>
              <a:t>LITERATURE SURVEY </a:t>
            </a:r>
          </a:p>
        </p:txBody>
      </p:sp>
      <p:sp>
        <p:nvSpPr>
          <p:cNvPr id="4" name="Footer Placeholder 3">
            <a:extLst>
              <a:ext uri="{FF2B5EF4-FFF2-40B4-BE49-F238E27FC236}">
                <a16:creationId xmlns:a16="http://schemas.microsoft.com/office/drawing/2014/main" id="{295492A1-0543-AF9A-E192-B79463F0A48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51A5E4EE-4B66-9792-749E-A3C5D1B2C960}"/>
              </a:ext>
            </a:extLst>
          </p:cNvPr>
          <p:cNvSpPr>
            <a:spLocks noGrp="1"/>
          </p:cNvSpPr>
          <p:nvPr>
            <p:ph type="sldNum" sz="quarter" idx="12"/>
          </p:nvPr>
        </p:nvSpPr>
        <p:spPr/>
        <p:txBody>
          <a:bodyPr/>
          <a:lstStyle/>
          <a:p>
            <a:fld id="{C1FF6DA9-008F-8B48-92A6-B652298478BF}" type="slidenum">
              <a:rPr lang="en-US" smtClean="0"/>
              <a:pPr/>
              <a:t>6</a:t>
            </a:fld>
            <a:endParaRPr lang="en-US" dirty="0"/>
          </a:p>
        </p:txBody>
      </p:sp>
      <p:graphicFrame>
        <p:nvGraphicFramePr>
          <p:cNvPr id="7" name="Literature survey table">
            <a:extLst>
              <a:ext uri="{FF2B5EF4-FFF2-40B4-BE49-F238E27FC236}">
                <a16:creationId xmlns:a16="http://schemas.microsoft.com/office/drawing/2014/main" id="{A6B1D614-C5BD-F388-B852-C821B11897C4}"/>
              </a:ext>
            </a:extLst>
          </p:cNvPr>
          <p:cNvGraphicFramePr>
            <a:graphicFrameLocks noGrp="1"/>
          </p:cNvGraphicFramePr>
          <p:nvPr>
            <p:extLst>
              <p:ext uri="{D42A27DB-BD31-4B8C-83A1-F6EECF244321}">
                <p14:modId xmlns:p14="http://schemas.microsoft.com/office/powerpoint/2010/main" val="238343132"/>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3896851615"/>
                    </a:ext>
                  </a:extLst>
                </a:gridCol>
                <a:gridCol w="2260600">
                  <a:extLst>
                    <a:ext uri="{9D8B030D-6E8A-4147-A177-3AD203B41FA5}">
                      <a16:colId xmlns:a16="http://schemas.microsoft.com/office/drawing/2014/main" val="3899325564"/>
                    </a:ext>
                  </a:extLst>
                </a:gridCol>
                <a:gridCol w="2844800">
                  <a:extLst>
                    <a:ext uri="{9D8B030D-6E8A-4147-A177-3AD203B41FA5}">
                      <a16:colId xmlns:a16="http://schemas.microsoft.com/office/drawing/2014/main" val="663543679"/>
                    </a:ext>
                  </a:extLst>
                </a:gridCol>
                <a:gridCol w="2692400">
                  <a:extLst>
                    <a:ext uri="{9D8B030D-6E8A-4147-A177-3AD203B41FA5}">
                      <a16:colId xmlns:a16="http://schemas.microsoft.com/office/drawing/2014/main" val="574511594"/>
                    </a:ext>
                  </a:extLst>
                </a:gridCol>
                <a:gridCol w="1981200">
                  <a:extLst>
                    <a:ext uri="{9D8B030D-6E8A-4147-A177-3AD203B41FA5}">
                      <a16:colId xmlns:a16="http://schemas.microsoft.com/office/drawing/2014/main" val="2957003694"/>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225104194"/>
                  </a:ext>
                </a:extLst>
              </a:tr>
              <a:tr h="254000">
                <a:tc>
                  <a:txBody>
                    <a:bodyPr/>
                    <a:lstStyle/>
                    <a:p>
                      <a:pPr algn="l"/>
                      <a:r>
                        <a:rPr lang="en-IN" sz="1500" b="1">
                          <a:solidFill>
                            <a:srgbClr val="000000"/>
                          </a:solidFill>
                          <a:latin typeface="Times New Roman" panose="02020603050405020304" pitchFamily="18" charset="0"/>
                        </a:rPr>
                        <a:t>5</a:t>
                      </a:r>
                    </a:p>
                  </a:txBody>
                  <a:tcPr marL="76200" marR="76200" marT="50800" marB="50800"/>
                </a:tc>
                <a:tc>
                  <a:txBody>
                    <a:bodyPr/>
                    <a:lstStyle/>
                    <a:p>
                      <a:pPr algn="l"/>
                      <a:r>
                        <a:rPr lang="en-US" sz="1500" b="1">
                          <a:solidFill>
                            <a:srgbClr val="000000"/>
                          </a:solidFill>
                          <a:latin typeface="Times New Roman" panose="02020603050405020304" pitchFamily="18" charset="0"/>
                        </a:rPr>
                        <a:t>M. Ayaz, M. Ammad-Uddin, Z. Sharif, A. Mansour and E.-H. M. Aggoune</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Internet-of-Things (IoT)-based smart agriculture: Toward making the fields talk</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Sensor-Based Irrigation and Soil Monitoring</a:t>
                      </a:r>
                      <a:r>
                        <a:rPr lang="en-US" sz="1500" b="0">
                          <a:solidFill>
                            <a:srgbClr val="000000"/>
                          </a:solidFill>
                          <a:latin typeface="Times New Roman" panose="02020603050405020304" pitchFamily="18" charset="0"/>
                        </a:rPr>
                        <a:t>: Soil-moisture and weather sensing are used to schedule irrigation and reduce water wastage.</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Decisions often depend on a single parameter without combining weather and crop condition.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61410816"/>
                  </a:ext>
                </a:extLst>
              </a:tr>
              <a:tr h="254000">
                <a:tc>
                  <a:txBody>
                    <a:bodyPr/>
                    <a:lstStyle/>
                    <a:p>
                      <a:pPr algn="l"/>
                      <a:r>
                        <a:rPr lang="en-IN" sz="1500" b="1">
                          <a:solidFill>
                            <a:srgbClr val="000000"/>
                          </a:solidFill>
                          <a:latin typeface="Times New Roman" panose="02020603050405020304" pitchFamily="18" charset="0"/>
                        </a:rPr>
                        <a:t>6</a:t>
                      </a:r>
                    </a:p>
                  </a:txBody>
                  <a:tcPr marL="76200" marR="76200" marT="50800" marB="50800"/>
                </a:tc>
                <a:tc>
                  <a:txBody>
                    <a:bodyPr/>
                    <a:lstStyle/>
                    <a:p>
                      <a:pPr algn="l"/>
                      <a:r>
                        <a:rPr lang="en-US" sz="1500" b="1">
                          <a:solidFill>
                            <a:srgbClr val="000000"/>
                          </a:solidFill>
                          <a:latin typeface="Times New Roman" panose="02020603050405020304" pitchFamily="18" charset="0"/>
                        </a:rPr>
                        <a:t>K. G. Liakos, P. Busato, D. Moshou, S. Pearson and D. Bochtis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Machine learning in agriculture: A review</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1990115899"/>
                  </a:ext>
                </a:extLst>
              </a:tr>
              <a:tr h="254000">
                <a:tc>
                  <a:txBody>
                    <a:bodyPr/>
                    <a:lstStyle/>
                    <a:p>
                      <a:pPr algn="l"/>
                      <a:r>
                        <a:rPr lang="en-IN" sz="1500" b="1">
                          <a:solidFill>
                            <a:srgbClr val="000000"/>
                          </a:solidFill>
                          <a:latin typeface="Times New Roman" panose="02020603050405020304" pitchFamily="18" charset="0"/>
                        </a:rPr>
                        <a:t>7</a:t>
                      </a:r>
                    </a:p>
                  </a:txBody>
                  <a:tcPr marL="76200" marR="76200" marT="50800" marB="50800"/>
                </a:tc>
                <a:tc>
                  <a:txBody>
                    <a:bodyPr/>
                    <a:lstStyle/>
                    <a:p>
                      <a:pPr algn="l"/>
                      <a:r>
                        <a:rPr lang="en-US" sz="1500" b="1">
                          <a:solidFill>
                            <a:srgbClr val="000000"/>
                          </a:solidFill>
                          <a:latin typeface="Times New Roman" panose="02020603050405020304" pitchFamily="18" charset="0"/>
                        </a:rPr>
                        <a:t>A. Bechar and C. Vigneault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robots for field operations: Concepts and components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Robotics</a:t>
                      </a:r>
                      <a:r>
                        <a:rPr lang="en-US" sz="1500" b="0">
                          <a:solidFill>
                            <a:srgbClr val="000000"/>
                          </a:solidFill>
                          <a:latin typeface="Times New Roman" panose="02020603050405020304" pitchFamily="18" charset="0"/>
                        </a:rPr>
                        <a:t>: Field robots have been developed for inspection, spraying and harvesting.</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Many platforms are costly and target a single operation rather than integrated monitoring.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337108810"/>
                  </a:ext>
                </a:extLst>
              </a:tr>
            </a:tbl>
          </a:graphicData>
        </a:graphic>
      </p:graphicFrame>
    </p:spTree>
    <p:extLst>
      <p:ext uri="{BB962C8B-B14F-4D97-AF65-F5344CB8AC3E}">
        <p14:creationId xmlns:p14="http://schemas.microsoft.com/office/powerpoint/2010/main" val="1535172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C5650E-A3DB-442D-0FE7-55E290326FC6}"/>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FDB888ED-FB27-C5D2-B217-CB2CE2ED013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3DEC3E4D-3920-A76B-DA9F-311B97CE2B0F}"/>
              </a:ext>
            </a:extLst>
          </p:cNvPr>
          <p:cNvSpPr>
            <a:spLocks noGrp="1"/>
          </p:cNvSpPr>
          <p:nvPr>
            <p:ph type="sldNum" sz="quarter" idx="12"/>
          </p:nvPr>
        </p:nvSpPr>
        <p:spPr/>
        <p:txBody>
          <a:bodyPr/>
          <a:lstStyle/>
          <a:p>
            <a:fld id="{C1FF6DA9-008F-8B48-92A6-B652298478BF}" type="slidenum">
              <a:rPr lang="en-US" smtClean="0"/>
              <a:pPr/>
              <a:t>7</a:t>
            </a:fld>
            <a:endParaRPr lang="en-US" dirty="0"/>
          </a:p>
        </p:txBody>
      </p:sp>
      <p:graphicFrame>
        <p:nvGraphicFramePr>
          <p:cNvPr id="6" name="Literature survey table">
            <a:extLst>
              <a:ext uri="{FF2B5EF4-FFF2-40B4-BE49-F238E27FC236}">
                <a16:creationId xmlns:a16="http://schemas.microsoft.com/office/drawing/2014/main" id="{4CF35233-CFD9-E2C8-BD3A-3CF85E824CD4}"/>
              </a:ext>
            </a:extLst>
          </p:cNvPr>
          <p:cNvGraphicFramePr>
            <a:graphicFrameLocks noGrp="1"/>
          </p:cNvGraphicFramePr>
          <p:nvPr>
            <p:extLst>
              <p:ext uri="{D42A27DB-BD31-4B8C-83A1-F6EECF244321}">
                <p14:modId xmlns:p14="http://schemas.microsoft.com/office/powerpoint/2010/main" val="21025614"/>
              </p:ext>
            </p:extLst>
          </p:nvPr>
        </p:nvGraphicFramePr>
        <p:xfrm>
          <a:off x="736600" y="1270000"/>
          <a:ext cx="10718800" cy="30988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866307065"/>
                    </a:ext>
                  </a:extLst>
                </a:gridCol>
                <a:gridCol w="2260600">
                  <a:extLst>
                    <a:ext uri="{9D8B030D-6E8A-4147-A177-3AD203B41FA5}">
                      <a16:colId xmlns:a16="http://schemas.microsoft.com/office/drawing/2014/main" val="927267052"/>
                    </a:ext>
                  </a:extLst>
                </a:gridCol>
                <a:gridCol w="2844800">
                  <a:extLst>
                    <a:ext uri="{9D8B030D-6E8A-4147-A177-3AD203B41FA5}">
                      <a16:colId xmlns:a16="http://schemas.microsoft.com/office/drawing/2014/main" val="3727502789"/>
                    </a:ext>
                  </a:extLst>
                </a:gridCol>
                <a:gridCol w="2692400">
                  <a:extLst>
                    <a:ext uri="{9D8B030D-6E8A-4147-A177-3AD203B41FA5}">
                      <a16:colId xmlns:a16="http://schemas.microsoft.com/office/drawing/2014/main" val="3896862991"/>
                    </a:ext>
                  </a:extLst>
                </a:gridCol>
                <a:gridCol w="1981200">
                  <a:extLst>
                    <a:ext uri="{9D8B030D-6E8A-4147-A177-3AD203B41FA5}">
                      <a16:colId xmlns:a16="http://schemas.microsoft.com/office/drawing/2014/main" val="2883950623"/>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3506628342"/>
                  </a:ext>
                </a:extLst>
              </a:tr>
              <a:tr h="254000">
                <a:tc>
                  <a:txBody>
                    <a:bodyPr/>
                    <a:lstStyle/>
                    <a:p>
                      <a:pPr algn="l"/>
                      <a:r>
                        <a:rPr lang="en-IN" sz="1500" b="1">
                          <a:solidFill>
                            <a:srgbClr val="000000"/>
                          </a:solidFill>
                          <a:latin typeface="Times New Roman" panose="02020603050405020304" pitchFamily="18" charset="0"/>
                        </a:rPr>
                        <a:t>8</a:t>
                      </a:r>
                    </a:p>
                  </a:txBody>
                  <a:tcPr marL="76200" marR="76200" marT="50800" marB="50800"/>
                </a:tc>
                <a:tc>
                  <a:txBody>
                    <a:bodyPr/>
                    <a:lstStyle/>
                    <a:p>
                      <a:pPr algn="l"/>
                      <a:r>
                        <a:rPr lang="en-IN" sz="1500" b="1">
                          <a:solidFill>
                            <a:srgbClr val="000000"/>
                          </a:solidFill>
                          <a:latin typeface="Times New Roman" panose="02020603050405020304" pitchFamily="18" charset="0"/>
                        </a:rPr>
                        <a:t>W. Shi, J. Cao, Q. Zhang, Y. Li and L. Xu</a:t>
                      </a:r>
                    </a:p>
                  </a:txBody>
                  <a:tcPr marL="76200" marR="76200" marT="50800" marB="50800"/>
                </a:tc>
                <a:tc>
                  <a:txBody>
                    <a:bodyPr/>
                    <a:lstStyle/>
                    <a:p>
                      <a:pPr algn="l"/>
                      <a:r>
                        <a:rPr lang="en-US" sz="1500" b="1">
                          <a:solidFill>
                            <a:srgbClr val="000000"/>
                          </a:solidFill>
                          <a:latin typeface="Times New Roman" panose="02020603050405020304" pitchFamily="18" charset="0"/>
                        </a:rPr>
                        <a:t>Edge computing: Vision and challenges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Edge / Embedded Intelligence</a:t>
                      </a:r>
                      <a:r>
                        <a:rPr lang="en-US" sz="1500" b="0">
                          <a:solidFill>
                            <a:srgbClr val="000000"/>
                          </a:solidFill>
                          <a:latin typeface="Times New Roman" panose="02020603050405020304" pitchFamily="18" charset="0"/>
                        </a:rPr>
                        <a:t>: Edge computing processes data close to its source to reduce latency and bandwidth.</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Low-power microcontrollers limit on-device analysis, requiring a balanced edge–server design.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88624629"/>
                  </a:ext>
                </a:extLst>
              </a:tr>
              <a:tr h="254000">
                <a:tc>
                  <a:txBody>
                    <a:bodyPr/>
                    <a:lstStyle/>
                    <a:p>
                      <a:pPr algn="l"/>
                      <a:r>
                        <a:rPr lang="en-IN" sz="1500" b="1">
                          <a:solidFill>
                            <a:srgbClr val="000000"/>
                          </a:solidFill>
                          <a:latin typeface="Times New Roman" panose="02020603050405020304" pitchFamily="18" charset="0"/>
                        </a:rPr>
                        <a:t>9</a:t>
                      </a:r>
                    </a:p>
                  </a:txBody>
                  <a:tcPr marL="76200" marR="76200" marT="50800" marB="50800"/>
                </a:tc>
                <a:tc>
                  <a:txBody>
                    <a:bodyPr/>
                    <a:lstStyle/>
                    <a:p>
                      <a:pPr algn="l"/>
                      <a:r>
                        <a:rPr lang="nl-NL" sz="1500" b="1">
                          <a:solidFill>
                            <a:srgbClr val="000000"/>
                          </a:solidFill>
                          <a:latin typeface="Times New Roman" panose="02020603050405020304" pitchFamily="18" charset="0"/>
                        </a:rPr>
                        <a:t>S. Wolfert, L. Ge, C. Verdouw and M.-J. Bogaardt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Big data in smart farming – A review</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Environmental Monitoring and Data-Driven Farming</a:t>
                      </a:r>
                      <a:r>
                        <a:rPr lang="en-US" sz="1500" b="0">
                          <a:solidFill>
                            <a:srgbClr val="000000"/>
                          </a:solidFill>
                          <a:latin typeface="Times New Roman" panose="02020603050405020304" pitchFamily="18" charset="0"/>
                        </a:rPr>
                        <a:t>: Big-data and deep-learning approaches combine weather, satellite and field data for farm decision support.</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Such data are rarely combined with ground-level rover observations in low-cost systems.</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818625156"/>
                  </a:ext>
                </a:extLst>
              </a:tr>
              <a:tr h="254000">
                <a:tc>
                  <a:txBody>
                    <a:bodyPr/>
                    <a:lstStyle/>
                    <a:p>
                      <a:pPr algn="l"/>
                      <a:r>
                        <a:rPr lang="en-IN" sz="1500" b="1">
                          <a:solidFill>
                            <a:srgbClr val="000000"/>
                          </a:solidFill>
                          <a:latin typeface="Times New Roman" panose="02020603050405020304" pitchFamily="18" charset="0"/>
                        </a:rPr>
                        <a:t>10</a:t>
                      </a:r>
                    </a:p>
                  </a:txBody>
                  <a:tcPr marL="76200" marR="76200" marT="50800" marB="50800"/>
                </a:tc>
                <a:tc>
                  <a:txBody>
                    <a:bodyPr/>
                    <a:lstStyle/>
                    <a:p>
                      <a:pPr algn="l"/>
                      <a:r>
                        <a:rPr lang="en-US" sz="1500" b="1">
                          <a:solidFill>
                            <a:srgbClr val="000000"/>
                          </a:solidFill>
                          <a:latin typeface="Times New Roman" panose="02020603050405020304" pitchFamily="18" charset="0"/>
                        </a:rPr>
                        <a:t>A. Kamilaris and F. X. Prenafeta-Boldú</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Deep learning in agriculture: A survey</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455682766"/>
                  </a:ext>
                </a:extLst>
              </a:tr>
            </a:tbl>
          </a:graphicData>
        </a:graphic>
      </p:graphicFrame>
    </p:spTree>
    <p:extLst>
      <p:ext uri="{BB962C8B-B14F-4D97-AF65-F5344CB8AC3E}">
        <p14:creationId xmlns:p14="http://schemas.microsoft.com/office/powerpoint/2010/main" val="1035031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8</a:t>
            </a:fld>
            <a:endParaRPr lang="en-US" dirty="0"/>
          </a:p>
        </p:txBody>
      </p:sp>
    </p:spTree>
    <p:extLst>
      <p:ext uri="{BB962C8B-B14F-4D97-AF65-F5344CB8AC3E}">
        <p14:creationId xmlns:p14="http://schemas.microsoft.com/office/powerpoint/2010/main" val="2865225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2A69BAF-E2A4-C12C-6505-EB2E1E4AF8C9}"/>
              </a:ext>
            </a:extLst>
          </p:cNvPr>
          <p:cNvSpPr>
            <a:spLocks noGrp="1"/>
          </p:cNvSpPr>
          <p:nvPr>
            <p:ph type="title"/>
          </p:nvPr>
        </p:nvSpPr>
        <p:spPr/>
        <p:txBody>
          <a:bodyPr/>
          <a:lstStyle/>
          <a:p>
            <a:r>
              <a:rPr lang="en-IN"/>
              <a:t>MOTIVATION</a:t>
            </a:r>
          </a:p>
        </p:txBody>
      </p:sp>
      <p:sp>
        <p:nvSpPr>
          <p:cNvPr id="3" name="Motivation text">
            <a:extLst>
              <a:ext uri="{FF2B5EF4-FFF2-40B4-BE49-F238E27FC236}">
                <a16:creationId xmlns:a16="http://schemas.microsoft.com/office/drawing/2014/main" id="{7D32E17D-9D1F-1280-F820-161C8D475752}"/>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Crop and environmental problems often develop gradually and are easier to manage when noticed early, yet continuous manual observation of every part of a field is impractical.</a:t>
            </a:r>
          </a:p>
          <a:p>
            <a:pPr marL="330200" indent="-330200">
              <a:spcBef>
                <a:spcPct val="0"/>
              </a:spcBef>
              <a:spcAft>
                <a:spcPts val="1000"/>
              </a:spcAft>
            </a:pPr>
            <a:r>
              <a:rPr lang="en-US" sz="2200"/>
              <a:t>Repetitive inspection is physically demanding, and some areas may be difficult or unsafe to access during fire or adverse weather.</a:t>
            </a:r>
          </a:p>
          <a:p>
            <a:pPr marL="330200" indent="-330200">
              <a:spcBef>
                <a:spcPct val="0"/>
              </a:spcBef>
              <a:spcAft>
                <a:spcPts val="1000"/>
              </a:spcAft>
            </a:pPr>
            <a:r>
              <a:rPr lang="en-US" sz="2200"/>
              <a:t>Irrigation decisions are frequently made without reliable soil-moisture or weather information.</a:t>
            </a:r>
          </a:p>
          <a:p>
            <a:pPr marL="330200" indent="-330200">
              <a:spcBef>
                <a:spcPct val="0"/>
              </a:spcBef>
              <a:spcAft>
                <a:spcPts val="1000"/>
              </a:spcAft>
            </a:pPr>
            <a:r>
              <a:rPr lang="en-US" sz="2200"/>
              <a:t>IoT sensing enables continuous, low-cost measurement of field parameters; AI-assisted image and data analysis can help identify possible crop and environmental risks; and a mobile rover provides remote visibility of the field.</a:t>
            </a:r>
          </a:p>
          <a:p>
            <a:pPr marL="330200" indent="-330200">
              <a:spcBef>
                <a:spcPct val="0"/>
              </a:spcBef>
              <a:spcAft>
                <a:spcPts val="1000"/>
              </a:spcAft>
            </a:pPr>
            <a:r>
              <a:rPr lang="en-US" sz="2200"/>
              <a:t>Integrating embedded hardware with backend, analytics and user-facing software is essential to convert raw readings into timely and understandable information for farmers.</a:t>
            </a:r>
            <a:endParaRPr lang="en-IN" sz="2200"/>
          </a:p>
        </p:txBody>
      </p:sp>
      <p:sp>
        <p:nvSpPr>
          <p:cNvPr id="4" name="Footer Placeholder 3">
            <a:extLst>
              <a:ext uri="{FF2B5EF4-FFF2-40B4-BE49-F238E27FC236}">
                <a16:creationId xmlns:a16="http://schemas.microsoft.com/office/drawing/2014/main" id="{870C6527-91AA-84DC-A982-B22D225C404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63EBFF0-8352-23BA-62B1-BEB51622A7A6}"/>
              </a:ext>
            </a:extLst>
          </p:cNvPr>
          <p:cNvSpPr>
            <a:spLocks noGrp="1"/>
          </p:cNvSpPr>
          <p:nvPr>
            <p:ph type="sldNum" sz="quarter" idx="12"/>
          </p:nvPr>
        </p:nvSpPr>
        <p:spPr/>
        <p:txBody>
          <a:bodyPr/>
          <a:lstStyle/>
          <a:p>
            <a:fld id="{C1FF6DA9-008F-8B48-92A6-B652298478BF}" type="slidenum">
              <a:rPr lang="en-US" smtClean="0"/>
              <a:pPr/>
              <a:t>9</a:t>
            </a:fld>
            <a:endParaRPr lang="en-US" dirty="0"/>
          </a:p>
        </p:txBody>
      </p:sp>
    </p:spTree>
    <p:extLst>
      <p:ext uri="{BB962C8B-B14F-4D97-AF65-F5344CB8AC3E}">
        <p14:creationId xmlns:p14="http://schemas.microsoft.com/office/powerpoint/2010/main" val="16365895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588AD00-7C1F-37E2-43FF-104D14AFB96A}"/>
              </a:ext>
            </a:extLst>
          </p:cNvPr>
          <p:cNvSpPr>
            <a:spLocks noGrp="1"/>
          </p:cNvSpPr>
          <p:nvPr>
            <p:ph type="title"/>
          </p:nvPr>
        </p:nvSpPr>
        <p:spPr/>
        <p:txBody>
          <a:bodyPr/>
          <a:lstStyle/>
          <a:p>
            <a:r>
              <a:rPr lang="en-IN"/>
              <a:t>PROBLEM STATEMENT</a:t>
            </a:r>
          </a:p>
        </p:txBody>
      </p:sp>
      <p:sp>
        <p:nvSpPr>
          <p:cNvPr id="3" name="Problem statement text">
            <a:extLst>
              <a:ext uri="{FF2B5EF4-FFF2-40B4-BE49-F238E27FC236}">
                <a16:creationId xmlns:a16="http://schemas.microsoft.com/office/drawing/2014/main" id="{94B9404D-23E5-8CD4-C710-453B2884A863}"/>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200"/>
              </a:spcAft>
            </a:pPr>
            <a:r>
              <a:rPr lang="en-US" sz="2200"/>
              <a:t>Agricultural productivity is affected by crop diseases, pest infestations, nutrient deficiencies, water stress, erratic rainfall, droughts, floods, heat waves and other environmental risks.</a:t>
            </a:r>
          </a:p>
          <a:p>
            <a:pPr marL="330200" indent="-330200">
              <a:spcBef>
                <a:spcPct val="0"/>
              </a:spcBef>
              <a:spcAft>
                <a:spcPts val="1200"/>
              </a:spcAft>
            </a:pPr>
            <a:r>
              <a:rPr lang="en-US" sz="2200"/>
              <a:t>Conventional monitoring depends largely on periodic manual inspection, which may delay the identification of emerging problems and is difficult to scale across large or remote fields.</a:t>
            </a:r>
          </a:p>
          <a:p>
            <a:pPr marL="330200" indent="-330200">
              <a:spcBef>
                <a:spcPct val="0"/>
              </a:spcBef>
              <a:spcAft>
                <a:spcPts val="1200"/>
              </a:spcAft>
            </a:pPr>
            <a:r>
              <a:rPr lang="en-US" sz="2200"/>
              <a:t>There is therefore a need for a field-deployable intelligent monitoring system capable of continuously collecting and analysing crop and environmental information.</a:t>
            </a:r>
          </a:p>
          <a:p>
            <a:pPr marL="330200" indent="-330200">
              <a:spcBef>
                <a:spcPct val="0"/>
              </a:spcBef>
              <a:spcAft>
                <a:spcPts val="1200"/>
              </a:spcAft>
            </a:pPr>
            <a:r>
              <a:rPr lang="en-US" sz="2200"/>
              <a:t>This project develops an IoT-enabled, AI-based agricultural rover that integrates embedded sensors, camera-based monitoring, robotics, wireless communication, AI/computer vision and software analytics to provide real-time field information and actionable decision support.</a:t>
            </a:r>
            <a:endParaRPr lang="en-IN" sz="2200"/>
          </a:p>
        </p:txBody>
      </p:sp>
      <p:sp>
        <p:nvSpPr>
          <p:cNvPr id="4" name="Footer Placeholder 3">
            <a:extLst>
              <a:ext uri="{FF2B5EF4-FFF2-40B4-BE49-F238E27FC236}">
                <a16:creationId xmlns:a16="http://schemas.microsoft.com/office/drawing/2014/main" id="{A9135D0C-FCF5-1EF1-86D3-4E5918A29F16}"/>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1D75EEAF-2275-6CA1-CD10-5E20915DC33E}"/>
              </a:ext>
            </a:extLst>
          </p:cNvPr>
          <p:cNvSpPr>
            <a:spLocks noGrp="1"/>
          </p:cNvSpPr>
          <p:nvPr>
            <p:ph type="sldNum" sz="quarter" idx="12"/>
          </p:nvPr>
        </p:nvSpPr>
        <p:spPr/>
        <p:txBody>
          <a:bodyPr/>
          <a:lstStyle/>
          <a:p>
            <a:fld id="{C1FF6DA9-008F-8B48-92A6-B652298478BF}" type="slidenum">
              <a:rPr lang="en-US" smtClean="0"/>
              <a:pPr/>
              <a:t>10</a:t>
            </a:fld>
            <a:endParaRPr lang="en-US" dirty="0"/>
          </a:p>
        </p:txBody>
      </p:sp>
    </p:spTree>
    <p:extLst>
      <p:ext uri="{BB962C8B-B14F-4D97-AF65-F5344CB8AC3E}">
        <p14:creationId xmlns:p14="http://schemas.microsoft.com/office/powerpoint/2010/main" val="522716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5EDEDD5-6782-3B40-B7E4-780CB6705A97}"/>
              </a:ext>
            </a:extLst>
          </p:cNvPr>
          <p:cNvSpPr>
            <a:spLocks noGrp="1"/>
          </p:cNvSpPr>
          <p:nvPr>
            <p:ph type="title"/>
          </p:nvPr>
        </p:nvSpPr>
        <p:spPr/>
        <p:txBody>
          <a:bodyPr/>
          <a:lstStyle/>
          <a:p>
            <a:r>
              <a:rPr lang="en-IN"/>
              <a:t>INPUT – PROCESS – OUTPUT</a:t>
            </a:r>
          </a:p>
        </p:txBody>
      </p:sp>
      <p:grpSp>
        <p:nvGrpSpPr>
          <p:cNvPr id="8" name="Input-Process-Output flow">
            <a:extLst>
              <a:ext uri="{FF2B5EF4-FFF2-40B4-BE49-F238E27FC236}">
                <a16:creationId xmlns:a16="http://schemas.microsoft.com/office/drawing/2014/main" id="{DF988337-DE3A-EFC0-AB4E-DBD88CAC1388}"/>
              </a:ext>
            </a:extLst>
          </p:cNvPr>
          <p:cNvGrpSpPr/>
          <p:nvPr/>
        </p:nvGrpSpPr>
        <p:grpSpPr>
          <a:xfrm>
            <a:off x="736600" y="1651000"/>
            <a:ext cx="10718800" cy="3810000"/>
            <a:chOff x="736600" y="1651000"/>
            <a:chExt cx="10718800" cy="3810000"/>
          </a:xfrm>
        </p:grpSpPr>
        <p:sp>
          <p:nvSpPr>
            <p:cNvPr id="3" name="IPO - INPUT">
              <a:extLst>
                <a:ext uri="{FF2B5EF4-FFF2-40B4-BE49-F238E27FC236}">
                  <a16:creationId xmlns:a16="http://schemas.microsoft.com/office/drawing/2014/main" id="{F6DBAF6C-ED93-247B-42C1-E502A98047FA}"/>
                </a:ext>
              </a:extLst>
            </p:cNvPr>
            <p:cNvSpPr/>
            <p:nvPr/>
          </p:nvSpPr>
          <p:spPr>
            <a:xfrm>
              <a:off x="736600" y="1651000"/>
              <a:ext cx="3098800" cy="3810000"/>
            </a:xfrm>
            <a:prstGeom prst="roundRect">
              <a:avLst>
                <a:gd name="adj" fmla="val 6000"/>
              </a:avLst>
            </a:prstGeom>
            <a:solidFill>
              <a:srgbClr val="FFFFFF"/>
            </a:solidFill>
            <a:ln w="22225">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77800" tIns="177800" rIns="152400" bIns="127000" rtlCol="0" anchor="t"/>
            <a:lstStyle/>
            <a:p>
              <a:pPr marL="254000" indent="-254000" algn="ctr">
                <a:spcAft>
                  <a:spcPts val="1400"/>
                </a:spcAft>
              </a:pPr>
              <a:r>
                <a:rPr lang="en-US" sz="2600" b="1">
                  <a:solidFill>
                    <a:srgbClr val="000000"/>
                  </a:solidFill>
                  <a:latin typeface="Times New Roman" panose="02020603050405020304" pitchFamily="18" charset="0"/>
                </a:rPr>
                <a:t>INPUT</a:t>
              </a:r>
            </a:p>
            <a:p>
              <a:pPr marL="254000" indent="-254000">
                <a:spcAft>
                  <a:spcPts val="1000"/>
                </a:spcAft>
                <a:buFont typeface="+mj-lt"/>
                <a:buChar char="•"/>
              </a:pPr>
              <a:r>
                <a:rPr lang="en-US" sz="2000">
                  <a:solidFill>
                    <a:srgbClr val="000000"/>
                  </a:solidFill>
                  <a:latin typeface="Times New Roman" panose="02020603050405020304" pitchFamily="18" charset="0"/>
                </a:rPr>
                <a:t>Environmental sensor readings</a:t>
              </a:r>
            </a:p>
            <a:p>
              <a:pPr marL="254000" indent="-254000">
                <a:spcAft>
                  <a:spcPts val="1000"/>
                </a:spcAft>
                <a:buFont typeface="+mj-lt"/>
                <a:buChar char="•"/>
              </a:pPr>
              <a:r>
                <a:rPr lang="en-US" sz="2000">
                  <a:solidFill>
                    <a:srgbClr val="000000"/>
                  </a:solidFill>
                  <a:latin typeface="Times New Roman" panose="02020603050405020304" pitchFamily="18" charset="0"/>
                </a:rPr>
                <a:t>ESP-CAM field images</a:t>
              </a:r>
            </a:p>
            <a:p>
              <a:pPr marL="254000" indent="-254000">
                <a:spcAft>
                  <a:spcPts val="1000"/>
                </a:spcAft>
                <a:buFont typeface="+mj-lt"/>
                <a:buChar char="•"/>
              </a:pPr>
              <a:r>
                <a:rPr lang="en-US" sz="2000">
                  <a:solidFill>
                    <a:srgbClr val="000000"/>
                  </a:solidFill>
                  <a:latin typeface="Times New Roman" panose="02020603050405020304" pitchFamily="18" charset="0"/>
                </a:rPr>
                <a:t>External weather / environmental data</a:t>
              </a:r>
              <a:endParaRPr lang="en-IN" sz="2000">
                <a:solidFill>
                  <a:srgbClr val="000000"/>
                </a:solidFill>
                <a:latin typeface="Times New Roman" panose="02020603050405020304" pitchFamily="18" charset="0"/>
              </a:endParaRPr>
            </a:p>
          </p:txBody>
        </p:sp>
        <p:sp>
          <p:nvSpPr>
            <p:cNvPr id="4" name="IPO - PROCESS">
              <a:extLst>
                <a:ext uri="{FF2B5EF4-FFF2-40B4-BE49-F238E27FC236}">
                  <a16:creationId xmlns:a16="http://schemas.microsoft.com/office/drawing/2014/main" id="{875B5FF9-AAB1-920E-A7EB-79D977AFE70B}"/>
                </a:ext>
              </a:extLst>
            </p:cNvPr>
            <p:cNvSpPr/>
            <p:nvPr/>
          </p:nvSpPr>
          <p:spPr>
            <a:xfrm>
              <a:off x="4546600" y="1651000"/>
              <a:ext cx="3098800" cy="3810000"/>
            </a:xfrm>
            <a:prstGeom prst="roundRect">
              <a:avLst>
                <a:gd name="adj" fmla="val 6000"/>
              </a:avLst>
            </a:prstGeom>
            <a:solidFill>
              <a:srgbClr val="FFFFFF"/>
            </a:solidFill>
            <a:ln w="22225">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77800" tIns="177800" rIns="152400" bIns="127000" rtlCol="0" anchor="t"/>
            <a:lstStyle/>
            <a:p>
              <a:pPr marL="254000" indent="-254000" algn="ctr">
                <a:spcAft>
                  <a:spcPts val="1400"/>
                </a:spcAft>
              </a:pPr>
              <a:r>
                <a:rPr lang="en-US" sz="2600" b="1">
                  <a:solidFill>
                    <a:srgbClr val="000000"/>
                  </a:solidFill>
                  <a:latin typeface="Times New Roman" panose="02020603050405020304" pitchFamily="18" charset="0"/>
                </a:rPr>
                <a:t>PROCESS</a:t>
              </a:r>
            </a:p>
            <a:p>
              <a:pPr marL="254000" indent="-254000">
                <a:spcAft>
                  <a:spcPts val="1000"/>
                </a:spcAft>
                <a:buFont typeface="+mj-lt"/>
                <a:buChar char="•"/>
              </a:pPr>
              <a:r>
                <a:rPr lang="en-US" sz="2000">
                  <a:solidFill>
                    <a:srgbClr val="000000"/>
                  </a:solidFill>
                  <a:latin typeface="Times New Roman" panose="02020603050405020304" pitchFamily="18" charset="0"/>
                </a:rPr>
                <a:t>Embedded data acquisition</a:t>
              </a:r>
            </a:p>
            <a:p>
              <a:pPr marL="254000" indent="-254000">
                <a:spcAft>
                  <a:spcPts val="1000"/>
                </a:spcAft>
                <a:buFont typeface="+mj-lt"/>
                <a:buChar char="•"/>
              </a:pPr>
              <a:r>
                <a:rPr lang="en-US" sz="2000">
                  <a:solidFill>
                    <a:srgbClr val="000000"/>
                  </a:solidFill>
                  <a:latin typeface="Times New Roman" panose="02020603050405020304" pitchFamily="18" charset="0"/>
                </a:rPr>
                <a:t>Wireless transmission</a:t>
              </a:r>
            </a:p>
            <a:p>
              <a:pPr marL="254000" indent="-254000">
                <a:spcAft>
                  <a:spcPts val="1000"/>
                </a:spcAft>
                <a:buFont typeface="+mj-lt"/>
                <a:buChar char="•"/>
              </a:pPr>
              <a:r>
                <a:rPr lang="en-US" sz="2000">
                  <a:solidFill>
                    <a:srgbClr val="000000"/>
                  </a:solidFill>
                  <a:latin typeface="Times New Roman" panose="02020603050405020304" pitchFamily="18" charset="0"/>
                </a:rPr>
                <a:t>Backend processing and storage</a:t>
              </a:r>
            </a:p>
            <a:p>
              <a:pPr marL="254000" indent="-254000">
                <a:spcAft>
                  <a:spcPts val="1000"/>
                </a:spcAft>
                <a:buFont typeface="+mj-lt"/>
                <a:buChar char="•"/>
              </a:pPr>
              <a:r>
                <a:rPr lang="en-US" sz="2000">
                  <a:solidFill>
                    <a:srgbClr val="000000"/>
                  </a:solidFill>
                  <a:latin typeface="Times New Roman" panose="02020603050405020304" pitchFamily="18" charset="0"/>
                </a:rPr>
                <a:t>AI / computer-vision-assisted analysis</a:t>
              </a:r>
              <a:endParaRPr lang="en-IN" sz="2000">
                <a:solidFill>
                  <a:srgbClr val="000000"/>
                </a:solidFill>
                <a:latin typeface="Times New Roman" panose="02020603050405020304" pitchFamily="18" charset="0"/>
              </a:endParaRPr>
            </a:p>
          </p:txBody>
        </p:sp>
        <p:sp>
          <p:nvSpPr>
            <p:cNvPr id="5" name="IPO - OUTPUT">
              <a:extLst>
                <a:ext uri="{FF2B5EF4-FFF2-40B4-BE49-F238E27FC236}">
                  <a16:creationId xmlns:a16="http://schemas.microsoft.com/office/drawing/2014/main" id="{F65ED2BD-C326-4298-87A4-72249E4D581B}"/>
                </a:ext>
              </a:extLst>
            </p:cNvPr>
            <p:cNvSpPr/>
            <p:nvPr/>
          </p:nvSpPr>
          <p:spPr>
            <a:xfrm>
              <a:off x="8356600" y="1651000"/>
              <a:ext cx="3098800" cy="3810000"/>
            </a:xfrm>
            <a:prstGeom prst="roundRect">
              <a:avLst>
                <a:gd name="adj" fmla="val 6000"/>
              </a:avLst>
            </a:prstGeom>
            <a:solidFill>
              <a:srgbClr val="FFFFFF"/>
            </a:solidFill>
            <a:ln w="22225">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177800" tIns="177800" rIns="152400" bIns="127000" rtlCol="0" anchor="t"/>
            <a:lstStyle/>
            <a:p>
              <a:pPr marL="254000" indent="-254000" algn="ctr">
                <a:spcAft>
                  <a:spcPts val="1400"/>
                </a:spcAft>
              </a:pPr>
              <a:r>
                <a:rPr lang="en-US" sz="2600" b="1">
                  <a:solidFill>
                    <a:srgbClr val="000000"/>
                  </a:solidFill>
                  <a:latin typeface="Times New Roman" panose="02020603050405020304" pitchFamily="18" charset="0"/>
                </a:rPr>
                <a:t>OUTPUT</a:t>
              </a:r>
            </a:p>
            <a:p>
              <a:pPr marL="254000" indent="-254000">
                <a:spcAft>
                  <a:spcPts val="1000"/>
                </a:spcAft>
                <a:buFont typeface="+mj-lt"/>
                <a:buChar char="•"/>
              </a:pPr>
              <a:r>
                <a:rPr lang="en-US" sz="2000">
                  <a:solidFill>
                    <a:srgbClr val="000000"/>
                  </a:solidFill>
                  <a:latin typeface="Times New Roman" panose="02020603050405020304" pitchFamily="18" charset="0"/>
                </a:rPr>
                <a:t>Real-time field status</a:t>
              </a:r>
            </a:p>
            <a:p>
              <a:pPr marL="254000" indent="-254000">
                <a:spcAft>
                  <a:spcPts val="1000"/>
                </a:spcAft>
                <a:buFont typeface="+mj-lt"/>
                <a:buChar char="•"/>
              </a:pPr>
              <a:r>
                <a:rPr lang="en-US" sz="2000">
                  <a:solidFill>
                    <a:srgbClr val="000000"/>
                  </a:solidFill>
                  <a:latin typeface="Times New Roman" panose="02020603050405020304" pitchFamily="18" charset="0"/>
                </a:rPr>
                <a:t>Alerts</a:t>
              </a:r>
            </a:p>
            <a:p>
              <a:pPr marL="254000" indent="-254000">
                <a:spcAft>
                  <a:spcPts val="1000"/>
                </a:spcAft>
                <a:buFont typeface="+mj-lt"/>
                <a:buChar char="•"/>
              </a:pPr>
              <a:r>
                <a:rPr lang="en-US" sz="2000">
                  <a:solidFill>
                    <a:srgbClr val="000000"/>
                  </a:solidFill>
                  <a:latin typeface="Times New Roman" panose="02020603050405020304" pitchFamily="18" charset="0"/>
                </a:rPr>
                <a:t>Decision-support information on web and mobile interfaces</a:t>
              </a:r>
              <a:endParaRPr lang="en-IN" sz="2000">
                <a:solidFill>
                  <a:srgbClr val="000000"/>
                </a:solidFill>
                <a:latin typeface="Times New Roman" panose="02020603050405020304" pitchFamily="18" charset="0"/>
              </a:endParaRPr>
            </a:p>
          </p:txBody>
        </p:sp>
        <p:cxnSp>
          <p:nvCxnSpPr>
            <p:cNvPr id="6" name="IPO - arrow 1">
              <a:extLst>
                <a:ext uri="{FF2B5EF4-FFF2-40B4-BE49-F238E27FC236}">
                  <a16:creationId xmlns:a16="http://schemas.microsoft.com/office/drawing/2014/main" id="{5B249DEA-A682-A341-3837-F8E6D1E1A890}"/>
                </a:ext>
              </a:extLst>
            </p:cNvPr>
            <p:cNvCxnSpPr>
              <a:cxnSpLocks/>
              <a:stCxn id="3" idx="3"/>
              <a:endCxn id="4" idx="1"/>
            </p:cNvCxnSpPr>
            <p:nvPr/>
          </p:nvCxnSpPr>
          <p:spPr>
            <a:xfrm>
              <a:off x="3835400" y="3556000"/>
              <a:ext cx="711200"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IPO - arrow 2">
              <a:extLst>
                <a:ext uri="{FF2B5EF4-FFF2-40B4-BE49-F238E27FC236}">
                  <a16:creationId xmlns:a16="http://schemas.microsoft.com/office/drawing/2014/main" id="{0A59FD86-8C7A-C467-4085-4BA1B4D6D037}"/>
                </a:ext>
              </a:extLst>
            </p:cNvPr>
            <p:cNvCxnSpPr>
              <a:cxnSpLocks/>
              <a:stCxn id="4" idx="3"/>
              <a:endCxn id="5" idx="1"/>
            </p:cNvCxnSpPr>
            <p:nvPr/>
          </p:nvCxnSpPr>
          <p:spPr>
            <a:xfrm>
              <a:off x="7645400" y="3556000"/>
              <a:ext cx="711200" cy="0"/>
            </a:xfrm>
            <a:prstGeom prst="straightConnector1">
              <a:avLst/>
            </a:prstGeom>
            <a:ln w="28575">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9" name="Footer Placeholder 8">
            <a:extLst>
              <a:ext uri="{FF2B5EF4-FFF2-40B4-BE49-F238E27FC236}">
                <a16:creationId xmlns:a16="http://schemas.microsoft.com/office/drawing/2014/main" id="{6D8726C7-8850-FC3B-5A42-C1D1FCF2B7FD}"/>
              </a:ext>
            </a:extLst>
          </p:cNvPr>
          <p:cNvSpPr>
            <a:spLocks noGrp="1"/>
          </p:cNvSpPr>
          <p:nvPr>
            <p:ph type="ftr" sz="quarter" idx="11"/>
          </p:nvPr>
        </p:nvSpPr>
        <p:spPr/>
        <p:txBody>
          <a:bodyPr/>
          <a:lstStyle/>
          <a:p>
            <a:r>
              <a:rPr lang="en-US"/>
              <a:t>IoT and AI-Enabled Rover for Crop Health Monitoring</a:t>
            </a:r>
            <a:endParaRPr lang="en-US" dirty="0"/>
          </a:p>
        </p:txBody>
      </p:sp>
      <p:sp>
        <p:nvSpPr>
          <p:cNvPr id="10" name="Slide Number Placeholder 9">
            <a:extLst>
              <a:ext uri="{FF2B5EF4-FFF2-40B4-BE49-F238E27FC236}">
                <a16:creationId xmlns:a16="http://schemas.microsoft.com/office/drawing/2014/main" id="{DDB80593-9EFB-BC11-95A9-A09A478CF787}"/>
              </a:ext>
            </a:extLst>
          </p:cNvPr>
          <p:cNvSpPr>
            <a:spLocks noGrp="1"/>
          </p:cNvSpPr>
          <p:nvPr>
            <p:ph type="sldNum" sz="quarter" idx="12"/>
          </p:nvPr>
        </p:nvSpPr>
        <p:spPr/>
        <p:txBody>
          <a:bodyPr/>
          <a:lstStyle/>
          <a:p>
            <a:fld id="{C1FF6DA9-008F-8B48-92A6-B652298478BF}" type="slidenum">
              <a:rPr lang="en-US" smtClean="0"/>
              <a:pPr/>
              <a:t>11</a:t>
            </a:fld>
            <a:endParaRPr lang="en-US" dirty="0"/>
          </a:p>
        </p:txBody>
      </p:sp>
    </p:spTree>
    <p:extLst>
      <p:ext uri="{BB962C8B-B14F-4D97-AF65-F5344CB8AC3E}">
        <p14:creationId xmlns:p14="http://schemas.microsoft.com/office/powerpoint/2010/main" val="318720722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CDADE4-F6D0-4426-BB62-050AE4B210DA}">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92</TotalTime>
  <Words>1405</Words>
  <Application>Microsoft Office PowerPoint</Application>
  <PresentationFormat>Widescreen</PresentationFormat>
  <Paragraphs>165</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Times New Roman</vt:lpstr>
      <vt:lpstr>Office Theme</vt:lpstr>
      <vt:lpstr>PowerPoint Presentation</vt:lpstr>
      <vt:lpstr>AGENDA</vt:lpstr>
      <vt:lpstr>ABSTRACT</vt:lpstr>
      <vt:lpstr>INTRODUCTION</vt:lpstr>
      <vt:lpstr>LITERATURE SURVEY</vt:lpstr>
      <vt:lpstr>LITERATURE SURVEY </vt:lpstr>
      <vt:lpstr>LITERATURE SURVEY</vt:lpstr>
      <vt:lpstr>OVERVIEW OF THE PROPOSED SYSTEM</vt:lpstr>
      <vt:lpstr>MOTIVATION</vt:lpstr>
      <vt:lpstr>PROBLEM STATEMENT</vt:lpstr>
      <vt:lpstr>INPUT – PROCESS – OUTPUT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15</cp:revision>
  <dcterms:created xsi:type="dcterms:W3CDTF">2013-01-27T09:14:16Z</dcterms:created>
  <dcterms:modified xsi:type="dcterms:W3CDTF">2026-10-13T16:44:45Z</dcterms:modified>
  <cp:category/>
</cp:coreProperties>
</file>