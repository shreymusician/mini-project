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EACF"/>
    <a:srgbClr val="FFCCCC"/>
    <a:srgbClr val="66FFFF"/>
    <a:srgbClr val="66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6356350"/>
            <a:ext cx="379306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6356350"/>
            <a:ext cx="514773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6356350"/>
            <a:ext cx="379306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274638"/>
            <a:ext cx="14630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800" y="1600200"/>
            <a:ext cx="146304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6356350"/>
            <a:ext cx="379306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6356350"/>
            <a:ext cx="514773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6356350"/>
            <a:ext cx="379306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6356350"/>
            <a:ext cx="379306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6356350"/>
            <a:ext cx="514773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6356350"/>
            <a:ext cx="379306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274638"/>
            <a:ext cx="14630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6356350"/>
            <a:ext cx="379306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6356350"/>
            <a:ext cx="514773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6356350"/>
            <a:ext cx="379306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274638"/>
            <a:ext cx="14630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800" y="6356350"/>
            <a:ext cx="379306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4133" y="6356350"/>
            <a:ext cx="514773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50133" y="6356350"/>
            <a:ext cx="379306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600" y="330200"/>
            <a:ext cx="10718800" cy="812800"/>
          </a:xfrm>
        </p:spPr>
        <p:txBody>
          <a:bodyPr anchor="ctr"/>
          <a:lstStyle>
            <a:lvl1pPr algn="ctr">
              <a:defRPr sz="3200" b="1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800" y="6356350"/>
            <a:ext cx="379306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736599" y="6388100"/>
            <a:ext cx="9144000" cy="304800"/>
          </a:xfrm>
        </p:spPr>
        <p:txBody>
          <a:bodyPr/>
          <a:lstStyle>
            <a:lvl1pPr algn="l">
              <a:defRPr sz="1200" b="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439400" y="6388100"/>
            <a:ext cx="1016000" cy="304800"/>
          </a:xfrm>
        </p:spPr>
        <p:txBody>
          <a:bodyPr/>
          <a:lstStyle>
            <a:lvl1pPr algn="r">
              <a:defRPr sz="1200" b="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800" y="6356350"/>
            <a:ext cx="379306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4133" y="6356350"/>
            <a:ext cx="514773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50133" y="6356350"/>
            <a:ext cx="379306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6356350"/>
            <a:ext cx="379306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6356350"/>
            <a:ext cx="514773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6356350"/>
            <a:ext cx="379306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8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8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8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6356350"/>
            <a:ext cx="379306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6356350"/>
            <a:ext cx="514773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6356350"/>
            <a:ext cx="379306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274638"/>
            <a:ext cx="14630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1600200"/>
            <a:ext cx="14630400" cy="45259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6356350"/>
            <a:ext cx="379306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6356350"/>
            <a:ext cx="514773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6356350"/>
            <a:ext cx="379306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6356350"/>
            <a:ext cx="379306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6356350"/>
            <a:ext cx="514773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6356350"/>
            <a:ext cx="379306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6600" y="330200"/>
            <a:ext cx="10718800" cy="812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6600" y="6388100"/>
            <a:ext cx="91440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9400" y="6388100"/>
            <a:ext cx="10160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3200" b="1" kern="1200">
          <a:solidFill>
            <a:srgbClr val="000000"/>
          </a:solidFill>
          <a:latin typeface="Times New Roman" panose="02020603050405020304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66FFFF"/>
            </a:gs>
            <a:gs pos="54000">
              <a:srgbClr val="AEEACF"/>
            </a:gs>
            <a:gs pos="100000">
              <a:schemeClr val="accent3">
                <a:lumMod val="20000"/>
                <a:lumOff val="80000"/>
              </a:schemeClr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Header - college"/>
          <p:cNvGrpSpPr/>
          <p:nvPr/>
        </p:nvGrpSpPr>
        <p:grpSpPr>
          <a:xfrm>
            <a:off x="731520" y="365760"/>
            <a:ext cx="10728960" cy="1119091"/>
            <a:chOff x="731520" y="365760"/>
            <a:chExt cx="10728960" cy="1280160"/>
          </a:xfrm>
        </p:grpSpPr>
        <p:pic>
          <p:nvPicPr>
            <p:cNvPr id="3" name="VTU emblem" descr="Visvesvaraya Technological University emblem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1520" y="411480"/>
              <a:ext cx="1153058" cy="1188720"/>
            </a:xfrm>
            <a:prstGeom prst="rect">
              <a:avLst/>
            </a:prstGeom>
          </p:spPr>
        </p:pic>
        <p:pic>
          <p:nvPicPr>
            <p:cNvPr id="4" name="AIT emblem" descr="Adichunchanagiri Institute of Technology emblem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314214" y="411480"/>
              <a:ext cx="1146266" cy="1188720"/>
            </a:xfrm>
            <a:prstGeom prst="rect">
              <a:avLst/>
            </a:prstGeom>
          </p:spPr>
        </p:pic>
        <p:sp>
          <p:nvSpPr>
            <p:cNvPr id="5" name="College text"/>
            <p:cNvSpPr txBox="1"/>
            <p:nvPr/>
          </p:nvSpPr>
          <p:spPr>
            <a:xfrm>
              <a:off x="2194560" y="365760"/>
              <a:ext cx="7802880" cy="1280160"/>
            </a:xfrm>
            <a:prstGeom prst="rect">
              <a:avLst/>
            </a:prstGeom>
            <a:noFill/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400"/>
                </a:spcAft>
              </a:pPr>
              <a:r>
                <a:rPr sz="1400" b="1" i="0" u="none" dirty="0">
                  <a:solidFill>
                    <a:srgbClr val="000000"/>
                  </a:solidFill>
                  <a:latin typeface="Times New Roman"/>
                </a:rPr>
                <a:t>|| Jai Sri Gurudev ||</a:t>
              </a:r>
            </a:p>
            <a:p>
              <a:pPr algn="ctr">
                <a:spcBef>
                  <a:spcPts val="0"/>
                </a:spcBef>
                <a:spcAft>
                  <a:spcPts val="300"/>
                </a:spcAft>
              </a:pPr>
              <a:r>
                <a:rPr sz="2400" b="1" i="0" u="none" dirty="0">
                  <a:solidFill>
                    <a:srgbClr val="000000"/>
                  </a:solidFill>
                  <a:latin typeface="Times New Roman"/>
                </a:rPr>
                <a:t>ADICHUNCHANAGIRI INSTITUTE OF TECHNOLOGY</a:t>
              </a:r>
            </a:p>
            <a:p>
              <a:pPr algn="ctr">
                <a:spcBef>
                  <a:spcPts val="0"/>
                </a:spcBef>
                <a:spcAft>
                  <a:spcPts val="100"/>
                </a:spcAft>
              </a:pPr>
              <a:r>
                <a:rPr sz="1300" b="0" i="0" u="none" dirty="0">
                  <a:solidFill>
                    <a:srgbClr val="000000"/>
                  </a:solidFill>
                  <a:latin typeface="Times New Roman"/>
                </a:rPr>
                <a:t>(Affiliated to Visvesvaraya Technological University, Belagavi  |  Accredited by NAAC)</a:t>
              </a:r>
            </a:p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300" b="0" i="0" u="none" dirty="0">
                  <a:solidFill>
                    <a:srgbClr val="000000"/>
                  </a:solidFill>
                  <a:latin typeface="Times New Roman"/>
                </a:rPr>
                <a:t>Chikkamagaluru – 577 102, Karnataka</a:t>
              </a:r>
            </a:p>
          </p:txBody>
        </p:sp>
      </p:grpSp>
      <p:sp>
        <p:nvSpPr>
          <p:cNvPr id="6" name="Department"/>
          <p:cNvSpPr txBox="1"/>
          <p:nvPr/>
        </p:nvSpPr>
        <p:spPr>
          <a:xfrm>
            <a:off x="731520" y="1667731"/>
            <a:ext cx="10728960" cy="9592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1" i="0" u="none" dirty="0">
                <a:solidFill>
                  <a:srgbClr val="C00000"/>
                </a:solidFill>
                <a:latin typeface="Times New Roman"/>
              </a:rPr>
              <a:t>DEPARTMENT OF ARTIFICIAL INTELLIGENCE AND MACHINE LEARNING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0" i="0" u="none" dirty="0">
                <a:solidFill>
                  <a:srgbClr val="000000"/>
                </a:solidFill>
                <a:latin typeface="Times New Roman"/>
              </a:rPr>
              <a:t>MINI PROJECT SYNOPSIS PRESENTATION [BAI586]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 u="none" dirty="0">
                <a:solidFill>
                  <a:srgbClr val="000000"/>
                </a:solidFill>
                <a:latin typeface="Times New Roman"/>
              </a:rPr>
              <a:t>on</a:t>
            </a:r>
          </a:p>
        </p:txBody>
      </p:sp>
      <p:sp>
        <p:nvSpPr>
          <p:cNvPr id="7" name="Project title"/>
          <p:cNvSpPr txBox="1"/>
          <p:nvPr/>
        </p:nvSpPr>
        <p:spPr>
          <a:xfrm>
            <a:off x="792479" y="2576378"/>
            <a:ext cx="10728960" cy="984885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 u="none" dirty="0">
                <a:latin typeface="Times New Roman"/>
              </a:rPr>
              <a:t>DEVELOPMENT OF AN IOT AND AI-ENABLED ROVER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 u="none" dirty="0">
                <a:latin typeface="Times New Roman"/>
              </a:rPr>
              <a:t>FOR REAL-TIME CROP HEALTH MONITORING</a:t>
            </a:r>
            <a:endParaRPr lang="en-US" sz="2400" b="1" i="0" u="none" dirty="0">
              <a:latin typeface="Times New Roman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600" dirty="0">
                <a:solidFill>
                  <a:srgbClr val="000000"/>
                </a:solidFill>
              </a:rPr>
              <a:t>Academic Year : 2026 – 2027</a:t>
            </a:r>
            <a:endParaRPr sz="1600" b="1" i="0" u="none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Guide"/>
          <p:cNvSpPr txBox="1"/>
          <p:nvPr/>
        </p:nvSpPr>
        <p:spPr>
          <a:xfrm>
            <a:off x="792479" y="4686418"/>
            <a:ext cx="3573044" cy="1390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 u="sng" dirty="0">
                <a:solidFill>
                  <a:srgbClr val="000000"/>
                </a:solidFill>
                <a:latin typeface="Times New Roman"/>
              </a:rPr>
              <a:t>Under the guidance of</a:t>
            </a:r>
            <a:r>
              <a:rPr lang="en-US" sz="1600" b="1" i="0" u="sng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1600" b="1" i="0" u="sng" dirty="0">
                <a:solidFill>
                  <a:srgbClr val="000000"/>
                </a:solidFill>
                <a:latin typeface="Times New Roman"/>
              </a:rPr>
              <a:t>:</a:t>
            </a:r>
          </a:p>
          <a:p>
            <a:pPr lvl="1">
              <a:spcAft>
                <a:spcPts val="200"/>
              </a:spcAft>
            </a:pPr>
            <a:r>
              <a:rPr sz="1600" b="1" i="0" u="none" dirty="0">
                <a:solidFill>
                  <a:srgbClr val="000000"/>
                </a:solidFill>
                <a:latin typeface="Times New Roman"/>
              </a:rPr>
              <a:t>Ms. </a:t>
            </a:r>
            <a:r>
              <a:rPr sz="1600" b="1" i="0" u="none" dirty="0" err="1">
                <a:solidFill>
                  <a:srgbClr val="000000"/>
                </a:solidFill>
                <a:latin typeface="Times New Roman"/>
              </a:rPr>
              <a:t>Sathyabhama</a:t>
            </a:r>
            <a:r>
              <a:rPr sz="1600" b="1" i="0" u="none" dirty="0">
                <a:solidFill>
                  <a:srgbClr val="000000"/>
                </a:solidFill>
                <a:latin typeface="Times New Roman"/>
              </a:rPr>
              <a:t> R, </a:t>
            </a:r>
            <a:r>
              <a:rPr sz="1600" b="1" i="0" u="none" baseline="-25000" dirty="0">
                <a:solidFill>
                  <a:srgbClr val="000000"/>
                </a:solidFill>
                <a:latin typeface="Times New Roman"/>
              </a:rPr>
              <a:t>B.E., </a:t>
            </a:r>
            <a:r>
              <a:rPr sz="1600" b="1" i="0" u="none" baseline="-25000" dirty="0" err="1">
                <a:solidFill>
                  <a:srgbClr val="000000"/>
                </a:solidFill>
                <a:latin typeface="Times New Roman"/>
              </a:rPr>
              <a:t>M.Tech</a:t>
            </a:r>
            <a:endParaRPr sz="1600" b="1" i="0" u="none" baseline="-25000" dirty="0">
              <a:solidFill>
                <a:srgbClr val="000000"/>
              </a:solidFill>
              <a:latin typeface="Times New Roman"/>
            </a:endParaRPr>
          </a:p>
          <a:p>
            <a:pPr lvl="1">
              <a:spcAft>
                <a:spcPts val="200"/>
              </a:spcAft>
            </a:pPr>
            <a:r>
              <a:rPr sz="1600" b="0" i="0" u="none" dirty="0">
                <a:solidFill>
                  <a:srgbClr val="000000"/>
                </a:solidFill>
                <a:latin typeface="Times New Roman"/>
              </a:rPr>
              <a:t>Assistant Professor</a:t>
            </a:r>
            <a:r>
              <a:rPr lang="en-US" sz="1600" b="0" i="0" u="none" dirty="0">
                <a:solidFill>
                  <a:srgbClr val="000000"/>
                </a:solidFill>
                <a:latin typeface="Times New Roman"/>
              </a:rPr>
              <a:t>,</a:t>
            </a:r>
            <a:endParaRPr sz="1600" b="0" i="0" u="none" dirty="0">
              <a:solidFill>
                <a:srgbClr val="000000"/>
              </a:solidFill>
              <a:latin typeface="Times New Roman"/>
            </a:endParaRPr>
          </a:p>
          <a:p>
            <a:pPr lvl="1">
              <a:spcAft>
                <a:spcPts val="200"/>
              </a:spcAft>
            </a:pPr>
            <a:r>
              <a:rPr sz="1600" b="0" i="0" u="none" dirty="0">
                <a:solidFill>
                  <a:srgbClr val="000000"/>
                </a:solidFill>
                <a:latin typeface="Times New Roman"/>
              </a:rPr>
              <a:t>Dept. of AI &amp; ML</a:t>
            </a:r>
            <a:r>
              <a:rPr lang="en-US" sz="1600" b="0" i="0" u="none" dirty="0">
                <a:solidFill>
                  <a:srgbClr val="000000"/>
                </a:solidFill>
                <a:latin typeface="Times New Roman"/>
              </a:rPr>
              <a:t>,</a:t>
            </a:r>
            <a:endParaRPr sz="1600" b="0" i="0" u="none" dirty="0">
              <a:solidFill>
                <a:srgbClr val="000000"/>
              </a:solidFill>
              <a:latin typeface="Times New Roman"/>
            </a:endParaRPr>
          </a:p>
          <a:p>
            <a:pPr lvl="1"/>
            <a:r>
              <a:rPr sz="1600" b="0" i="0" u="none" dirty="0">
                <a:solidFill>
                  <a:srgbClr val="000000"/>
                </a:solidFill>
                <a:latin typeface="Times New Roman"/>
              </a:rPr>
              <a:t>AIT, Chikkamagaluru</a:t>
            </a:r>
            <a:r>
              <a:rPr lang="en-US" sz="1600" b="0" i="0" u="none" dirty="0">
                <a:solidFill>
                  <a:srgbClr val="000000"/>
                </a:solidFill>
                <a:latin typeface="Times New Roman"/>
              </a:rPr>
              <a:t>.</a:t>
            </a:r>
            <a:endParaRPr sz="1600" b="0" i="0" u="none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Team"/>
          <p:cNvSpPr txBox="1"/>
          <p:nvPr/>
        </p:nvSpPr>
        <p:spPr>
          <a:xfrm>
            <a:off x="8031060" y="4695567"/>
            <a:ext cx="3749039" cy="21595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 u="sng" dirty="0">
                <a:solidFill>
                  <a:srgbClr val="000000"/>
                </a:solidFill>
                <a:latin typeface="Times New Roman"/>
              </a:rPr>
              <a:t>Presented by</a:t>
            </a:r>
            <a:r>
              <a:rPr lang="en-US" sz="1600" b="1" i="0" u="sng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1600" b="1" i="0" u="sng" dirty="0">
                <a:solidFill>
                  <a:srgbClr val="000000"/>
                </a:solidFill>
                <a:latin typeface="Times New Roman"/>
              </a:rPr>
              <a:t>:</a:t>
            </a:r>
          </a:p>
          <a:p>
            <a:pPr lvl="1">
              <a:spcAft>
                <a:spcPts val="200"/>
              </a:spcAft>
            </a:pPr>
            <a:r>
              <a:rPr lang="en-IN" sz="1600" b="1" i="0" u="none" dirty="0">
                <a:solidFill>
                  <a:srgbClr val="000000"/>
                </a:solidFill>
                <a:latin typeface="Times New Roman"/>
              </a:rPr>
              <a:t>Navyashree B H  (4AI24AI035),</a:t>
            </a:r>
            <a:endParaRPr sz="1600" b="1" i="0" u="none" dirty="0">
              <a:solidFill>
                <a:srgbClr val="000000"/>
              </a:solidFill>
              <a:latin typeface="Times New Roman"/>
            </a:endParaRPr>
          </a:p>
          <a:p>
            <a:pPr lvl="1">
              <a:spcAft>
                <a:spcPts val="200"/>
              </a:spcAft>
            </a:pPr>
            <a:r>
              <a:rPr lang="en-IN" sz="1600" b="1" i="0" u="none" dirty="0">
                <a:solidFill>
                  <a:srgbClr val="000000"/>
                </a:solidFill>
                <a:latin typeface="Times New Roman"/>
              </a:rPr>
              <a:t>Shreyas R S  (4AI24AI048),</a:t>
            </a:r>
            <a:endParaRPr sz="1600" b="1" i="0" u="none" dirty="0">
              <a:solidFill>
                <a:srgbClr val="000000"/>
              </a:solidFill>
              <a:latin typeface="Times New Roman"/>
            </a:endParaRPr>
          </a:p>
          <a:p>
            <a:pPr lvl="1">
              <a:spcAft>
                <a:spcPts val="200"/>
              </a:spcAft>
            </a:pPr>
            <a:r>
              <a:rPr lang="en-IN" sz="1600" b="1" i="0" u="none" dirty="0">
                <a:solidFill>
                  <a:srgbClr val="000000"/>
                </a:solidFill>
                <a:latin typeface="Times New Roman"/>
              </a:rPr>
              <a:t>Sumaiya Firdoes  (4AI24AI051),</a:t>
            </a:r>
            <a:endParaRPr sz="1600" b="1" i="0" u="none" dirty="0">
              <a:solidFill>
                <a:srgbClr val="000000"/>
              </a:solidFill>
              <a:latin typeface="Times New Roman"/>
            </a:endParaRPr>
          </a:p>
          <a:p>
            <a:pPr lvl="1"/>
            <a:r>
              <a:rPr lang="en-IN" sz="1600" b="1" i="0" u="none" dirty="0">
                <a:solidFill>
                  <a:srgbClr val="000000"/>
                </a:solidFill>
                <a:latin typeface="Times New Roman"/>
              </a:rPr>
              <a:t>Tejaswini D  (4AI24AI055),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</a:rPr>
              <a:t>5th Semester, 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</a:rPr>
              <a:t>Dept. of AI &amp; ML,</a:t>
            </a:r>
          </a:p>
          <a:p>
            <a:pPr lvl="1"/>
            <a:r>
              <a:rPr lang="en-US" sz="1600" b="0" i="0" u="none" dirty="0">
                <a:solidFill>
                  <a:srgbClr val="000000"/>
                </a:solidFill>
                <a:latin typeface="Times New Roman"/>
              </a:rPr>
              <a:t>AIT, Chikkamagaluru.</a:t>
            </a:r>
            <a:endParaRPr sz="1600" b="0" i="0" u="none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70DA5CC-94D9-6A18-59BE-D0BD273688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913" y="3684639"/>
            <a:ext cx="2672174" cy="2667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1B96A4A-E444-F8EF-2AF6-084827D75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AGENDA</a:t>
            </a:r>
          </a:p>
        </p:txBody>
      </p:sp>
      <p:sp>
        <p:nvSpPr>
          <p:cNvPr id="3" name="Agenda - left">
            <a:extLst>
              <a:ext uri="{FF2B5EF4-FFF2-40B4-BE49-F238E27FC236}">
                <a16:creationId xmlns:a16="http://schemas.microsoft.com/office/drawing/2014/main" id="{592A8C46-9DF0-CC40-7C00-D8E39F919967}"/>
              </a:ext>
            </a:extLst>
          </p:cNvPr>
          <p:cNvSpPr txBox="1"/>
          <p:nvPr/>
        </p:nvSpPr>
        <p:spPr>
          <a:xfrm>
            <a:off x="1143000" y="1714500"/>
            <a:ext cx="4318000" cy="406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508000" indent="-508000">
              <a:spcAft>
                <a:spcPts val="1400"/>
              </a:spcAft>
              <a:buFontTx/>
              <a:buAutoNum type="arabicPeriod"/>
            </a:pPr>
            <a:r>
              <a:rPr lang="en-US" sz="2400">
                <a:solidFill>
                  <a:srgbClr val="000000"/>
                </a:solidFill>
                <a:latin typeface="Times New Roman" panose="02020603050405020304" pitchFamily="18" charset="0"/>
              </a:rPr>
              <a:t>Abstract</a:t>
            </a:r>
          </a:p>
          <a:p>
            <a:pPr marL="508000" indent="-508000">
              <a:spcAft>
                <a:spcPts val="1400"/>
              </a:spcAft>
              <a:buFontTx/>
              <a:buAutoNum type="arabicPeriod"/>
            </a:pPr>
            <a:r>
              <a:rPr lang="en-US" sz="2400">
                <a:solidFill>
                  <a:srgbClr val="000000"/>
                </a:solidFill>
                <a:latin typeface="Times New Roman" panose="02020603050405020304" pitchFamily="18" charset="0"/>
              </a:rPr>
              <a:t>Introduction</a:t>
            </a:r>
          </a:p>
          <a:p>
            <a:pPr marL="508000" indent="-508000">
              <a:spcAft>
                <a:spcPts val="1400"/>
              </a:spcAft>
              <a:buFontTx/>
              <a:buAutoNum type="arabicPeriod"/>
            </a:pPr>
            <a:r>
              <a:rPr lang="en-US" sz="2400">
                <a:solidFill>
                  <a:srgbClr val="000000"/>
                </a:solidFill>
                <a:latin typeface="Times New Roman" panose="02020603050405020304" pitchFamily="18" charset="0"/>
              </a:rPr>
              <a:t>Literature Survey</a:t>
            </a:r>
          </a:p>
          <a:p>
            <a:pPr marL="508000" indent="-508000">
              <a:spcAft>
                <a:spcPts val="1400"/>
              </a:spcAft>
              <a:buFontTx/>
              <a:buAutoNum type="arabicPeriod"/>
            </a:pPr>
            <a:r>
              <a:rPr lang="en-US" sz="2400">
                <a:solidFill>
                  <a:srgbClr val="000000"/>
                </a:solidFill>
                <a:latin typeface="Times New Roman" panose="02020603050405020304" pitchFamily="18" charset="0"/>
              </a:rPr>
              <a:t>Motivation</a:t>
            </a:r>
          </a:p>
          <a:p>
            <a:pPr marL="508000" indent="-508000">
              <a:spcAft>
                <a:spcPts val="1400"/>
              </a:spcAft>
              <a:buFontTx/>
              <a:buAutoNum type="arabicPeriod"/>
            </a:pPr>
            <a:r>
              <a:rPr lang="en-US" sz="2400">
                <a:solidFill>
                  <a:srgbClr val="000000"/>
                </a:solidFill>
                <a:latin typeface="Times New Roman" panose="02020603050405020304" pitchFamily="18" charset="0"/>
              </a:rPr>
              <a:t>Problem Statement</a:t>
            </a:r>
          </a:p>
          <a:p>
            <a:pPr marL="508000" indent="-508000">
              <a:spcAft>
                <a:spcPts val="1400"/>
              </a:spcAft>
              <a:buFontTx/>
              <a:buAutoNum type="arabicPeriod"/>
            </a:pPr>
            <a:r>
              <a:rPr lang="en-US" sz="2400">
                <a:solidFill>
                  <a:srgbClr val="000000"/>
                </a:solidFill>
                <a:latin typeface="Times New Roman" panose="02020603050405020304" pitchFamily="18" charset="0"/>
              </a:rPr>
              <a:t>Objectives</a:t>
            </a:r>
          </a:p>
          <a:p>
            <a:pPr marL="508000" indent="-508000">
              <a:spcAft>
                <a:spcPts val="1400"/>
              </a:spcAft>
              <a:buFontTx/>
              <a:buAutoNum type="arabicPeriod"/>
            </a:pPr>
            <a:r>
              <a:rPr lang="en-US" sz="2400">
                <a:solidFill>
                  <a:srgbClr val="000000"/>
                </a:solidFill>
                <a:latin typeface="Times New Roman" panose="02020603050405020304" pitchFamily="18" charset="0"/>
              </a:rPr>
              <a:t>Scope of the Project</a:t>
            </a:r>
            <a:endParaRPr lang="en-IN" sz="2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4" name="Agenda - right">
            <a:extLst>
              <a:ext uri="{FF2B5EF4-FFF2-40B4-BE49-F238E27FC236}">
                <a16:creationId xmlns:a16="http://schemas.microsoft.com/office/drawing/2014/main" id="{1655749A-9FDE-4833-85DF-70723E6AFB62}"/>
              </a:ext>
            </a:extLst>
          </p:cNvPr>
          <p:cNvSpPr txBox="1"/>
          <p:nvPr/>
        </p:nvSpPr>
        <p:spPr>
          <a:xfrm>
            <a:off x="6096000" y="1714500"/>
            <a:ext cx="5334000" cy="406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508000" indent="-508000">
              <a:spcAft>
                <a:spcPts val="1400"/>
              </a:spcAft>
              <a:buFontTx/>
              <a:buAutoNum type="arabicPeriod" startAt="8"/>
            </a:pPr>
            <a:r>
              <a:rPr lang="en-US" sz="2400">
                <a:solidFill>
                  <a:srgbClr val="000000"/>
                </a:solidFill>
                <a:latin typeface="Times New Roman" panose="02020603050405020304" pitchFamily="18" charset="0"/>
              </a:rPr>
              <a:t>Methodology</a:t>
            </a:r>
          </a:p>
          <a:p>
            <a:pPr marL="508000" indent="-508000">
              <a:spcAft>
                <a:spcPts val="1400"/>
              </a:spcAft>
              <a:buFontTx/>
              <a:buAutoNum type="arabicPeriod" startAt="8"/>
            </a:pPr>
            <a:r>
              <a:rPr lang="en-US" sz="2400">
                <a:solidFill>
                  <a:srgbClr val="000000"/>
                </a:solidFill>
                <a:latin typeface="Times New Roman" panose="02020603050405020304" pitchFamily="18" charset="0"/>
              </a:rPr>
              <a:t>Hardware &amp; Software Requirements</a:t>
            </a:r>
          </a:p>
          <a:p>
            <a:pPr marL="508000" indent="-508000">
              <a:spcAft>
                <a:spcPts val="1400"/>
              </a:spcAft>
              <a:buFontTx/>
              <a:buAutoNum type="arabicPeriod" startAt="8"/>
            </a:pPr>
            <a:r>
              <a:rPr lang="en-US" sz="2400">
                <a:solidFill>
                  <a:srgbClr val="000000"/>
                </a:solidFill>
                <a:latin typeface="Times New Roman" panose="02020603050405020304" pitchFamily="18" charset="0"/>
              </a:rPr>
              <a:t>System Architecture</a:t>
            </a:r>
          </a:p>
          <a:p>
            <a:pPr marL="508000" indent="-508000">
              <a:spcAft>
                <a:spcPts val="1400"/>
              </a:spcAft>
              <a:buFontTx/>
              <a:buAutoNum type="arabicPeriod" startAt="8"/>
            </a:pPr>
            <a:r>
              <a:rPr lang="en-US" sz="2400">
                <a:solidFill>
                  <a:srgbClr val="000000"/>
                </a:solidFill>
                <a:latin typeface="Times New Roman" panose="02020603050405020304" pitchFamily="18" charset="0"/>
              </a:rPr>
              <a:t>Applications &amp; Expected Outcomes</a:t>
            </a:r>
          </a:p>
          <a:p>
            <a:pPr marL="508000" indent="-508000">
              <a:spcAft>
                <a:spcPts val="1400"/>
              </a:spcAft>
              <a:buFontTx/>
              <a:buAutoNum type="arabicPeriod" startAt="8"/>
            </a:pPr>
            <a:r>
              <a:rPr lang="en-US" sz="2400">
                <a:solidFill>
                  <a:srgbClr val="000000"/>
                </a:solidFill>
                <a:latin typeface="Times New Roman" panose="02020603050405020304" pitchFamily="18" charset="0"/>
              </a:rPr>
              <a:t>Future Scope</a:t>
            </a:r>
          </a:p>
          <a:p>
            <a:pPr marL="508000" indent="-508000">
              <a:spcAft>
                <a:spcPts val="1400"/>
              </a:spcAft>
              <a:buFontTx/>
              <a:buAutoNum type="arabicPeriod" startAt="8"/>
            </a:pPr>
            <a:r>
              <a:rPr lang="en-US" sz="2400">
                <a:solidFill>
                  <a:srgbClr val="000000"/>
                </a:solidFill>
                <a:latin typeface="Times New Roman" panose="02020603050405020304" pitchFamily="18" charset="0"/>
              </a:rPr>
              <a:t>References</a:t>
            </a:r>
            <a:endParaRPr lang="en-IN" sz="2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19CF6-9BFA-A64E-B502-919EF0680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IoT and AI-Enabled Rover for Crop Health Monitoring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5BC06A-7B4E-4871-6CF5-C48292E06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300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0971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4627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167</Words>
  <Application>Microsoft Office PowerPoint</Application>
  <PresentationFormat>Widescreen</PresentationFormat>
  <Paragraphs>39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Times New Roman</vt:lpstr>
      <vt:lpstr>Office Theme</vt:lpstr>
      <vt:lpstr>PowerPoint Presentation</vt:lpstr>
      <vt:lpstr>AGENDA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Development of an IoT and AI-Enabled Rover for Real-Time Crop Health Monitoring</dc:title>
  <dc:subject/>
  <dc:creator>Dept. of AI &amp; ML, AIT Chikkamagaluru</dc:creator>
  <cp:keywords/>
  <dc:description>generated using python-pptx</dc:description>
  <cp:lastModifiedBy>SHREYAS RANGADHOL</cp:lastModifiedBy>
  <cp:revision>9</cp:revision>
  <dcterms:created xsi:type="dcterms:W3CDTF">2013-01-27T09:14:16Z</dcterms:created>
  <dcterms:modified xsi:type="dcterms:W3CDTF">2026-10-13T15:54:28Z</dcterms:modified>
  <cp:category/>
</cp:coreProperties>
</file>